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شريحة الغلاف. رحّب بالحضور، وقدّم نفسك، واذكر أن GeoTax منظومة متكاملة تُميكِن أعمال مصلحة الضرائب المصرية وتربطها جغرافياً عبر نظم المعلومات الجغرافية. اذكر أن العرض وثيقة تحليل نظم كاملة تغطي كل شاشة وكل صلاحية.</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استعرض المحاور بإيجاز. اذكر أن الجزء السادس (تحليل الشاشات) هو القلب العملي للعرض، وأن كل شاشة ستُشرح بهدفها وعناصرها وسيناريو استخدامها مع مكان مخصص للقطة الشاشة.</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قسم جديد: المقدمة والتحول الرقمي. مهّد للحضور بأن هذا الجزء يتناول المحور الأول.</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التحول الرقمي ليس رفاهية بل ضرورة لرفع كفاءة التحصيل والعدالة الضريبية. اربط ذلك مباشرة بأن GeoTax تجسيد ميداني لهذا المفهوم داخل مصلحة الضرائب.</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أظهر أن المشروع ليس فكرة معزولة بل يندرج تحت مظلة استراتيجية الدولة. اذكر توسيع القاعدة الضريبية كأثر مباشر لاكتشاف الأنشطة غير المسجلة عبر الخريطة.</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أكّد أن التكنولوجيا هنا أداة تمكين للموظف وليست بديلاً عنه؛ فهي تنقله من العمل الورقي إلى عمل ميداني ذكي مدعوم بالبيانات.</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هذه الشريحة تمهّد لفكرة أن الخريطة ليست عرضاً جمالياً بل أداة تحصيل حقيقية: كل بقعة فارغة على الخريطة قد تعني نشاطاً خارج المظلة الضريبية.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استخدم مقارنة قبل/بعد لإبراز حجم النقلة. ركّز على أن كل إجراء أصبح موثّقاً ومؤرّخاً ومنسوباً لمنفّذه.</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قسم جديد: المشكلة الحالية وكيف يحلّها GeoTax. مهّد للحضور بأن هذا الجزء يتناول المحور الثاني.</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قدّم المشكلات كسبع نقاط ألم واضحة. هذه القائمة ستُقابَل بالحلول في الشريحة التالية، فاجعل الحضور يشعر بحجم المشكلة أولاً.</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استعرض المصفوفة سطراً بسطر: لكل مشكلة ذكرتها سابقاً حلٌّ ملموس داخل المنظومة. هذه الشريحة هي جوهر مبرر المشروع.</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قسم جديد: فكرة المشروع ودورة العمل. مهّد للحضور بأن هذا الجزء يتناول المحور الثالث.</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قدّم الصورة الكبيرة قبل الغوص في التفاصيل. أكّد أن الجديد ليس رقمنة الأوراق فقط بل التوحيد المركزي + البعد الجغرافي.</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اشرح أن كل عمل يمرّ بهذه الدورة الموحّدة. أكّد أن نقطة القوة أن كل مرحلة موثّقة ومنسوبة لمنفّذها.</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دورة الحصر تبدأ من مصدر (طلب أو شكوى أو خطة). المأمور ينفّذ الحصر الميداني على مرحلتين ويلتقط الموقع، ثم يراجع المراجع ويعتمد المدير.</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دورة الفحص: تخطيط ثم إسناد ثم إخطار الممول بالحضور أو تحديد موعد، ثم المعاينة الميدانية وتسجيل نتيجتها، مع إمكانية إخطار التوقف الجزئي أو النهائي.</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قسم جديد: الهيكل الإداري والأدوار. مهّد للحضور بأن هذا الجزء يتناول المحور الرابع.</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اعرض الهرم من أعلى (الإدارة العليا المركزية) إلى أسفل (الممول والجمهور). كل مستوى ينشئ ويدير المستوى الأدنى منه فقط — هذا مبدأ الهرم في المنظومة.</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يدخل بالبريد الإلكتروني (اختيار «الإدارة العليا/مركزي») ويشرف على الأداء الكلي ويعتمد التوسّع في المأموريات.</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رئيس المأمورية يرى كل موظفي مأموريته لكنه ينشئ مدير الحاسب فقط، الذي بدوره ينشئ بقية الفريق — تطبيقاً لمبدأ الفصل.</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هو حلقة الوصل التشغيلية: يفعّل الحسابات ويضبط الاختصاصات ويحافظ على سلامة البيانات.</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دوره رقابي اعتمادي: لا ينفّذ ميدانياً بل يوزّع ويراجع ويعتمد ويقيس أداء الشعبة.</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المراجع هو من يترجم الخطة إلى مهام موزّعة ثم يدقّقها؛ يجمع بين التخطيط والرقابة الأولى.</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هو العمود الفقري للبيانات: كل نقطة على الخريطة غالباً أدخلها مأمور حصر أثناء معاينة فعلية.</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نظير مدير الحصر لكن في مجال الفحص الضريبي؛ يركّز على اعتماد نتائج الفحص والأوعية الضريبية.</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يوازن بين التخطيط والرقابة في الفحص، ويضمن جاهزية المعاينات قبل عرضها على المدير.</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يحوّل خطة الفحص إلى نتائج ملموسة: إيراد ووعاء وضريبة مستحقة، مع توثيق الموقع والوقت.</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وضّح أن البنية جاهزة لإدارة الحجز (جدول seizures وتعريف الحقول موجود) وأنها ضمن خارطة الطريق.</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للممول ثلاثة مسارات: دخول برقم ضريبي، تسجيل ممول قائم، أو طلب فتح ملف جديد لممول لا يملك رقماً بعد.</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الشكاوى مصدر مهم لاكتشاف الأنشطة غير المسجّلة؛ متاحة للجمهور مباشرة من شاشة البداية لتوسيع القاعدة الضريبية.</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قسم جديد: تسجيل الدخول والأمان. مهّد للحضور بأن هذا الجزء يتناول المحور الخامس.</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أكّد أن الأمان ليس شاشة دخول فقط بل سياسة متكاملة: كلمة مرور مؤقتة، إجبار التغيير، دور مرتبط بالحساب، وعزل بيانات على مستوى الخادم.</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قسم جديد: تحليل جميع شاشات التطبيق. مهّد للحضور بأن هذا الجزء يتناول المحور السادس.</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ابدأ عرض التطبيق من هنا: هذه أول شاشة يراها أي مستخدم وتحدد مساره بالكامل.</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اشرح فكرة اشتقاق البريد من رقم الحاسب وكود المأمورية — نقطة ذكية تبسّط الدخول وتضمن التفرد.</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وضّح المسارات الثلاثة بمثال واقعي لكل حالة؛ هذا يبرز مرونة النظام في استيعاب أنواع الممولين.</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أكّد أن هذه الخطوة إلزامية ولا يمكن تجاوزها — ضمانة أمنية أساسية.</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اربط كل بلاطة بصلاحية ذكرتها في قسم الأدوار — هذه الشاشة هي التجسيد البصري لصلاحيات الإدارة العليا.</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ميّز بين نطاق رئيس المأمورية (مأموريته) ونطاق الإدارة العليا (الجمهورية).</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اذكر أن مدير الحاسب هو من يفعّل فعلياً معظم موظفي المأمورية.</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أظهر أن دور المدير هنا رقابي اعتمادي لا تنفيذي.</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المراجع حلقة الوصل: يخطّط ويسند ويدقّق قبل رفع العمل للمدير.</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هذه الشاشة هي مركز عمل أهم دور ميداني في المنظومة.</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نظير مدير الحصر لكن في مجال الفحص الضريبي.</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أبرز التماثل بين شعبتي الحصر والفحص في بنية الأدوار.</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اربطها بدورة عمل الفحص التي عرضتها سابقاً.</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شاشة احتياطية للأدوار العامة؛ اذكرها سريعاً.</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أظهر تجربة الممول كخدمة حكومية رقمية عصرية.</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هذه من أقوى شاشات العرض — خصّص لها وقتاً وبيّن كيف تكشف الأنشطة والفجوات بصرياً.</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قابل بينه وبين البحث المحلي في القسم المخصص للبحث لاحقاً.</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أبرز الفرق الجوهري: هنا بيانات كاملة قابلة للتعديل داخل نطاق المأمورية.</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اعتبر هذه الشاشة «قلب» بيانات الممول وبيّن ترابطها مع بقية الجداول.</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هذه الشاشة هي مصدر معظم نقاط الخريطة؛ أبرز قيمة توثيق الموقع.</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اذكر أنها القائمة التشغيلية اليومية لمأمور الحصر.</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اربط الفروع والمخازن بظهورها كعلامات مستقلة على الخريطة.</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مثال عملي لتوسيع القاعدة الضريبية عبر حصر الفروع.</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أبرز أهمية حصر المخازن في ضبط حجم النشاط الفعلي.</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مثال على تفصيل النشاط الاقتصادي لأغراض الفحص لاحقاً.</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أكّد أن التعديلات تُسجَّل كسجلات مستقلة (تتبّع تاريخي).</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اربطها بشاشة الإسناد (الطرف المقابل للمراجع).</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أبرز فكرة خط السير: المهمة تربط عدة ملفات في مسار ميداني.</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هذه الشاشة هي أداة القيادة الميدانية للمراجع والمدير.</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اربطها بمؤشرات الأداء لاحقاً (نسبة الإنجاز والتأخير).</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أكّد البعد التخطيطي: العمل مُخطّط لا عشوائي.</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أبرز التماثل بين شعبتي الحصر والفحص في التخطيط.</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أبرز فكرة تكيّف الواجهة حسب الدور — تصميم ذكي.</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أبرز أهمية توثيق وقت وموقع المعاينة في نزاهة الفحص.</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اربطه بمنظومة الإشعارات كقناة إخطار رسمية.</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أبرز الأثر على كفاءة الوقت الميداني.</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اربط الحالة باللون الأصفر على الخريطة مباشرة.</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أكّد أثره على دقة الحصر الضريبي وتقاريره.</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اربطها بأنواع الطلبات التي تُقدَّم من الممول.</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أبرز حلقة الرد على الممول كخدمة عملاء حكومية.</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اذكر تنوّع الطلبات (بطاقة ضريبية، فرع، توقف، محاسبة...).</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أبرز الشفافية: الممول يرى مصير طلبه لحظياً.</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اربطها بتوسيع القاعدة الضريبية عبر مشاركة المجتمع.</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أبرز الربط بين الشكوى وموقعها على الخريطة.</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اذكر كيف تتحول الشكوى إلى عمل ميداني فعلي.</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أبرز أنها بديل رسمي وموثّق للاتصالات غير الرسمية.</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اذكر توثيق كل رسالة كجزء من سجل التعامل.</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أبرز الاستهداف الذكي للأخبار (عام/مأمورية/دور).</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اذكر أن النشر صلاحية إدارية محكومة.</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اربط الإشعارات بكل الأحداث (طلب/مهمة/موعد) كخيط ناظم.</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اذكر ارتباط الملف بالدور الذي يحكم كل الصلاحيات.</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أبرز هذه الشاشة كأداة حوكمة رئيسية أمام القيادات.</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اذكر أن التقارير تُصدَّر بصيغتين وتغطي كل وحدات النظام.</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اذكر أن هذه الشاشة تُدار مركزياً من الإدارة العليا فقط.</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هذه الشاشة أوضح تجسيد لمبدأ الهرم — اشرح سلسلة الإنشاء بالكامل.</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اذكرها كأداة رئيس المأمورية لإعادة توزيع العمل.</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اربطها بإسناد المهام كخطوة تنظيمية سابقة.</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أبرز الهندسة الذكية: شاشة واحدة تتشكّل حسب تعريف الإدارة.</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اذكر أمثلة حقول الفحص (إيراد/وعاء/ضريبة) كنموذج.</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اذكر أنه مشترك بين الموظف والممول.</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أبرز قيمة الشفافية تجاه الممول.</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قسم جديد: الصلاحيات التفصيلية. مهّد للحضور بأن هذا الجزء يتناول المحور السابع.</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استعرض المصفوفة عمودياً: لاحظ أن الإنشاء يسير هرمياً، والاعتماد حكر على المديرين، والتنفيذ الميداني على المأمورين، وسجل العمليات على الرقابة العليا. الممول بلا صلاحيات داخلية.</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أكّد أن الأمان معماري: حتى لو حاول أحد تجاوز الواجهة، طبقة الخادم (RLS/RPC) ترفض ما لا يملك صلاحيته. هذه نقطة قوة أمام لجنة التقييم.</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قسم جديد: الخريطة التفاعلية GIS. مهّد للحضور بأن هذا الجزء يتناول المحور الثامن.</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اشرح أن اللون ليس زينة بل معلومة فورية: مدير المأمورية يقرأ صحة نشاطها من توزيع الألوان دون فتح تقرير.</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أكّد أن التسجيل يتم في لحظة المعاينة الفعلية على الأرض، مما يجعل الموقع دليلاً موثوقاً يصعب التلاعب به.</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بيّن أن الخريطة أداة تشغيلية: يبدأ المأمور مساره منها، ويتابع المسؤول التنفيذ عليها. اربطها بشاشتي المهام والإسناد.</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هذه الشريحة تجيب على السؤال الأهم للقيادات: كيف يزيد المشروع الحصيلة؟ الجواب: باكتشاف غير المسجّلين جغرافياً وضمّهم للمظلة الضريبية.</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قسم جديد: البحث المركزي مقابل البحث داخل المأمورية. مهّد للحضور بأن هذا الجزء يتناول المحور التاسع.</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أوضح أن الوظيفتين متكاملتان لا متكررتان: المركزي للاختصاص ومنع الازدواج ببيانات محدودة تحفظ الخصوصية، والمحلي للعمل الفعلي ببيانات كاملة قابلة للتعديل.</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قسم جديد: قاعدة البيانات ومعمارية النظام. مهّد للحضور بأن هذا الجزء يتناول المحور العاشر.</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جدول الممولين (taxpayers) هو المركز الذي ترتبط به كل الجداول: المأموريات والمستخدمون والمهام من جهة، والفروع والمخازن والمعاينات والطلبات والشكاوى من جهة أخرى، مع جداول الحوكمة (سجل العمليات) والتواصل.</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اشرح العلاقات كـ«واحد لأكثر» حول جدول الممولين. أكّد أن التصميم يمنع تكرار الممول ويحافظ على تكامل مرجعي بين الجداول.</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اشرح المعمارية بثلاث طبقات: الواجهة (React Native يعمل على المنصتين من كود واحد)، طبقة الأمان (Supabase Auth + RPC + RLS)، والخلفية السحابية (PostgreSQL + Storage + Push). أكّد أن الأمان موزّع عبر الطبقات لا في مكان واحد.</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اذكر النسخ الحديثة (Expo 56 / RN 0.85) كدليل على مواكبة التقنية. أكّد أن الاختيارات جاهزة للإنتاج وقابلة للتوسّع سحابياً.</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قسم جديد: رحلة المستخدم (User Flow). مهّد للحضور بأن هذا الجزء يتناول المحور الحادي عشر.</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امشِ في رحلة واحدة على الأقل خطوة بخطوة (مثلاً مأمور الحصر) لتربط الشاشات التي عرضتها في تسلسل واقعي يوم عمل.</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قسم جديد: التقارير القابلة للاستخراج. مهّد للحضور بأن هذا الجزء يتناول المحور الثاني عشر.</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اذكر أن التقارير تغطي كل وحدات النظام وتُصفّى زمنياً، مما يحوّل البيانات التشغيلية إلى أداة قرار إداري فورية.</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قسم جديد: الفوائد ومؤشرات الأداء والتوصيات. مهّد للحضور بأن هذا الجزء يتناول المحور الثالث عشر.</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خصّص لكل طرف جملة واحدة قوية. القيادات تريد أن تعرف «ماذا يكسب كل طرف» — هذه الشريحة تجيب مباشرة.</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أكّد أن كل هذه المؤشرات تُشتق آلياً من الجداول (مهام/معاينات/طلبات)، فالقياس مدمج في النظام لا مضاف عليه.</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قدّمها كخارطة طريق واقعية مبنية على أساس قائم (مثلاً إدارة الحجز جاهزة بنيوياً). هذا يُظهر نضج التخطيط لا مجرد أفكار.</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اختم قسم التوصيات بخطة تبنّي عملية ومتدرّجة تطمئن القيادات إلى قابلية التطبيق دون مخاطرة كبيرة.</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اختم بثقة: لخّص القيمة في جملة (سجل مركزي + GIS + صلاحيات + أتمتة = حصيلة أعلى وعدالة وشفافية). افتح الباب للأسئلة، واذكر استعدادك لعرض عملي حي للتطبيق.</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985455" y="914400"/>
            <a:ext cx="3566160" cy="3566160"/>
          </a:xfrm>
          <a:prstGeom prst="ellipse">
            <a:avLst/>
          </a:prstGeom>
          <a:solidFill>
            <a:srgbClr val="153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85455" y="914400"/>
            <a:ext cx="3566160" cy="35661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3000" b="0">
                <a:solidFill>
                  <a:srgbClr val="D1FAE5"/>
                </a:solidFill>
                <a:latin typeface="Arial"/>
              </a:rPr>
              <a:t>🌍</a:t>
            </a:r>
          </a:p>
        </p:txBody>
      </p:sp>
      <p:sp>
        <p:nvSpPr>
          <p:cNvPr id="7" name="TextBox 6"/>
          <p:cNvSpPr txBox="1"/>
          <p:nvPr/>
        </p:nvSpPr>
        <p:spPr>
          <a:xfrm>
            <a:off x="640080" y="1234440"/>
            <a:ext cx="7345375" cy="128016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6600" b="1">
                <a:solidFill>
                  <a:srgbClr val="0D9488"/>
                </a:solidFill>
                <a:latin typeface="Arial"/>
              </a:rPr>
              <a:t>Geo</a:t>
            </a:r>
            <a:r>
              <a:rPr sz="6600" b="1">
                <a:solidFill>
                  <a:srgbClr val="FFFFFF"/>
                </a:solidFill>
                <a:latin typeface="Arial"/>
              </a:rPr>
              <a:t>Tax</a:t>
            </a:r>
          </a:p>
        </p:txBody>
      </p:sp>
      <p:sp>
        <p:nvSpPr>
          <p:cNvPr id="8" name="TextBox 7"/>
          <p:cNvSpPr txBox="1"/>
          <p:nvPr/>
        </p:nvSpPr>
        <p:spPr>
          <a:xfrm>
            <a:off x="640080" y="2606040"/>
            <a:ext cx="7345375" cy="1371600"/>
          </a:xfrm>
          <a:prstGeom prst="rect">
            <a:avLst/>
          </a:prstGeom>
          <a:noFill/>
        </p:spPr>
        <p:txBody>
          <a:bodyPr wrap="square" anchor="t" lIns="25400" rIns="25400" tIns="12700" bIns="12700">
            <a:spAutoFit/>
          </a:bodyPr>
          <a:lstStyle/>
          <a:p>
            <a:pPr algn="r" rtl="1">
              <a:lnSpc>
                <a:spcPct val="120000"/>
              </a:lnSpc>
              <a:spcBef>
                <a:spcPts val="0"/>
              </a:spcBef>
              <a:spcAft>
                <a:spcPts val="400"/>
              </a:spcAft>
            </a:pPr>
            <a:r>
              <a:rPr sz="2200" b="1">
                <a:solidFill>
                  <a:srgbClr val="FFFFFF"/>
                </a:solidFill>
                <a:latin typeface="Arial"/>
              </a:rPr>
              <a:t>منظومة ذكية لإدارة أعمال مصلحة الضرائب المصرية باستخدام نظم المعلومات الجغرافية (GIS)</a:t>
            </a:r>
          </a:p>
        </p:txBody>
      </p:sp>
      <p:sp>
        <p:nvSpPr>
          <p:cNvPr id="9" name="TextBox 8"/>
          <p:cNvSpPr txBox="1"/>
          <p:nvPr/>
        </p:nvSpPr>
        <p:spPr>
          <a:xfrm>
            <a:off x="640080" y="4114800"/>
            <a:ext cx="7345375" cy="548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0">
                <a:solidFill>
                  <a:srgbClr val="B8CDDC"/>
                </a:solidFill>
                <a:latin typeface="Arial"/>
              </a:rPr>
              <a:t>تطبيق مطوَّر بتقنية React Native — لميكنة كامل دورة العمل الضريبي</a:t>
            </a:r>
          </a:p>
        </p:txBody>
      </p:sp>
      <p:sp>
        <p:nvSpPr>
          <p:cNvPr id="10" name="Rounded Rectangle 9"/>
          <p:cNvSpPr/>
          <p:nvPr/>
        </p:nvSpPr>
        <p:spPr>
          <a:xfrm>
            <a:off x="640080" y="5029200"/>
            <a:ext cx="3840480" cy="822960"/>
          </a:xfrm>
          <a:prstGeom prst="roundRect">
            <a:avLst/>
          </a:prstGeom>
          <a:solidFill>
            <a:srgbClr val="0E7C66"/>
          </a:solidFill>
          <a:ln>
            <a:noFill/>
          </a:ln>
          <a:effectLst/>
          <a:effectLst>
            <a:outerShdw blurRad="90000" dist="40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029200"/>
            <a:ext cx="3840480" cy="8229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FFFFFF"/>
                </a:solidFill>
                <a:latin typeface="Arial"/>
              </a:rPr>
              <a:t>مشروع تخرج — وثيقة تحليل نظم</a:t>
            </a:r>
          </a:p>
        </p:txBody>
      </p:sp>
      <p:sp>
        <p:nvSpPr>
          <p:cNvPr id="12" name="TextBox 11"/>
          <p:cNvSpPr txBox="1"/>
          <p:nvPr/>
        </p:nvSpPr>
        <p:spPr>
          <a:xfrm>
            <a:off x="640080" y="6080760"/>
            <a:ext cx="10911535" cy="45720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300" b="0">
                <a:solidFill>
                  <a:srgbClr val="9FC4D6"/>
                </a:solidFill>
                <a:latin typeface="Arial"/>
              </a:rPr>
              <a:t>عرض احترافي موجّه لقيادات مصلحة الضرائب المصرية ووزارة المالية</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محتويات العرض</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خريطة الطريق لمحاور وثيقة تحليل النظام</a:t>
            </a:r>
          </a:p>
        </p:txBody>
      </p:sp>
      <p:sp>
        <p:nvSpPr>
          <p:cNvPr id="9" name="TextBox 8"/>
          <p:cNvSpPr txBox="1"/>
          <p:nvPr/>
        </p:nvSpPr>
        <p:spPr>
          <a:xfrm>
            <a:off x="6278727" y="1463040"/>
            <a:ext cx="5364327" cy="4572000"/>
          </a:xfrm>
          <a:prstGeom prst="rect">
            <a:avLst/>
          </a:prstGeom>
          <a:noFill/>
        </p:spPr>
        <p:txBody>
          <a:bodyPr wrap="square" anchor="t" lIns="25400" rIns="25400" tIns="12700" bIns="12700">
            <a:spAutoFit/>
          </a:bodyPr>
          <a:lstStyle/>
          <a:p>
            <a:pPr algn="r" rtl="1">
              <a:lnSpc>
                <a:spcPct val="100000"/>
              </a:lnSpc>
              <a:spcBef>
                <a:spcPts val="0"/>
              </a:spcBef>
              <a:spcAft>
                <a:spcPts val="1300"/>
              </a:spcAft>
            </a:pPr>
            <a:r>
              <a:rPr sz="1600" b="0">
                <a:solidFill>
                  <a:srgbClr val="0F172A"/>
                </a:solidFill>
                <a:latin typeface="Arial"/>
              </a:rPr>
              <a:t/>
            </a:r>
            <a:r>
              <a:rPr sz="1600" b="1">
                <a:solidFill>
                  <a:srgbClr val="0E7C66"/>
                </a:solidFill>
                <a:latin typeface="Arial"/>
              </a:rPr>
              <a:t>▪  </a:t>
            </a:r>
            <a:r>
              <a:rPr sz="1600" b="0">
                <a:solidFill>
                  <a:srgbClr val="0F172A"/>
                </a:solidFill>
                <a:latin typeface="Arial"/>
              </a:rPr>
              <a:t>1. التحول الرقمي ورؤية مصر 2030</a:t>
            </a:r>
          </a:p>
          <a:p>
            <a:pPr algn="r" rtl="1">
              <a:lnSpc>
                <a:spcPct val="100000"/>
              </a:lnSpc>
              <a:spcBef>
                <a:spcPts val="0"/>
              </a:spcBef>
              <a:spcAft>
                <a:spcPts val="1300"/>
              </a:spcAft>
            </a:pPr>
            <a:r>
              <a:rPr sz="1600" b="0">
                <a:solidFill>
                  <a:srgbClr val="0F172A"/>
                </a:solidFill>
                <a:latin typeface="Arial"/>
              </a:rPr>
              <a:t/>
            </a:r>
            <a:r>
              <a:rPr sz="1600" b="1">
                <a:solidFill>
                  <a:srgbClr val="0E7C66"/>
                </a:solidFill>
                <a:latin typeface="Arial"/>
              </a:rPr>
              <a:t>▪  </a:t>
            </a:r>
            <a:r>
              <a:rPr sz="1600" b="0">
                <a:solidFill>
                  <a:srgbClr val="0F172A"/>
                </a:solidFill>
                <a:latin typeface="Arial"/>
              </a:rPr>
              <a:t>2. المشكلة الحالية وحلول GeoTax</a:t>
            </a:r>
          </a:p>
          <a:p>
            <a:pPr algn="r" rtl="1">
              <a:lnSpc>
                <a:spcPct val="100000"/>
              </a:lnSpc>
              <a:spcBef>
                <a:spcPts val="0"/>
              </a:spcBef>
              <a:spcAft>
                <a:spcPts val="1300"/>
              </a:spcAft>
            </a:pPr>
            <a:r>
              <a:rPr sz="1600" b="0">
                <a:solidFill>
                  <a:srgbClr val="0F172A"/>
                </a:solidFill>
                <a:latin typeface="Arial"/>
              </a:rPr>
              <a:t/>
            </a:r>
            <a:r>
              <a:rPr sz="1600" b="1">
                <a:solidFill>
                  <a:srgbClr val="0E7C66"/>
                </a:solidFill>
                <a:latin typeface="Arial"/>
              </a:rPr>
              <a:t>▪  </a:t>
            </a:r>
            <a:r>
              <a:rPr sz="1600" b="0">
                <a:solidFill>
                  <a:srgbClr val="0F172A"/>
                </a:solidFill>
                <a:latin typeface="Arial"/>
              </a:rPr>
              <a:t>3. فكرة المشروع ودورة العمل</a:t>
            </a:r>
          </a:p>
          <a:p>
            <a:pPr algn="r" rtl="1">
              <a:lnSpc>
                <a:spcPct val="100000"/>
              </a:lnSpc>
              <a:spcBef>
                <a:spcPts val="0"/>
              </a:spcBef>
              <a:spcAft>
                <a:spcPts val="1300"/>
              </a:spcAft>
            </a:pPr>
            <a:r>
              <a:rPr sz="1600" b="0">
                <a:solidFill>
                  <a:srgbClr val="0F172A"/>
                </a:solidFill>
                <a:latin typeface="Arial"/>
              </a:rPr>
              <a:t/>
            </a:r>
            <a:r>
              <a:rPr sz="1600" b="1">
                <a:solidFill>
                  <a:srgbClr val="0E7C66"/>
                </a:solidFill>
                <a:latin typeface="Arial"/>
              </a:rPr>
              <a:t>▪  </a:t>
            </a:r>
            <a:r>
              <a:rPr sz="1600" b="0">
                <a:solidFill>
                  <a:srgbClr val="0F172A"/>
                </a:solidFill>
                <a:latin typeface="Arial"/>
              </a:rPr>
              <a:t>4. الهيكل الإداري والأدوار</a:t>
            </a:r>
          </a:p>
          <a:p>
            <a:pPr algn="r" rtl="1">
              <a:lnSpc>
                <a:spcPct val="100000"/>
              </a:lnSpc>
              <a:spcBef>
                <a:spcPts val="0"/>
              </a:spcBef>
              <a:spcAft>
                <a:spcPts val="1300"/>
              </a:spcAft>
            </a:pPr>
            <a:r>
              <a:rPr sz="1600" b="0">
                <a:solidFill>
                  <a:srgbClr val="0F172A"/>
                </a:solidFill>
                <a:latin typeface="Arial"/>
              </a:rPr>
              <a:t/>
            </a:r>
            <a:r>
              <a:rPr sz="1600" b="1">
                <a:solidFill>
                  <a:srgbClr val="0E7C66"/>
                </a:solidFill>
                <a:latin typeface="Arial"/>
              </a:rPr>
              <a:t>▪  </a:t>
            </a:r>
            <a:r>
              <a:rPr sz="1600" b="0">
                <a:solidFill>
                  <a:srgbClr val="0F172A"/>
                </a:solidFill>
                <a:latin typeface="Arial"/>
              </a:rPr>
              <a:t>5. تسجيل الدخول والأمان</a:t>
            </a:r>
          </a:p>
          <a:p>
            <a:pPr algn="r" rtl="1">
              <a:lnSpc>
                <a:spcPct val="100000"/>
              </a:lnSpc>
              <a:spcBef>
                <a:spcPts val="0"/>
              </a:spcBef>
              <a:spcAft>
                <a:spcPts val="1300"/>
              </a:spcAft>
            </a:pPr>
            <a:r>
              <a:rPr sz="1600" b="0">
                <a:solidFill>
                  <a:srgbClr val="0F172A"/>
                </a:solidFill>
                <a:latin typeface="Arial"/>
              </a:rPr>
              <a:t/>
            </a:r>
            <a:r>
              <a:rPr sz="1600" b="1">
                <a:solidFill>
                  <a:srgbClr val="0E7C66"/>
                </a:solidFill>
                <a:latin typeface="Arial"/>
              </a:rPr>
              <a:t>▪  </a:t>
            </a:r>
            <a:r>
              <a:rPr sz="1600" b="0">
                <a:solidFill>
                  <a:srgbClr val="0F172A"/>
                </a:solidFill>
                <a:latin typeface="Arial"/>
              </a:rPr>
              <a:t>6. تحليل جميع شاشات التطبيق</a:t>
            </a:r>
          </a:p>
        </p:txBody>
      </p:sp>
      <p:sp>
        <p:nvSpPr>
          <p:cNvPr id="10" name="TextBox 9"/>
          <p:cNvSpPr txBox="1"/>
          <p:nvPr/>
        </p:nvSpPr>
        <p:spPr>
          <a:xfrm>
            <a:off x="548640" y="1463040"/>
            <a:ext cx="5364327" cy="4572000"/>
          </a:xfrm>
          <a:prstGeom prst="rect">
            <a:avLst/>
          </a:prstGeom>
          <a:noFill/>
        </p:spPr>
        <p:txBody>
          <a:bodyPr wrap="square" anchor="t" lIns="25400" rIns="25400" tIns="12700" bIns="12700">
            <a:spAutoFit/>
          </a:bodyPr>
          <a:lstStyle/>
          <a:p>
            <a:pPr algn="r" rtl="1">
              <a:lnSpc>
                <a:spcPct val="100000"/>
              </a:lnSpc>
              <a:spcBef>
                <a:spcPts val="0"/>
              </a:spcBef>
              <a:spcAft>
                <a:spcPts val="1300"/>
              </a:spcAft>
            </a:pPr>
            <a:r>
              <a:rPr sz="1600" b="0">
                <a:solidFill>
                  <a:srgbClr val="0F172A"/>
                </a:solidFill>
                <a:latin typeface="Arial"/>
              </a:rPr>
              <a:t/>
            </a:r>
            <a:r>
              <a:rPr sz="1600" b="1">
                <a:solidFill>
                  <a:srgbClr val="0E7C66"/>
                </a:solidFill>
                <a:latin typeface="Arial"/>
              </a:rPr>
              <a:t>▪  </a:t>
            </a:r>
            <a:r>
              <a:rPr sz="1600" b="0">
                <a:solidFill>
                  <a:srgbClr val="0F172A"/>
                </a:solidFill>
                <a:latin typeface="Arial"/>
              </a:rPr>
              <a:t>7. الصلاحيات التفصيلية</a:t>
            </a:r>
          </a:p>
          <a:p>
            <a:pPr algn="r" rtl="1">
              <a:lnSpc>
                <a:spcPct val="100000"/>
              </a:lnSpc>
              <a:spcBef>
                <a:spcPts val="0"/>
              </a:spcBef>
              <a:spcAft>
                <a:spcPts val="1300"/>
              </a:spcAft>
            </a:pPr>
            <a:r>
              <a:rPr sz="1600" b="0">
                <a:solidFill>
                  <a:srgbClr val="0F172A"/>
                </a:solidFill>
                <a:latin typeface="Arial"/>
              </a:rPr>
              <a:t/>
            </a:r>
            <a:r>
              <a:rPr sz="1600" b="1">
                <a:solidFill>
                  <a:srgbClr val="0E7C66"/>
                </a:solidFill>
                <a:latin typeface="Arial"/>
              </a:rPr>
              <a:t>▪  </a:t>
            </a:r>
            <a:r>
              <a:rPr sz="1600" b="0">
                <a:solidFill>
                  <a:srgbClr val="0F172A"/>
                </a:solidFill>
                <a:latin typeface="Arial"/>
              </a:rPr>
              <a:t>8. الخريطة التفاعلية GIS</a:t>
            </a:r>
          </a:p>
          <a:p>
            <a:pPr algn="r" rtl="1">
              <a:lnSpc>
                <a:spcPct val="100000"/>
              </a:lnSpc>
              <a:spcBef>
                <a:spcPts val="0"/>
              </a:spcBef>
              <a:spcAft>
                <a:spcPts val="1300"/>
              </a:spcAft>
            </a:pPr>
            <a:r>
              <a:rPr sz="1600" b="0">
                <a:solidFill>
                  <a:srgbClr val="0F172A"/>
                </a:solidFill>
                <a:latin typeface="Arial"/>
              </a:rPr>
              <a:t/>
            </a:r>
            <a:r>
              <a:rPr sz="1600" b="1">
                <a:solidFill>
                  <a:srgbClr val="0E7C66"/>
                </a:solidFill>
                <a:latin typeface="Arial"/>
              </a:rPr>
              <a:t>▪  </a:t>
            </a:r>
            <a:r>
              <a:rPr sz="1600" b="0">
                <a:solidFill>
                  <a:srgbClr val="0F172A"/>
                </a:solidFill>
                <a:latin typeface="Arial"/>
              </a:rPr>
              <a:t>9. البحث المركزي والمحلي</a:t>
            </a:r>
          </a:p>
          <a:p>
            <a:pPr algn="r" rtl="1">
              <a:lnSpc>
                <a:spcPct val="100000"/>
              </a:lnSpc>
              <a:spcBef>
                <a:spcPts val="0"/>
              </a:spcBef>
              <a:spcAft>
                <a:spcPts val="1300"/>
              </a:spcAft>
            </a:pPr>
            <a:r>
              <a:rPr sz="1600" b="0">
                <a:solidFill>
                  <a:srgbClr val="0F172A"/>
                </a:solidFill>
                <a:latin typeface="Arial"/>
              </a:rPr>
              <a:t/>
            </a:r>
            <a:r>
              <a:rPr sz="1600" b="1">
                <a:solidFill>
                  <a:srgbClr val="0E7C66"/>
                </a:solidFill>
                <a:latin typeface="Arial"/>
              </a:rPr>
              <a:t>▪  </a:t>
            </a:r>
            <a:r>
              <a:rPr sz="1600" b="0">
                <a:solidFill>
                  <a:srgbClr val="0F172A"/>
                </a:solidFill>
                <a:latin typeface="Arial"/>
              </a:rPr>
              <a:t>10. الوحدات المساندة (أخبار/مراسلات/تقارير...)</a:t>
            </a:r>
          </a:p>
          <a:p>
            <a:pPr algn="r" rtl="1">
              <a:lnSpc>
                <a:spcPct val="100000"/>
              </a:lnSpc>
              <a:spcBef>
                <a:spcPts val="0"/>
              </a:spcBef>
              <a:spcAft>
                <a:spcPts val="1300"/>
              </a:spcAft>
            </a:pPr>
            <a:r>
              <a:rPr sz="1600" b="0">
                <a:solidFill>
                  <a:srgbClr val="0F172A"/>
                </a:solidFill>
                <a:latin typeface="Arial"/>
              </a:rPr>
              <a:t/>
            </a:r>
            <a:r>
              <a:rPr sz="1600" b="1">
                <a:solidFill>
                  <a:srgbClr val="0E7C66"/>
                </a:solidFill>
                <a:latin typeface="Arial"/>
              </a:rPr>
              <a:t>▪  </a:t>
            </a:r>
            <a:r>
              <a:rPr sz="1600" b="0">
                <a:solidFill>
                  <a:srgbClr val="0F172A"/>
                </a:solidFill>
                <a:latin typeface="Arial"/>
              </a:rPr>
              <a:t>11. قاعدة البيانات والمعمارية</a:t>
            </a:r>
          </a:p>
          <a:p>
            <a:pPr algn="r" rtl="1">
              <a:lnSpc>
                <a:spcPct val="100000"/>
              </a:lnSpc>
              <a:spcBef>
                <a:spcPts val="0"/>
              </a:spcBef>
              <a:spcAft>
                <a:spcPts val="1300"/>
              </a:spcAft>
            </a:pPr>
            <a:r>
              <a:rPr sz="1600" b="0">
                <a:solidFill>
                  <a:srgbClr val="0F172A"/>
                </a:solidFill>
                <a:latin typeface="Arial"/>
              </a:rPr>
              <a:t/>
            </a:r>
            <a:r>
              <a:rPr sz="1600" b="1">
                <a:solidFill>
                  <a:srgbClr val="0E7C66"/>
                </a:solidFill>
                <a:latin typeface="Arial"/>
              </a:rPr>
              <a:t>▪  </a:t>
            </a:r>
            <a:r>
              <a:rPr sz="1600" b="0">
                <a:solidFill>
                  <a:srgbClr val="0F172A"/>
                </a:solidFill>
                <a:latin typeface="Arial"/>
              </a:rPr>
              <a:t>12. الفوائد ومؤشرات الأداء والتوصيات</a:t>
            </a:r>
          </a:p>
        </p:txBody>
      </p:sp>
      <p:sp>
        <p:nvSpPr>
          <p:cNvPr id="11" name="Rectangle 10"/>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3" name="TextBox 12"/>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المحتويات</a:t>
            </a:r>
          </a:p>
        </p:txBody>
      </p:sp>
      <p:sp>
        <p:nvSpPr>
          <p:cNvPr id="14" name="TextBox 13"/>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56032" y="0"/>
            <a:ext cx="54864" cy="68580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45775" cy="45720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600" b="1">
                <a:solidFill>
                  <a:srgbClr val="0D9488"/>
                </a:solidFill>
                <a:latin typeface="Arial"/>
              </a:rPr>
              <a:t>المحور الأول</a:t>
            </a:r>
          </a:p>
        </p:txBody>
      </p:sp>
      <p:sp>
        <p:nvSpPr>
          <p:cNvPr id="6" name="TextBox 5"/>
          <p:cNvSpPr txBox="1"/>
          <p:nvPr/>
        </p:nvSpPr>
        <p:spPr>
          <a:xfrm>
            <a:off x="822960" y="2743200"/>
            <a:ext cx="10545775" cy="128016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4000" b="1">
                <a:solidFill>
                  <a:srgbClr val="FFFFFF"/>
                </a:solidFill>
                <a:latin typeface="Arial"/>
              </a:rPr>
              <a:t>المقدمة والتحول الرقمي</a:t>
            </a:r>
          </a:p>
        </p:txBody>
      </p:sp>
      <p:sp>
        <p:nvSpPr>
          <p:cNvPr id="7" name="TextBox 6"/>
          <p:cNvSpPr txBox="1"/>
          <p:nvPr/>
        </p:nvSpPr>
        <p:spPr>
          <a:xfrm>
            <a:off x="822960" y="4114800"/>
            <a:ext cx="10545775" cy="1097280"/>
          </a:xfrm>
          <a:prstGeom prst="rect">
            <a:avLst/>
          </a:prstGeom>
          <a:noFill/>
        </p:spPr>
        <p:txBody>
          <a:bodyPr wrap="square" anchor="t" lIns="25400" rIns="25400" tIns="12700" bIns="12700">
            <a:spAutoFit/>
          </a:bodyPr>
          <a:lstStyle/>
          <a:p>
            <a:pPr algn="r" rtl="1">
              <a:lnSpc>
                <a:spcPct val="115000"/>
              </a:lnSpc>
              <a:spcBef>
                <a:spcPts val="0"/>
              </a:spcBef>
              <a:spcAft>
                <a:spcPts val="400"/>
              </a:spcAft>
            </a:pPr>
            <a:r>
              <a:rPr sz="1700" b="0">
                <a:solidFill>
                  <a:srgbClr val="B8CDDC"/>
                </a:solidFill>
                <a:latin typeface="Arial"/>
              </a:rPr>
              <a:t>التحول الرقمي • رؤية مصر 2030 • دور التكنولوجيا و GIS في الإدارة الضريبية</a:t>
            </a:r>
          </a:p>
        </p:txBody>
      </p:sp>
      <p:sp>
        <p:nvSpPr>
          <p:cNvPr id="8" name="TextBox 7"/>
          <p:cNvSpPr txBox="1"/>
          <p:nvPr/>
        </p:nvSpPr>
        <p:spPr>
          <a:xfrm>
            <a:off x="457200" y="6217920"/>
            <a:ext cx="11277295" cy="36576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100" b="0">
                <a:solidFill>
                  <a:srgbClr val="6E8AA0"/>
                </a:solidFill>
                <a:latin typeface="Arial"/>
              </a:rPr>
              <a:t>GeoTax — منظومة إدارة أعمال مصلحة الضرائب المصرية بنظم المعلومات الجغرافية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التحول الرقمي في الإدارة الحكومية</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لماذا الآن؟</a:t>
            </a:r>
          </a:p>
        </p:txBody>
      </p:sp>
      <p:sp>
        <p:nvSpPr>
          <p:cNvPr id="9" name="TextBox 8"/>
          <p:cNvSpPr txBox="1"/>
          <p:nvPr/>
        </p:nvSpPr>
        <p:spPr>
          <a:xfrm>
            <a:off x="548640" y="1234440"/>
            <a:ext cx="11094415" cy="5166360"/>
          </a:xfrm>
          <a:prstGeom prst="rect">
            <a:avLst/>
          </a:prstGeom>
          <a:noFill/>
        </p:spPr>
        <p:txBody>
          <a:bodyPr wrap="square" anchor="t" lIns="25400" rIns="25400" tIns="12700" bIns="12700">
            <a:spAutoFit/>
          </a:bodyPr>
          <a:lstStyle/>
          <a:p>
            <a:pPr algn="r" rtl="1">
              <a:lnSpc>
                <a:spcPct val="102000"/>
              </a:lnSpc>
              <a:spcBef>
                <a:spcPts val="0"/>
              </a:spcBef>
              <a:spcAft>
                <a:spcPts val="700"/>
              </a:spcAft>
            </a:pPr>
            <a:r>
              <a:rPr sz="1700" b="1">
                <a:solidFill>
                  <a:srgbClr val="0A5A4A"/>
                </a:solidFill>
                <a:latin typeface="Arial"/>
              </a:rPr>
              <a:t>التحول الرقمي = إعادة بناء الخدمة الحكومية حول البيانات لا الورق</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تحويل الإجراءات اليدوية إلى مسارات رقمية مؤتمتة قابلة للقياس والتتبع.</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اتخاذ القرار بالاعتماد على بيانات لحظية بدل التقديرات والانطباعات.</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شفافية كاملة: كل إجراء موثّق بهوية منفّذه ووقته وموقعه الجغرافي.</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تقليل التكلفة والزمن ورفع رضا الممول والموظف في آنٍ واحد.</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GeoTax تطبيق عملي لهذا التوجه داخل أهم جهة إيرادية بالدولة.</a:t>
            </a:r>
          </a:p>
        </p:txBody>
      </p:sp>
      <p:sp>
        <p:nvSpPr>
          <p:cNvPr id="10" name="Rectangle 9"/>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2" name="TextBox 11"/>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الأول</a:t>
            </a:r>
          </a:p>
        </p:txBody>
      </p:sp>
      <p:sp>
        <p:nvSpPr>
          <p:cNvPr id="13" name="TextBox 12"/>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رؤية مصر 2030 والتحول الرقمي</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المرجعية الاستراتيجية</a:t>
            </a:r>
          </a:p>
        </p:txBody>
      </p:sp>
      <p:sp>
        <p:nvSpPr>
          <p:cNvPr id="9" name="TextBox 8"/>
          <p:cNvSpPr txBox="1"/>
          <p:nvPr/>
        </p:nvSpPr>
        <p:spPr>
          <a:xfrm>
            <a:off x="548640" y="1234440"/>
            <a:ext cx="11094415" cy="5166360"/>
          </a:xfrm>
          <a:prstGeom prst="rect">
            <a:avLst/>
          </a:prstGeom>
          <a:noFill/>
        </p:spPr>
        <p:txBody>
          <a:bodyPr wrap="square" anchor="t" lIns="25400" rIns="25400" tIns="12700" bIns="12700">
            <a:spAutoFit/>
          </a:bodyPr>
          <a:lstStyle/>
          <a:p>
            <a:pPr algn="r" rtl="1">
              <a:lnSpc>
                <a:spcPct val="102000"/>
              </a:lnSpc>
              <a:spcBef>
                <a:spcPts val="0"/>
              </a:spcBef>
              <a:spcAft>
                <a:spcPts val="700"/>
              </a:spcAft>
            </a:pPr>
            <a:r>
              <a:rPr sz="1700" b="1">
                <a:solidFill>
                  <a:srgbClr val="0A5A4A"/>
                </a:solidFill>
                <a:latin typeface="Arial"/>
              </a:rPr>
              <a:t>GeoTax تخدم مباشرة محاور رؤية مصر 2030</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بناء دولة رقمية وحوكمة إلكترونية شفافة للمعاملات الحكومية.</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تعظيم الموارد المالية للدولة عبر توسيع القاعدة الضريبية وضبط التهرب.</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العدالة الاجتماعية: مساواة الممولين أمام إجراء موحّد وشفاف.</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الاقتصاد الرقمي: ربط الأنشطة الاقتصادية بخرائط ومنظومات بيانات.</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رفع كفاءة جهاز الدولة الإداري وتقليل الاعتماد على المستندات الورقية.</a:t>
            </a:r>
          </a:p>
        </p:txBody>
      </p:sp>
      <p:sp>
        <p:nvSpPr>
          <p:cNvPr id="10" name="Rectangle 9"/>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2" name="TextBox 11"/>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الأول</a:t>
            </a:r>
          </a:p>
        </p:txBody>
      </p:sp>
      <p:sp>
        <p:nvSpPr>
          <p:cNvPr id="13" name="TextBox 12"/>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دور التكنولوجيا في تطوير الإدارة الضريبية</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من التقدير إلى اليقين</a:t>
            </a:r>
          </a:p>
        </p:txBody>
      </p:sp>
      <p:sp>
        <p:nvSpPr>
          <p:cNvPr id="9" name="TextBox 8"/>
          <p:cNvSpPr txBox="1"/>
          <p:nvPr/>
        </p:nvSpPr>
        <p:spPr>
          <a:xfrm>
            <a:off x="548640" y="1234440"/>
            <a:ext cx="11094415" cy="5166360"/>
          </a:xfrm>
          <a:prstGeom prst="rect">
            <a:avLst/>
          </a:prstGeom>
          <a:noFill/>
        </p:spPr>
        <p:txBody>
          <a:bodyPr wrap="square" anchor="t" lIns="25400" rIns="25400" tIns="12700" bIns="12700">
            <a:spAutoFit/>
          </a:bodyPr>
          <a:lstStyle/>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قاعدة بيانات مركزية موحّدة للممولين تُنهي التشتت بين المأموريات.</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أتمتة دورة الحصر والفحص من الإسناد حتى الاعتماد النهائي.</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إشعارات فورية ومراسلات مباشرة بين المصلحة والممول.</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تقارير لحظية قابلة للتصدير (Excel / PDF) لدعم القرار.</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سجل عمليات (Audit Log) يوثّق كل تصرف ويحمي المال العام.</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تطبيق محمول يعمل ميدانياً في يد المأمور أثناء المعاينة.</a:t>
            </a:r>
          </a:p>
        </p:txBody>
      </p:sp>
      <p:sp>
        <p:nvSpPr>
          <p:cNvPr id="10" name="Rectangle 9"/>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2" name="TextBox 11"/>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الأول</a:t>
            </a:r>
          </a:p>
        </p:txBody>
      </p:sp>
      <p:sp>
        <p:nvSpPr>
          <p:cNvPr id="13" name="TextBox 12"/>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دور نظم المعلومات الجغرافية GIS في الحصر الضريبي</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الخريطة أداة تحصيل</a:t>
            </a:r>
          </a:p>
        </p:txBody>
      </p:sp>
      <p:sp>
        <p:nvSpPr>
          <p:cNvPr id="9" name="TextBox 8"/>
          <p:cNvSpPr txBox="1"/>
          <p:nvPr/>
        </p:nvSpPr>
        <p:spPr>
          <a:xfrm>
            <a:off x="548640" y="1234440"/>
            <a:ext cx="11094415" cy="5166360"/>
          </a:xfrm>
          <a:prstGeom prst="rect">
            <a:avLst/>
          </a:prstGeom>
          <a:noFill/>
        </p:spPr>
        <p:txBody>
          <a:bodyPr wrap="square" anchor="t" lIns="25400" rIns="25400" tIns="12700" bIns="12700">
            <a:spAutoFit/>
          </a:bodyPr>
          <a:lstStyle/>
          <a:p>
            <a:pPr algn="r" rtl="1">
              <a:lnSpc>
                <a:spcPct val="102000"/>
              </a:lnSpc>
              <a:spcBef>
                <a:spcPts val="0"/>
              </a:spcBef>
              <a:spcAft>
                <a:spcPts val="700"/>
              </a:spcAft>
            </a:pPr>
            <a:r>
              <a:rPr sz="1700" b="1">
                <a:solidFill>
                  <a:srgbClr val="0A5A4A"/>
                </a:solidFill>
                <a:latin typeface="Arial"/>
              </a:rPr>
              <a:t>GIS يحوّل كل نشاط اقتصادي إلى نقطة على الخريطة</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توطين (Geolocation) دقيق لكل ممول وفرع ومخزن بإحداثيات فعلية.</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اكتشاف الأنشطة غير المسجّلة بصرياً عبر الفجوات على الخريطة.</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تمييز حالة كل نشاط بلون (نشط/توقف جزئي/توقف نهائي/جديد/قيد الإجراء).</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تخطيط خطوط سير المأمورين ميدانياً وتوزيع المهام جغرافياً.</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ربط الشكاوى والطلبات بمواقعها لتسريع المعاينة والتحقق.</a:t>
            </a:r>
          </a:p>
        </p:txBody>
      </p:sp>
      <p:sp>
        <p:nvSpPr>
          <p:cNvPr id="10" name="Rectangle 9"/>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2" name="TextBox 11"/>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الأول</a:t>
            </a:r>
          </a:p>
        </p:txBody>
      </p:sp>
      <p:sp>
        <p:nvSpPr>
          <p:cNvPr id="13" name="TextBox 12"/>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التحول من النظام الورقي إلى النظام الإلكتروني</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قبل وبعد</a:t>
            </a:r>
          </a:p>
        </p:txBody>
      </p:sp>
      <p:sp>
        <p:nvSpPr>
          <p:cNvPr id="9" name="TextBox 8"/>
          <p:cNvSpPr txBox="1"/>
          <p:nvPr/>
        </p:nvSpPr>
        <p:spPr>
          <a:xfrm>
            <a:off x="548640" y="1234440"/>
            <a:ext cx="11094415" cy="5166360"/>
          </a:xfrm>
          <a:prstGeom prst="rect">
            <a:avLst/>
          </a:prstGeom>
          <a:noFill/>
        </p:spPr>
        <p:txBody>
          <a:bodyPr wrap="square" anchor="t" lIns="25400" rIns="25400" tIns="12700" bIns="12700">
            <a:spAutoFit/>
          </a:bodyPr>
          <a:lstStyle/>
          <a:p>
            <a:pPr algn="r" rtl="1">
              <a:lnSpc>
                <a:spcPct val="102000"/>
              </a:lnSpc>
              <a:spcBef>
                <a:spcPts val="0"/>
              </a:spcBef>
              <a:spcAft>
                <a:spcPts val="700"/>
              </a:spcAft>
            </a:pPr>
            <a:r>
              <a:rPr sz="1700" b="1">
                <a:solidFill>
                  <a:srgbClr val="0A5A4A"/>
                </a:solidFill>
                <a:latin typeface="Arial"/>
              </a:rPr>
              <a:t>النظام الورقي القديم</a:t>
            </a:r>
          </a:p>
          <a:p>
            <a:pPr algn="r" rtl="1">
              <a:lnSpc>
                <a:spcPct val="102000"/>
              </a:lnSpc>
              <a:spcBef>
                <a:spcPts val="0"/>
              </a:spcBef>
              <a:spcAft>
                <a:spcPts val="700"/>
              </a:spcAft>
            </a:pPr>
            <a:r>
              <a:rPr sz="1350" b="0">
                <a:solidFill>
                  <a:srgbClr val="DC2626"/>
                </a:solidFill>
                <a:latin typeface="Arial"/>
              </a:rPr>
              <a:t/>
            </a:r>
            <a:r>
              <a:rPr sz="1350" b="1">
                <a:solidFill>
                  <a:srgbClr val="0E7C66"/>
                </a:solidFill>
                <a:latin typeface="Arial"/>
              </a:rPr>
              <a:t>▪  </a:t>
            </a:r>
            <a:r>
              <a:rPr sz="1350" b="0">
                <a:solidFill>
                  <a:srgbClr val="DC2626"/>
                </a:solidFill>
                <a:latin typeface="Arial"/>
              </a:rPr>
              <a:t>ملفات ورقية متفرقة معرّضة للفقد والتلف والتكرار.</a:t>
            </a:r>
          </a:p>
          <a:p>
            <a:pPr algn="r" rtl="1">
              <a:lnSpc>
                <a:spcPct val="102000"/>
              </a:lnSpc>
              <a:spcBef>
                <a:spcPts val="0"/>
              </a:spcBef>
              <a:spcAft>
                <a:spcPts val="700"/>
              </a:spcAft>
            </a:pPr>
            <a:r>
              <a:rPr sz="1350" b="0">
                <a:solidFill>
                  <a:srgbClr val="DC2626"/>
                </a:solidFill>
                <a:latin typeface="Arial"/>
              </a:rPr>
              <a:t/>
            </a:r>
            <a:r>
              <a:rPr sz="1350" b="1">
                <a:solidFill>
                  <a:srgbClr val="0E7C66"/>
                </a:solidFill>
                <a:latin typeface="Arial"/>
              </a:rPr>
              <a:t>▪  </a:t>
            </a:r>
            <a:r>
              <a:rPr sz="1350" b="0">
                <a:solidFill>
                  <a:srgbClr val="DC2626"/>
                </a:solidFill>
                <a:latin typeface="Arial"/>
              </a:rPr>
              <a:t>لا متابعة ميدانية ولا إثبات لموقع أو زمن المعاينة.</a:t>
            </a:r>
          </a:p>
          <a:p>
            <a:pPr algn="r" rtl="1">
              <a:lnSpc>
                <a:spcPct val="102000"/>
              </a:lnSpc>
              <a:spcBef>
                <a:spcPts val="0"/>
              </a:spcBef>
              <a:spcAft>
                <a:spcPts val="700"/>
              </a:spcAft>
            </a:pPr>
            <a:r>
              <a:rPr sz="1350" b="0">
                <a:solidFill>
                  <a:srgbClr val="DC2626"/>
                </a:solidFill>
                <a:latin typeface="Arial"/>
              </a:rPr>
              <a:t/>
            </a:r>
            <a:r>
              <a:rPr sz="1350" b="1">
                <a:solidFill>
                  <a:srgbClr val="0E7C66"/>
                </a:solidFill>
                <a:latin typeface="Arial"/>
              </a:rPr>
              <a:t>▪  </a:t>
            </a:r>
            <a:r>
              <a:rPr sz="1350" b="0">
                <a:solidFill>
                  <a:srgbClr val="DC2626"/>
                </a:solidFill>
                <a:latin typeface="Arial"/>
              </a:rPr>
              <a:t>بحث بطيء وتقارير يدوية تستغرق أياماً.</a:t>
            </a:r>
          </a:p>
          <a:p>
            <a:pPr algn="r" rtl="1">
              <a:lnSpc>
                <a:spcPct val="102000"/>
              </a:lnSpc>
              <a:spcBef>
                <a:spcPts val="0"/>
              </a:spcBef>
              <a:spcAft>
                <a:spcPts val="700"/>
              </a:spcAft>
            </a:pPr>
            <a:r>
              <a:rPr sz="1700" b="1">
                <a:solidFill>
                  <a:srgbClr val="0A5A4A"/>
                </a:solidFill>
                <a:latin typeface="Arial"/>
              </a:rPr>
              <a:t>منظومة GeoTax الإلكترونية</a:t>
            </a:r>
          </a:p>
          <a:p>
            <a:pPr algn="r" rtl="1">
              <a:lnSpc>
                <a:spcPct val="102000"/>
              </a:lnSpc>
              <a:spcBef>
                <a:spcPts val="0"/>
              </a:spcBef>
              <a:spcAft>
                <a:spcPts val="700"/>
              </a:spcAft>
            </a:pPr>
            <a:r>
              <a:rPr sz="1350" b="0">
                <a:solidFill>
                  <a:srgbClr val="0A5A4A"/>
                </a:solidFill>
                <a:latin typeface="Arial"/>
              </a:rPr>
              <a:t/>
            </a:r>
            <a:r>
              <a:rPr sz="1350" b="1">
                <a:solidFill>
                  <a:srgbClr val="0E7C66"/>
                </a:solidFill>
                <a:latin typeface="Arial"/>
              </a:rPr>
              <a:t>▪  </a:t>
            </a:r>
            <a:r>
              <a:rPr sz="1350" b="0">
                <a:solidFill>
                  <a:srgbClr val="0A5A4A"/>
                </a:solidFill>
                <a:latin typeface="Arial"/>
              </a:rPr>
              <a:t>سجل مركزي رقمي موحّد + نسخ سحابية آمنة.</a:t>
            </a:r>
          </a:p>
          <a:p>
            <a:pPr algn="r" rtl="1">
              <a:lnSpc>
                <a:spcPct val="102000"/>
              </a:lnSpc>
              <a:spcBef>
                <a:spcPts val="0"/>
              </a:spcBef>
              <a:spcAft>
                <a:spcPts val="700"/>
              </a:spcAft>
            </a:pPr>
            <a:r>
              <a:rPr sz="1350" b="0">
                <a:solidFill>
                  <a:srgbClr val="0A5A4A"/>
                </a:solidFill>
                <a:latin typeface="Arial"/>
              </a:rPr>
              <a:t/>
            </a:r>
            <a:r>
              <a:rPr sz="1350" b="1">
                <a:solidFill>
                  <a:srgbClr val="0E7C66"/>
                </a:solidFill>
                <a:latin typeface="Arial"/>
              </a:rPr>
              <a:t>▪  </a:t>
            </a:r>
            <a:r>
              <a:rPr sz="1350" b="0">
                <a:solidFill>
                  <a:srgbClr val="0A5A4A"/>
                </a:solidFill>
                <a:latin typeface="Arial"/>
              </a:rPr>
              <a:t>معاينة ميدانية موثّقة بالموقع والصور والوقت والمنفّذ.</a:t>
            </a:r>
          </a:p>
          <a:p>
            <a:pPr algn="r" rtl="1">
              <a:lnSpc>
                <a:spcPct val="102000"/>
              </a:lnSpc>
              <a:spcBef>
                <a:spcPts val="0"/>
              </a:spcBef>
              <a:spcAft>
                <a:spcPts val="700"/>
              </a:spcAft>
            </a:pPr>
            <a:r>
              <a:rPr sz="1350" b="0">
                <a:solidFill>
                  <a:srgbClr val="0A5A4A"/>
                </a:solidFill>
                <a:latin typeface="Arial"/>
              </a:rPr>
              <a:t/>
            </a:r>
            <a:r>
              <a:rPr sz="1350" b="1">
                <a:solidFill>
                  <a:srgbClr val="0E7C66"/>
                </a:solidFill>
                <a:latin typeface="Arial"/>
              </a:rPr>
              <a:t>▪  </a:t>
            </a:r>
            <a:r>
              <a:rPr sz="1350" b="0">
                <a:solidFill>
                  <a:srgbClr val="0A5A4A"/>
                </a:solidFill>
                <a:latin typeface="Arial"/>
              </a:rPr>
              <a:t>بحث فوري وتقارير تُصدَّر بضغطة زر.</a:t>
            </a:r>
          </a:p>
        </p:txBody>
      </p:sp>
      <p:sp>
        <p:nvSpPr>
          <p:cNvPr id="10" name="Rectangle 9"/>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2" name="TextBox 11"/>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الأول</a:t>
            </a:r>
          </a:p>
        </p:txBody>
      </p:sp>
      <p:sp>
        <p:nvSpPr>
          <p:cNvPr id="13" name="TextBox 12"/>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56032" y="0"/>
            <a:ext cx="54864" cy="68580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45775" cy="45720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600" b="1">
                <a:solidFill>
                  <a:srgbClr val="0D9488"/>
                </a:solidFill>
                <a:latin typeface="Arial"/>
              </a:rPr>
              <a:t>المحور الثاني</a:t>
            </a:r>
          </a:p>
        </p:txBody>
      </p:sp>
      <p:sp>
        <p:nvSpPr>
          <p:cNvPr id="6" name="TextBox 5"/>
          <p:cNvSpPr txBox="1"/>
          <p:nvPr/>
        </p:nvSpPr>
        <p:spPr>
          <a:xfrm>
            <a:off x="822960" y="2743200"/>
            <a:ext cx="10545775" cy="128016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4000" b="1">
                <a:solidFill>
                  <a:srgbClr val="FFFFFF"/>
                </a:solidFill>
                <a:latin typeface="Arial"/>
              </a:rPr>
              <a:t>المشكلة الحالية وكيف يحلّها GeoTax</a:t>
            </a:r>
          </a:p>
        </p:txBody>
      </p:sp>
      <p:sp>
        <p:nvSpPr>
          <p:cNvPr id="7" name="TextBox 6"/>
          <p:cNvSpPr txBox="1"/>
          <p:nvPr/>
        </p:nvSpPr>
        <p:spPr>
          <a:xfrm>
            <a:off x="822960" y="4114800"/>
            <a:ext cx="10545775" cy="1097280"/>
          </a:xfrm>
          <a:prstGeom prst="rect">
            <a:avLst/>
          </a:prstGeom>
          <a:noFill/>
        </p:spPr>
        <p:txBody>
          <a:bodyPr wrap="square" anchor="t" lIns="25400" rIns="25400" tIns="12700" bIns="12700">
            <a:spAutoFit/>
          </a:bodyPr>
          <a:lstStyle/>
          <a:p>
            <a:pPr algn="r" rtl="1">
              <a:lnSpc>
                <a:spcPct val="115000"/>
              </a:lnSpc>
              <a:spcBef>
                <a:spcPts val="0"/>
              </a:spcBef>
              <a:spcAft>
                <a:spcPts val="400"/>
              </a:spcAft>
            </a:pPr>
            <a:r>
              <a:rPr sz="1700" b="0">
                <a:solidFill>
                  <a:srgbClr val="B8CDDC"/>
                </a:solidFill>
                <a:latin typeface="Arial"/>
              </a:rPr>
              <a:t>تشخيص دقيق لمعوقات العمل الضريبي التقليدي والحل المقابل في المنظومة</a:t>
            </a:r>
          </a:p>
        </p:txBody>
      </p:sp>
      <p:sp>
        <p:nvSpPr>
          <p:cNvPr id="8" name="TextBox 7"/>
          <p:cNvSpPr txBox="1"/>
          <p:nvPr/>
        </p:nvSpPr>
        <p:spPr>
          <a:xfrm>
            <a:off x="457200" y="6217920"/>
            <a:ext cx="11277295" cy="36576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100" b="0">
                <a:solidFill>
                  <a:srgbClr val="6E8AA0"/>
                </a:solidFill>
                <a:latin typeface="Arial"/>
              </a:rPr>
              <a:t>GeoTax — منظومة إدارة أعمال مصلحة الضرائب المصرية بنظم المعلومات الجغرافية</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المشكلات الحالية في العمل الضريبي التقليدي</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التشخيص</a:t>
            </a:r>
          </a:p>
        </p:txBody>
      </p:sp>
      <p:sp>
        <p:nvSpPr>
          <p:cNvPr id="9" name="TextBox 8"/>
          <p:cNvSpPr txBox="1"/>
          <p:nvPr/>
        </p:nvSpPr>
        <p:spPr>
          <a:xfrm>
            <a:off x="548640" y="1234440"/>
            <a:ext cx="11094415" cy="5166360"/>
          </a:xfrm>
          <a:prstGeom prst="rect">
            <a:avLst/>
          </a:prstGeom>
          <a:noFill/>
        </p:spPr>
        <p:txBody>
          <a:bodyPr wrap="square" anchor="t" lIns="25400" rIns="25400" tIns="12700" bIns="12700">
            <a:spAutoFit/>
          </a:bodyPr>
          <a:lstStyle/>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صعوبة الحصر: لا توجد آلية منهجية لحصر الأنشطة القائمة فعلياً.</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ضياع الوقت: إجراءات ورقية متكررة وتنقل بين الأقسام والمكاتب.</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غياب المتابعة الميدانية: لا دليل على تنفيذ المعاينة أو مكانها.</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عدم وجود خرائط: لا رؤية جغرافية لتوزيع الممولين والأنشطة.</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ضعف الرقابة: صعوبة تتبّع من فعل ماذا ومتى.</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تكرار البيانات: نفس الممول مسجّل بصور مختلفة في أكثر من مكان.</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صعوبة الوصول للأنشطة: بيانات موقع ناقصة أو غير دقيقة.</a:t>
            </a:r>
          </a:p>
        </p:txBody>
      </p:sp>
      <p:sp>
        <p:nvSpPr>
          <p:cNvPr id="10" name="Rectangle 9"/>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2" name="TextBox 11"/>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الثاني</a:t>
            </a:r>
          </a:p>
        </p:txBody>
      </p:sp>
      <p:sp>
        <p:nvSpPr>
          <p:cNvPr id="13" name="TextBox 12"/>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كيف يحلّ GeoTax هذه المشكلات</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مصفوفة المشكلة ← الحل</a:t>
            </a:r>
          </a:p>
        </p:txBody>
      </p:sp>
      <p:sp>
        <p:nvSpPr>
          <p:cNvPr id="9" name="Rectangle 8"/>
          <p:cNvSpPr/>
          <p:nvPr/>
        </p:nvSpPr>
        <p:spPr>
          <a:xfrm>
            <a:off x="502920" y="1234440"/>
            <a:ext cx="11185855" cy="576072"/>
          </a:xfrm>
          <a:prstGeom prst="rect">
            <a:avLst/>
          </a:prstGeom>
          <a:solidFill>
            <a:srgbClr val="0E7C66"/>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87287" y="1234440"/>
            <a:ext cx="5410047" cy="576072"/>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1">
                <a:solidFill>
                  <a:srgbClr val="FFFFFF"/>
                </a:solidFill>
                <a:latin typeface="Arial"/>
              </a:rPr>
              <a:t>حل GeoTax في المنظومة</a:t>
            </a:r>
          </a:p>
        </p:txBody>
      </p:sp>
      <p:sp>
        <p:nvSpPr>
          <p:cNvPr id="11" name="TextBox 10"/>
          <p:cNvSpPr txBox="1"/>
          <p:nvPr/>
        </p:nvSpPr>
        <p:spPr>
          <a:xfrm>
            <a:off x="594360" y="1234440"/>
            <a:ext cx="5410047" cy="576072"/>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1">
                <a:solidFill>
                  <a:srgbClr val="FFFFFF"/>
                </a:solidFill>
                <a:latin typeface="Arial"/>
              </a:rPr>
              <a:t>المشكلة</a:t>
            </a:r>
          </a:p>
        </p:txBody>
      </p:sp>
      <p:sp>
        <p:nvSpPr>
          <p:cNvPr id="12" name="Rectangle 11"/>
          <p:cNvSpPr/>
          <p:nvPr/>
        </p:nvSpPr>
        <p:spPr>
          <a:xfrm>
            <a:off x="502920" y="1810512"/>
            <a:ext cx="11185855" cy="576072"/>
          </a:xfrm>
          <a:prstGeom prst="rect">
            <a:avLst/>
          </a:prstGeom>
          <a:solidFill>
            <a:srgbClr val="F8FAFC"/>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7287" y="1810512"/>
            <a:ext cx="5410047" cy="576072"/>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0A5A4A"/>
                </a:solidFill>
                <a:latin typeface="Arial"/>
              </a:rPr>
              <a:t>حصر ميداني رقمي على مرحلتين + بحث مركزي على مستوى الجمهورية</a:t>
            </a:r>
          </a:p>
        </p:txBody>
      </p:sp>
      <p:sp>
        <p:nvSpPr>
          <p:cNvPr id="14" name="TextBox 13"/>
          <p:cNvSpPr txBox="1"/>
          <p:nvPr/>
        </p:nvSpPr>
        <p:spPr>
          <a:xfrm>
            <a:off x="594360" y="1810512"/>
            <a:ext cx="5410047" cy="576072"/>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0F172A"/>
                </a:solidFill>
                <a:latin typeface="Arial"/>
              </a:rPr>
              <a:t>صعوبة الحصر</a:t>
            </a:r>
          </a:p>
        </p:txBody>
      </p:sp>
      <p:sp>
        <p:nvSpPr>
          <p:cNvPr id="15" name="Rectangle 14"/>
          <p:cNvSpPr/>
          <p:nvPr/>
        </p:nvSpPr>
        <p:spPr>
          <a:xfrm>
            <a:off x="502920" y="2386584"/>
            <a:ext cx="11185855" cy="576072"/>
          </a:xfrm>
          <a:prstGeom prst="rect">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87287" y="2386584"/>
            <a:ext cx="5410047" cy="576072"/>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0A5A4A"/>
                </a:solidFill>
                <a:latin typeface="Arial"/>
              </a:rPr>
              <a:t>أتمتة الطلبات والإسناد والاعتماد + إشعارات فورية</a:t>
            </a:r>
          </a:p>
        </p:txBody>
      </p:sp>
      <p:sp>
        <p:nvSpPr>
          <p:cNvPr id="17" name="TextBox 16"/>
          <p:cNvSpPr txBox="1"/>
          <p:nvPr/>
        </p:nvSpPr>
        <p:spPr>
          <a:xfrm>
            <a:off x="594360" y="2386584"/>
            <a:ext cx="5410047" cy="576072"/>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0F172A"/>
                </a:solidFill>
                <a:latin typeface="Arial"/>
              </a:rPr>
              <a:t>ضياع الوقت</a:t>
            </a:r>
          </a:p>
        </p:txBody>
      </p:sp>
      <p:sp>
        <p:nvSpPr>
          <p:cNvPr id="18" name="Rectangle 17"/>
          <p:cNvSpPr/>
          <p:nvPr/>
        </p:nvSpPr>
        <p:spPr>
          <a:xfrm>
            <a:off x="502920" y="2962656"/>
            <a:ext cx="11185855" cy="576072"/>
          </a:xfrm>
          <a:prstGeom prst="rect">
            <a:avLst/>
          </a:prstGeom>
          <a:solidFill>
            <a:srgbClr val="F8FAFC"/>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87287" y="2962656"/>
            <a:ext cx="5410047" cy="576072"/>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0A5A4A"/>
                </a:solidFill>
                <a:latin typeface="Arial"/>
              </a:rPr>
              <a:t>التقاط GPS للموقع + خطوط سير + صور ووقت لكل معاينة</a:t>
            </a:r>
          </a:p>
        </p:txBody>
      </p:sp>
      <p:sp>
        <p:nvSpPr>
          <p:cNvPr id="20" name="TextBox 19"/>
          <p:cNvSpPr txBox="1"/>
          <p:nvPr/>
        </p:nvSpPr>
        <p:spPr>
          <a:xfrm>
            <a:off x="594360" y="2962656"/>
            <a:ext cx="5410047" cy="576072"/>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0F172A"/>
                </a:solidFill>
                <a:latin typeface="Arial"/>
              </a:rPr>
              <a:t>غياب المتابعة الميدانية</a:t>
            </a:r>
          </a:p>
        </p:txBody>
      </p:sp>
      <p:sp>
        <p:nvSpPr>
          <p:cNvPr id="21" name="Rectangle 20"/>
          <p:cNvSpPr/>
          <p:nvPr/>
        </p:nvSpPr>
        <p:spPr>
          <a:xfrm>
            <a:off x="502920" y="3538728"/>
            <a:ext cx="11185855" cy="576072"/>
          </a:xfrm>
          <a:prstGeom prst="rect">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87287" y="3538728"/>
            <a:ext cx="5410047" cy="576072"/>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0A5A4A"/>
                </a:solidFill>
                <a:latin typeface="Arial"/>
              </a:rPr>
              <a:t>خريطة تفاعلية GIS بخمسة ألوان لحالة كل نشاط</a:t>
            </a:r>
          </a:p>
        </p:txBody>
      </p:sp>
      <p:sp>
        <p:nvSpPr>
          <p:cNvPr id="23" name="TextBox 22"/>
          <p:cNvSpPr txBox="1"/>
          <p:nvPr/>
        </p:nvSpPr>
        <p:spPr>
          <a:xfrm>
            <a:off x="594360" y="3538728"/>
            <a:ext cx="5410047" cy="576072"/>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0F172A"/>
                </a:solidFill>
                <a:latin typeface="Arial"/>
              </a:rPr>
              <a:t>عدم وجود خرائط</a:t>
            </a:r>
          </a:p>
        </p:txBody>
      </p:sp>
      <p:sp>
        <p:nvSpPr>
          <p:cNvPr id="24" name="Rectangle 23"/>
          <p:cNvSpPr/>
          <p:nvPr/>
        </p:nvSpPr>
        <p:spPr>
          <a:xfrm>
            <a:off x="502920" y="4114800"/>
            <a:ext cx="11185855" cy="576072"/>
          </a:xfrm>
          <a:prstGeom prst="rect">
            <a:avLst/>
          </a:prstGeom>
          <a:solidFill>
            <a:srgbClr val="F8FAFC"/>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87287" y="4114800"/>
            <a:ext cx="5410047" cy="576072"/>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0A5A4A"/>
                </a:solidFill>
                <a:latin typeface="Arial"/>
              </a:rPr>
              <a:t>سجل عمليات Audit Log يوثّق كل تصرف بهوية منفّذه</a:t>
            </a:r>
          </a:p>
        </p:txBody>
      </p:sp>
      <p:sp>
        <p:nvSpPr>
          <p:cNvPr id="26" name="TextBox 25"/>
          <p:cNvSpPr txBox="1"/>
          <p:nvPr/>
        </p:nvSpPr>
        <p:spPr>
          <a:xfrm>
            <a:off x="594360" y="4114800"/>
            <a:ext cx="5410047" cy="576072"/>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0F172A"/>
                </a:solidFill>
                <a:latin typeface="Arial"/>
              </a:rPr>
              <a:t>ضعف الرقابة</a:t>
            </a:r>
          </a:p>
        </p:txBody>
      </p:sp>
      <p:sp>
        <p:nvSpPr>
          <p:cNvPr id="27" name="Rectangle 26"/>
          <p:cNvSpPr/>
          <p:nvPr/>
        </p:nvSpPr>
        <p:spPr>
          <a:xfrm>
            <a:off x="502920" y="4690872"/>
            <a:ext cx="11185855" cy="576072"/>
          </a:xfrm>
          <a:prstGeom prst="rect">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87287" y="4690872"/>
            <a:ext cx="5410047" cy="576072"/>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0A5A4A"/>
                </a:solidFill>
                <a:latin typeface="Arial"/>
              </a:rPr>
              <a:t>سجل ممول مركزي موحّد يمنع الازدواج ويربط الحسابات</a:t>
            </a:r>
          </a:p>
        </p:txBody>
      </p:sp>
      <p:sp>
        <p:nvSpPr>
          <p:cNvPr id="29" name="TextBox 28"/>
          <p:cNvSpPr txBox="1"/>
          <p:nvPr/>
        </p:nvSpPr>
        <p:spPr>
          <a:xfrm>
            <a:off x="594360" y="4690872"/>
            <a:ext cx="5410047" cy="576072"/>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0F172A"/>
                </a:solidFill>
                <a:latin typeface="Arial"/>
              </a:rPr>
              <a:t>تكرار البيانات</a:t>
            </a:r>
          </a:p>
        </p:txBody>
      </p:sp>
      <p:sp>
        <p:nvSpPr>
          <p:cNvPr id="30" name="Rectangle 29"/>
          <p:cNvSpPr/>
          <p:nvPr/>
        </p:nvSpPr>
        <p:spPr>
          <a:xfrm>
            <a:off x="502920" y="5266944"/>
            <a:ext cx="11185855" cy="576072"/>
          </a:xfrm>
          <a:prstGeom prst="rect">
            <a:avLst/>
          </a:prstGeom>
          <a:solidFill>
            <a:srgbClr val="F8FAFC"/>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87287" y="5266944"/>
            <a:ext cx="5410047" cy="576072"/>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0A5A4A"/>
                </a:solidFill>
                <a:latin typeface="Arial"/>
              </a:rPr>
              <a:t>إحداثيات دقيقة لكل ممول وفرع ومخزن + بحث متعدد المعايير</a:t>
            </a:r>
          </a:p>
        </p:txBody>
      </p:sp>
      <p:sp>
        <p:nvSpPr>
          <p:cNvPr id="32" name="TextBox 31"/>
          <p:cNvSpPr txBox="1"/>
          <p:nvPr/>
        </p:nvSpPr>
        <p:spPr>
          <a:xfrm>
            <a:off x="594360" y="5266944"/>
            <a:ext cx="5410047" cy="576072"/>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0F172A"/>
                </a:solidFill>
                <a:latin typeface="Arial"/>
              </a:rPr>
              <a:t>صعوبة الوصول للأنشطة</a:t>
            </a:r>
          </a:p>
        </p:txBody>
      </p:sp>
      <p:sp>
        <p:nvSpPr>
          <p:cNvPr id="33" name="Rectangle 32"/>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35" name="TextBox 34"/>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الثاني</a:t>
            </a:r>
          </a:p>
        </p:txBody>
      </p:sp>
      <p:sp>
        <p:nvSpPr>
          <p:cNvPr id="36" name="TextBox 35"/>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56032" y="0"/>
            <a:ext cx="54864" cy="68580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45775" cy="45720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600" b="1">
                <a:solidFill>
                  <a:srgbClr val="0D9488"/>
                </a:solidFill>
                <a:latin typeface="Arial"/>
              </a:rPr>
              <a:t>المحور الثالث</a:t>
            </a:r>
          </a:p>
        </p:txBody>
      </p:sp>
      <p:sp>
        <p:nvSpPr>
          <p:cNvPr id="6" name="TextBox 5"/>
          <p:cNvSpPr txBox="1"/>
          <p:nvPr/>
        </p:nvSpPr>
        <p:spPr>
          <a:xfrm>
            <a:off x="822960" y="2743200"/>
            <a:ext cx="10545775" cy="128016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4000" b="1">
                <a:solidFill>
                  <a:srgbClr val="FFFFFF"/>
                </a:solidFill>
                <a:latin typeface="Arial"/>
              </a:rPr>
              <a:t>فكرة المشروع ودورة العمل</a:t>
            </a:r>
          </a:p>
        </p:txBody>
      </p:sp>
      <p:sp>
        <p:nvSpPr>
          <p:cNvPr id="7" name="TextBox 6"/>
          <p:cNvSpPr txBox="1"/>
          <p:nvPr/>
        </p:nvSpPr>
        <p:spPr>
          <a:xfrm>
            <a:off x="822960" y="4114800"/>
            <a:ext cx="10545775" cy="1097280"/>
          </a:xfrm>
          <a:prstGeom prst="rect">
            <a:avLst/>
          </a:prstGeom>
          <a:noFill/>
        </p:spPr>
        <p:txBody>
          <a:bodyPr wrap="square" anchor="t" lIns="25400" rIns="25400" tIns="12700" bIns="12700">
            <a:spAutoFit/>
          </a:bodyPr>
          <a:lstStyle/>
          <a:p>
            <a:pPr algn="r" rtl="1">
              <a:lnSpc>
                <a:spcPct val="115000"/>
              </a:lnSpc>
              <a:spcBef>
                <a:spcPts val="0"/>
              </a:spcBef>
              <a:spcAft>
                <a:spcPts val="400"/>
              </a:spcAft>
            </a:pPr>
            <a:r>
              <a:rPr sz="1700" b="0">
                <a:solidFill>
                  <a:srgbClr val="B8CDDC"/>
                </a:solidFill>
                <a:latin typeface="Arial"/>
              </a:rPr>
              <a:t>تصوّر شامل للمنظومة ثم دورة العمل التفصيلية للحصر والفحص</a:t>
            </a:r>
          </a:p>
        </p:txBody>
      </p:sp>
      <p:sp>
        <p:nvSpPr>
          <p:cNvPr id="8" name="TextBox 7"/>
          <p:cNvSpPr txBox="1"/>
          <p:nvPr/>
        </p:nvSpPr>
        <p:spPr>
          <a:xfrm>
            <a:off x="457200" y="6217920"/>
            <a:ext cx="11277295" cy="36576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100" b="0">
                <a:solidFill>
                  <a:srgbClr val="6E8AA0"/>
                </a:solidFill>
                <a:latin typeface="Arial"/>
              </a:rPr>
              <a:t>GeoTax — منظومة إدارة أعمال مصلحة الضرائب المصرية بنظم المعلومات الجغرافية</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فكرة المشروع</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الرؤية العامة</a:t>
            </a:r>
          </a:p>
        </p:txBody>
      </p:sp>
      <p:sp>
        <p:nvSpPr>
          <p:cNvPr id="9" name="TextBox 8"/>
          <p:cNvSpPr txBox="1"/>
          <p:nvPr/>
        </p:nvSpPr>
        <p:spPr>
          <a:xfrm>
            <a:off x="548640" y="1234440"/>
            <a:ext cx="11094415" cy="5166360"/>
          </a:xfrm>
          <a:prstGeom prst="rect">
            <a:avLst/>
          </a:prstGeom>
          <a:noFill/>
        </p:spPr>
        <p:txBody>
          <a:bodyPr wrap="square" anchor="t" lIns="25400" rIns="25400" tIns="12700" bIns="12700">
            <a:spAutoFit/>
          </a:bodyPr>
          <a:lstStyle/>
          <a:p>
            <a:pPr algn="r" rtl="1">
              <a:lnSpc>
                <a:spcPct val="102000"/>
              </a:lnSpc>
              <a:spcBef>
                <a:spcPts val="0"/>
              </a:spcBef>
              <a:spcAft>
                <a:spcPts val="700"/>
              </a:spcAft>
            </a:pPr>
            <a:r>
              <a:rPr sz="1700" b="1">
                <a:solidFill>
                  <a:srgbClr val="0A5A4A"/>
                </a:solidFill>
                <a:latin typeface="Arial"/>
              </a:rPr>
              <a:t>GeoTax: منصة موحّدة تربط كل مأموريات الضرائب بسجل مركزي وخريطة واحدة</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تطبيق محمول (React Native) يعمل على أجهزة الموظفين والممولين.</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خلفية سحابية (Supabase) توفّر قاعدة بيانات وصلاحيات ومصادقة آمنة.</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ثلاث منظومات فرعية: الحصر، الفحص، (والحجز مستقبلاً) داخل كل مأمورية.</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هرم صلاحيات دقيق من الإدارة العليا حتى المأمور الميداني والممول.</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كل بيانات الممول (نشاط/فروع/مخازن/طلبات/معاينات) في ملف واحد متكامل.</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طبقة جغرافية GIS تربط كل كيان بموقعه الفعلي على الأرض.</a:t>
            </a:r>
          </a:p>
        </p:txBody>
      </p:sp>
      <p:sp>
        <p:nvSpPr>
          <p:cNvPr id="10" name="Rectangle 9"/>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2" name="TextBox 11"/>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الثالث</a:t>
            </a:r>
          </a:p>
        </p:txBody>
      </p:sp>
      <p:sp>
        <p:nvSpPr>
          <p:cNvPr id="13" name="TextBox 12"/>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دورة العمل العامة للمنظومة</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دورة العمل — من اليمين إلى اليسار</a:t>
            </a:r>
          </a:p>
        </p:txBody>
      </p:sp>
      <p:sp>
        <p:nvSpPr>
          <p:cNvPr id="9" name="Rounded Rectangle 8"/>
          <p:cNvSpPr/>
          <p:nvPr/>
        </p:nvSpPr>
        <p:spPr>
          <a:xfrm>
            <a:off x="10014965" y="2743200"/>
            <a:ext cx="1673809" cy="1554480"/>
          </a:xfrm>
          <a:prstGeom prst="roundRect">
            <a:avLst/>
          </a:prstGeom>
          <a:solidFill>
            <a:srgbClr val="0E7C66"/>
          </a:solidFill>
          <a:ln>
            <a:noFill/>
          </a:ln>
          <a:effectLst/>
          <a:effectLst>
            <a:outerShdw blurRad="90000" dist="40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60685" y="2852928"/>
            <a:ext cx="1582369" cy="45720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2000" b="1">
                <a:solidFill>
                  <a:srgbClr val="FFFFFF"/>
                </a:solidFill>
                <a:latin typeface="Arial"/>
              </a:rPr>
              <a:t>1</a:t>
            </a:r>
          </a:p>
        </p:txBody>
      </p:sp>
      <p:sp>
        <p:nvSpPr>
          <p:cNvPr id="11" name="TextBox 10"/>
          <p:cNvSpPr txBox="1"/>
          <p:nvPr/>
        </p:nvSpPr>
        <p:spPr>
          <a:xfrm>
            <a:off x="10069829" y="3246120"/>
            <a:ext cx="1564081" cy="50292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350" b="1">
                <a:solidFill>
                  <a:srgbClr val="FFFFFF"/>
                </a:solidFill>
                <a:latin typeface="Arial"/>
              </a:rPr>
              <a:t>الدخول والصلاحية</a:t>
            </a:r>
          </a:p>
        </p:txBody>
      </p:sp>
      <p:sp>
        <p:nvSpPr>
          <p:cNvPr id="12" name="TextBox 11"/>
          <p:cNvSpPr txBox="1"/>
          <p:nvPr/>
        </p:nvSpPr>
        <p:spPr>
          <a:xfrm>
            <a:off x="10069829" y="3730752"/>
            <a:ext cx="1564081" cy="5029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EAF3F0"/>
                </a:solidFill>
                <a:latin typeface="Arial"/>
              </a:rPr>
              <a:t>اختيار المأمورية والدور</a:t>
            </a:r>
          </a:p>
        </p:txBody>
      </p:sp>
      <p:sp>
        <p:nvSpPr>
          <p:cNvPr id="13" name="TextBox 12"/>
          <p:cNvSpPr txBox="1"/>
          <p:nvPr/>
        </p:nvSpPr>
        <p:spPr>
          <a:xfrm>
            <a:off x="11679631" y="3291840"/>
            <a:ext cx="228600"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000" b="1">
                <a:solidFill>
                  <a:srgbClr val="64748B"/>
                </a:solidFill>
                <a:latin typeface="Arial"/>
              </a:rPr>
              <a:t>◄</a:t>
            </a:r>
          </a:p>
        </p:txBody>
      </p:sp>
      <p:sp>
        <p:nvSpPr>
          <p:cNvPr id="14" name="Rounded Rectangle 13"/>
          <p:cNvSpPr/>
          <p:nvPr/>
        </p:nvSpPr>
        <p:spPr>
          <a:xfrm>
            <a:off x="8112556" y="2743200"/>
            <a:ext cx="1673809" cy="1554480"/>
          </a:xfrm>
          <a:prstGeom prst="roundRect">
            <a:avLst/>
          </a:prstGeom>
          <a:solidFill>
            <a:srgbClr val="0D9488"/>
          </a:solidFill>
          <a:ln>
            <a:noFill/>
          </a:ln>
          <a:effectLst/>
          <a:effectLst>
            <a:outerShdw blurRad="90000" dist="40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58276" y="2852928"/>
            <a:ext cx="1582369" cy="45720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2000" b="1">
                <a:solidFill>
                  <a:srgbClr val="FFFFFF"/>
                </a:solidFill>
                <a:latin typeface="Arial"/>
              </a:rPr>
              <a:t>2</a:t>
            </a:r>
          </a:p>
        </p:txBody>
      </p:sp>
      <p:sp>
        <p:nvSpPr>
          <p:cNvPr id="16" name="TextBox 15"/>
          <p:cNvSpPr txBox="1"/>
          <p:nvPr/>
        </p:nvSpPr>
        <p:spPr>
          <a:xfrm>
            <a:off x="8167420" y="3246120"/>
            <a:ext cx="1564081" cy="50292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350" b="1">
                <a:solidFill>
                  <a:srgbClr val="FFFFFF"/>
                </a:solidFill>
                <a:latin typeface="Arial"/>
              </a:rPr>
              <a:t>مصدر العمل</a:t>
            </a:r>
          </a:p>
        </p:txBody>
      </p:sp>
      <p:sp>
        <p:nvSpPr>
          <p:cNvPr id="17" name="TextBox 16"/>
          <p:cNvSpPr txBox="1"/>
          <p:nvPr/>
        </p:nvSpPr>
        <p:spPr>
          <a:xfrm>
            <a:off x="8167420" y="3730752"/>
            <a:ext cx="1564081" cy="5029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EAF3F0"/>
                </a:solidFill>
                <a:latin typeface="Arial"/>
              </a:rPr>
              <a:t>طلب ممول / شكوى / خطة</a:t>
            </a:r>
          </a:p>
        </p:txBody>
      </p:sp>
      <p:sp>
        <p:nvSpPr>
          <p:cNvPr id="18" name="TextBox 17"/>
          <p:cNvSpPr txBox="1"/>
          <p:nvPr/>
        </p:nvSpPr>
        <p:spPr>
          <a:xfrm>
            <a:off x="9777221" y="3291840"/>
            <a:ext cx="228600"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000" b="1">
                <a:solidFill>
                  <a:srgbClr val="64748B"/>
                </a:solidFill>
                <a:latin typeface="Arial"/>
              </a:rPr>
              <a:t>◄</a:t>
            </a:r>
          </a:p>
        </p:txBody>
      </p:sp>
      <p:sp>
        <p:nvSpPr>
          <p:cNvPr id="19" name="Rounded Rectangle 18"/>
          <p:cNvSpPr/>
          <p:nvPr/>
        </p:nvSpPr>
        <p:spPr>
          <a:xfrm>
            <a:off x="6210147" y="2743200"/>
            <a:ext cx="1673809" cy="1554480"/>
          </a:xfrm>
          <a:prstGeom prst="roundRect">
            <a:avLst/>
          </a:prstGeom>
          <a:solidFill>
            <a:srgbClr val="2563EB"/>
          </a:solidFill>
          <a:ln>
            <a:noFill/>
          </a:ln>
          <a:effectLst/>
          <a:effectLst>
            <a:outerShdw blurRad="90000" dist="40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55867" y="2852928"/>
            <a:ext cx="1582369" cy="45720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2000" b="1">
                <a:solidFill>
                  <a:srgbClr val="FFFFFF"/>
                </a:solidFill>
                <a:latin typeface="Arial"/>
              </a:rPr>
              <a:t>3</a:t>
            </a:r>
          </a:p>
        </p:txBody>
      </p:sp>
      <p:sp>
        <p:nvSpPr>
          <p:cNvPr id="21" name="TextBox 20"/>
          <p:cNvSpPr txBox="1"/>
          <p:nvPr/>
        </p:nvSpPr>
        <p:spPr>
          <a:xfrm>
            <a:off x="6265011" y="3246120"/>
            <a:ext cx="1564081" cy="50292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350" b="1">
                <a:solidFill>
                  <a:srgbClr val="FFFFFF"/>
                </a:solidFill>
                <a:latin typeface="Arial"/>
              </a:rPr>
              <a:t>الإسناد</a:t>
            </a:r>
          </a:p>
        </p:txBody>
      </p:sp>
      <p:sp>
        <p:nvSpPr>
          <p:cNvPr id="22" name="TextBox 21"/>
          <p:cNvSpPr txBox="1"/>
          <p:nvPr/>
        </p:nvSpPr>
        <p:spPr>
          <a:xfrm>
            <a:off x="6265011" y="3730752"/>
            <a:ext cx="1564081" cy="5029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EAF3F0"/>
                </a:solidFill>
                <a:latin typeface="Arial"/>
              </a:rPr>
              <a:t>المدير→المراجع→المأمور</a:t>
            </a:r>
          </a:p>
        </p:txBody>
      </p:sp>
      <p:sp>
        <p:nvSpPr>
          <p:cNvPr id="23" name="TextBox 22"/>
          <p:cNvSpPr txBox="1"/>
          <p:nvPr/>
        </p:nvSpPr>
        <p:spPr>
          <a:xfrm>
            <a:off x="7874812" y="3291840"/>
            <a:ext cx="228600"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000" b="1">
                <a:solidFill>
                  <a:srgbClr val="64748B"/>
                </a:solidFill>
                <a:latin typeface="Arial"/>
              </a:rPr>
              <a:t>◄</a:t>
            </a:r>
          </a:p>
        </p:txBody>
      </p:sp>
      <p:sp>
        <p:nvSpPr>
          <p:cNvPr id="24" name="Rounded Rectangle 23"/>
          <p:cNvSpPr/>
          <p:nvPr/>
        </p:nvSpPr>
        <p:spPr>
          <a:xfrm>
            <a:off x="4307738" y="2743200"/>
            <a:ext cx="1673809" cy="1554480"/>
          </a:xfrm>
          <a:prstGeom prst="roundRect">
            <a:avLst/>
          </a:prstGeom>
          <a:solidFill>
            <a:srgbClr val="0891B2"/>
          </a:solidFill>
          <a:ln>
            <a:noFill/>
          </a:ln>
          <a:effectLst/>
          <a:effectLst>
            <a:outerShdw blurRad="90000" dist="40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53458" y="2852928"/>
            <a:ext cx="1582369" cy="45720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2000" b="1">
                <a:solidFill>
                  <a:srgbClr val="FFFFFF"/>
                </a:solidFill>
                <a:latin typeface="Arial"/>
              </a:rPr>
              <a:t>4</a:t>
            </a:r>
          </a:p>
        </p:txBody>
      </p:sp>
      <p:sp>
        <p:nvSpPr>
          <p:cNvPr id="26" name="TextBox 25"/>
          <p:cNvSpPr txBox="1"/>
          <p:nvPr/>
        </p:nvSpPr>
        <p:spPr>
          <a:xfrm>
            <a:off x="4362602" y="3246120"/>
            <a:ext cx="1564081" cy="50292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350" b="1">
                <a:solidFill>
                  <a:srgbClr val="FFFFFF"/>
                </a:solidFill>
                <a:latin typeface="Arial"/>
              </a:rPr>
              <a:t>التنفيذ الميداني</a:t>
            </a:r>
          </a:p>
        </p:txBody>
      </p:sp>
      <p:sp>
        <p:nvSpPr>
          <p:cNvPr id="27" name="TextBox 26"/>
          <p:cNvSpPr txBox="1"/>
          <p:nvPr/>
        </p:nvSpPr>
        <p:spPr>
          <a:xfrm>
            <a:off x="4362602" y="3730752"/>
            <a:ext cx="1564081" cy="5029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EAF3F0"/>
                </a:solidFill>
                <a:latin typeface="Arial"/>
              </a:rPr>
              <a:t>معاينة + GPS + صور</a:t>
            </a:r>
          </a:p>
        </p:txBody>
      </p:sp>
      <p:sp>
        <p:nvSpPr>
          <p:cNvPr id="28" name="TextBox 27"/>
          <p:cNvSpPr txBox="1"/>
          <p:nvPr/>
        </p:nvSpPr>
        <p:spPr>
          <a:xfrm>
            <a:off x="5972403" y="3291840"/>
            <a:ext cx="228600"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000" b="1">
                <a:solidFill>
                  <a:srgbClr val="64748B"/>
                </a:solidFill>
                <a:latin typeface="Arial"/>
              </a:rPr>
              <a:t>◄</a:t>
            </a:r>
          </a:p>
        </p:txBody>
      </p:sp>
      <p:sp>
        <p:nvSpPr>
          <p:cNvPr id="29" name="Rounded Rectangle 28"/>
          <p:cNvSpPr/>
          <p:nvPr/>
        </p:nvSpPr>
        <p:spPr>
          <a:xfrm>
            <a:off x="2405329" y="2743200"/>
            <a:ext cx="1673809" cy="1554480"/>
          </a:xfrm>
          <a:prstGeom prst="roundRect">
            <a:avLst/>
          </a:prstGeom>
          <a:solidFill>
            <a:srgbClr val="7C3AED"/>
          </a:solidFill>
          <a:ln>
            <a:noFill/>
          </a:ln>
          <a:effectLst/>
          <a:effectLst>
            <a:outerShdw blurRad="90000" dist="40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451049" y="2852928"/>
            <a:ext cx="1582369" cy="45720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2000" b="1">
                <a:solidFill>
                  <a:srgbClr val="FFFFFF"/>
                </a:solidFill>
                <a:latin typeface="Arial"/>
              </a:rPr>
              <a:t>5</a:t>
            </a:r>
          </a:p>
        </p:txBody>
      </p:sp>
      <p:sp>
        <p:nvSpPr>
          <p:cNvPr id="31" name="TextBox 30"/>
          <p:cNvSpPr txBox="1"/>
          <p:nvPr/>
        </p:nvSpPr>
        <p:spPr>
          <a:xfrm>
            <a:off x="2460193" y="3246120"/>
            <a:ext cx="1564081" cy="50292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350" b="1">
                <a:solidFill>
                  <a:srgbClr val="FFFFFF"/>
                </a:solidFill>
                <a:latin typeface="Arial"/>
              </a:rPr>
              <a:t>المراجعة والاعتماد</a:t>
            </a:r>
          </a:p>
        </p:txBody>
      </p:sp>
      <p:sp>
        <p:nvSpPr>
          <p:cNvPr id="32" name="TextBox 31"/>
          <p:cNvSpPr txBox="1"/>
          <p:nvPr/>
        </p:nvSpPr>
        <p:spPr>
          <a:xfrm>
            <a:off x="2460193" y="3730752"/>
            <a:ext cx="1564081" cy="5029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EAF3F0"/>
                </a:solidFill>
                <a:latin typeface="Arial"/>
              </a:rPr>
              <a:t>المراجع ثم المدير</a:t>
            </a:r>
          </a:p>
        </p:txBody>
      </p:sp>
      <p:sp>
        <p:nvSpPr>
          <p:cNvPr id="33" name="TextBox 32"/>
          <p:cNvSpPr txBox="1"/>
          <p:nvPr/>
        </p:nvSpPr>
        <p:spPr>
          <a:xfrm>
            <a:off x="4069994" y="3291840"/>
            <a:ext cx="228600"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000" b="1">
                <a:solidFill>
                  <a:srgbClr val="64748B"/>
                </a:solidFill>
                <a:latin typeface="Arial"/>
              </a:rPr>
              <a:t>◄</a:t>
            </a:r>
          </a:p>
        </p:txBody>
      </p:sp>
      <p:sp>
        <p:nvSpPr>
          <p:cNvPr id="34" name="Rounded Rectangle 33"/>
          <p:cNvSpPr/>
          <p:nvPr/>
        </p:nvSpPr>
        <p:spPr>
          <a:xfrm>
            <a:off x="502919" y="2743200"/>
            <a:ext cx="1673809" cy="1554480"/>
          </a:xfrm>
          <a:prstGeom prst="roundRect">
            <a:avLst/>
          </a:prstGeom>
          <a:solidFill>
            <a:srgbClr val="153B63"/>
          </a:solidFill>
          <a:ln>
            <a:noFill/>
          </a:ln>
          <a:effectLst/>
          <a:effectLst>
            <a:outerShdw blurRad="90000" dist="40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8639" y="2852928"/>
            <a:ext cx="1582369" cy="45720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2000" b="1">
                <a:solidFill>
                  <a:srgbClr val="FFFFFF"/>
                </a:solidFill>
                <a:latin typeface="Arial"/>
              </a:rPr>
              <a:t>6</a:t>
            </a:r>
          </a:p>
        </p:txBody>
      </p:sp>
      <p:sp>
        <p:nvSpPr>
          <p:cNvPr id="36" name="TextBox 35"/>
          <p:cNvSpPr txBox="1"/>
          <p:nvPr/>
        </p:nvSpPr>
        <p:spPr>
          <a:xfrm>
            <a:off x="557783" y="3246120"/>
            <a:ext cx="1564081" cy="50292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350" b="1">
                <a:solidFill>
                  <a:srgbClr val="FFFFFF"/>
                </a:solidFill>
                <a:latin typeface="Arial"/>
              </a:rPr>
              <a:t>التوثيق</a:t>
            </a:r>
          </a:p>
        </p:txBody>
      </p:sp>
      <p:sp>
        <p:nvSpPr>
          <p:cNvPr id="37" name="TextBox 36"/>
          <p:cNvSpPr txBox="1"/>
          <p:nvPr/>
        </p:nvSpPr>
        <p:spPr>
          <a:xfrm>
            <a:off x="557783" y="3730752"/>
            <a:ext cx="1564081" cy="5029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EAF3F0"/>
                </a:solidFill>
                <a:latin typeface="Arial"/>
              </a:rPr>
              <a:t>السجل + الخريطة + الإشعار</a:t>
            </a:r>
          </a:p>
        </p:txBody>
      </p:sp>
      <p:sp>
        <p:nvSpPr>
          <p:cNvPr id="38" name="Rectangle 37"/>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40" name="TextBox 39"/>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الثالث</a:t>
            </a:r>
          </a:p>
        </p:txBody>
      </p:sp>
      <p:sp>
        <p:nvSpPr>
          <p:cNvPr id="41" name="TextBox 40"/>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دورة عمل الحصر (Survey Workflow)</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دورة العمل — من اليمين إلى اليسار</a:t>
            </a:r>
          </a:p>
        </p:txBody>
      </p:sp>
      <p:sp>
        <p:nvSpPr>
          <p:cNvPr id="9" name="Rounded Rectangle 8"/>
          <p:cNvSpPr/>
          <p:nvPr/>
        </p:nvSpPr>
        <p:spPr>
          <a:xfrm>
            <a:off x="10014965" y="2743200"/>
            <a:ext cx="1673809" cy="1554480"/>
          </a:xfrm>
          <a:prstGeom prst="roundRect">
            <a:avLst/>
          </a:prstGeom>
          <a:solidFill>
            <a:srgbClr val="0E7C66"/>
          </a:solidFill>
          <a:ln>
            <a:noFill/>
          </a:ln>
          <a:effectLst/>
          <a:effectLst>
            <a:outerShdw blurRad="90000" dist="40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60685" y="2852928"/>
            <a:ext cx="1582369" cy="45720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2000" b="1">
                <a:solidFill>
                  <a:srgbClr val="FFFFFF"/>
                </a:solidFill>
                <a:latin typeface="Arial"/>
              </a:rPr>
              <a:t>1</a:t>
            </a:r>
          </a:p>
        </p:txBody>
      </p:sp>
      <p:sp>
        <p:nvSpPr>
          <p:cNvPr id="11" name="TextBox 10"/>
          <p:cNvSpPr txBox="1"/>
          <p:nvPr/>
        </p:nvSpPr>
        <p:spPr>
          <a:xfrm>
            <a:off x="10069829" y="3246120"/>
            <a:ext cx="1564081" cy="50292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350" b="1">
                <a:solidFill>
                  <a:srgbClr val="FFFFFF"/>
                </a:solidFill>
                <a:latin typeface="Arial"/>
              </a:rPr>
              <a:t>مصدر</a:t>
            </a:r>
          </a:p>
        </p:txBody>
      </p:sp>
      <p:sp>
        <p:nvSpPr>
          <p:cNvPr id="12" name="TextBox 11"/>
          <p:cNvSpPr txBox="1"/>
          <p:nvPr/>
        </p:nvSpPr>
        <p:spPr>
          <a:xfrm>
            <a:off x="10069829" y="3730752"/>
            <a:ext cx="1564081" cy="5029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EAF3F0"/>
                </a:solidFill>
                <a:latin typeface="Arial"/>
              </a:rPr>
              <a:t>طلب/شكوى/خطة حصر</a:t>
            </a:r>
          </a:p>
        </p:txBody>
      </p:sp>
      <p:sp>
        <p:nvSpPr>
          <p:cNvPr id="13" name="TextBox 12"/>
          <p:cNvSpPr txBox="1"/>
          <p:nvPr/>
        </p:nvSpPr>
        <p:spPr>
          <a:xfrm>
            <a:off x="11679631" y="3291840"/>
            <a:ext cx="228600"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000" b="1">
                <a:solidFill>
                  <a:srgbClr val="64748B"/>
                </a:solidFill>
                <a:latin typeface="Arial"/>
              </a:rPr>
              <a:t>◄</a:t>
            </a:r>
          </a:p>
        </p:txBody>
      </p:sp>
      <p:sp>
        <p:nvSpPr>
          <p:cNvPr id="14" name="Rounded Rectangle 13"/>
          <p:cNvSpPr/>
          <p:nvPr/>
        </p:nvSpPr>
        <p:spPr>
          <a:xfrm>
            <a:off x="8112556" y="2743200"/>
            <a:ext cx="1673809" cy="1554480"/>
          </a:xfrm>
          <a:prstGeom prst="roundRect">
            <a:avLst/>
          </a:prstGeom>
          <a:solidFill>
            <a:srgbClr val="0E7C66"/>
          </a:solidFill>
          <a:ln>
            <a:noFill/>
          </a:ln>
          <a:effectLst/>
          <a:effectLst>
            <a:outerShdw blurRad="90000" dist="40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58276" y="2852928"/>
            <a:ext cx="1582369" cy="45720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2000" b="1">
                <a:solidFill>
                  <a:srgbClr val="FFFFFF"/>
                </a:solidFill>
                <a:latin typeface="Arial"/>
              </a:rPr>
              <a:t>2</a:t>
            </a:r>
          </a:p>
        </p:txBody>
      </p:sp>
      <p:sp>
        <p:nvSpPr>
          <p:cNvPr id="16" name="TextBox 15"/>
          <p:cNvSpPr txBox="1"/>
          <p:nvPr/>
        </p:nvSpPr>
        <p:spPr>
          <a:xfrm>
            <a:off x="8167420" y="3246120"/>
            <a:ext cx="1564081" cy="50292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350" b="1">
                <a:solidFill>
                  <a:srgbClr val="FFFFFF"/>
                </a:solidFill>
                <a:latin typeface="Arial"/>
              </a:rPr>
              <a:t>خطة الحصر</a:t>
            </a:r>
          </a:p>
        </p:txBody>
      </p:sp>
      <p:sp>
        <p:nvSpPr>
          <p:cNvPr id="17" name="TextBox 16"/>
          <p:cNvSpPr txBox="1"/>
          <p:nvPr/>
        </p:nvSpPr>
        <p:spPr>
          <a:xfrm>
            <a:off x="8167420" y="3730752"/>
            <a:ext cx="1564081" cy="5029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EAF3F0"/>
                </a:solidFill>
                <a:latin typeface="Arial"/>
              </a:rPr>
              <a:t>مراجع الحصر يخطّط</a:t>
            </a:r>
          </a:p>
        </p:txBody>
      </p:sp>
      <p:sp>
        <p:nvSpPr>
          <p:cNvPr id="18" name="TextBox 17"/>
          <p:cNvSpPr txBox="1"/>
          <p:nvPr/>
        </p:nvSpPr>
        <p:spPr>
          <a:xfrm>
            <a:off x="9777221" y="3291840"/>
            <a:ext cx="228600"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000" b="1">
                <a:solidFill>
                  <a:srgbClr val="64748B"/>
                </a:solidFill>
                <a:latin typeface="Arial"/>
              </a:rPr>
              <a:t>◄</a:t>
            </a:r>
          </a:p>
        </p:txBody>
      </p:sp>
      <p:sp>
        <p:nvSpPr>
          <p:cNvPr id="19" name="Rounded Rectangle 18"/>
          <p:cNvSpPr/>
          <p:nvPr/>
        </p:nvSpPr>
        <p:spPr>
          <a:xfrm>
            <a:off x="6210147" y="2743200"/>
            <a:ext cx="1673809" cy="1554480"/>
          </a:xfrm>
          <a:prstGeom prst="roundRect">
            <a:avLst/>
          </a:prstGeom>
          <a:solidFill>
            <a:srgbClr val="0D9488"/>
          </a:solidFill>
          <a:ln>
            <a:noFill/>
          </a:ln>
          <a:effectLst/>
          <a:effectLst>
            <a:outerShdw blurRad="90000" dist="40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55867" y="2852928"/>
            <a:ext cx="1582369" cy="45720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2000" b="1">
                <a:solidFill>
                  <a:srgbClr val="FFFFFF"/>
                </a:solidFill>
                <a:latin typeface="Arial"/>
              </a:rPr>
              <a:t>3</a:t>
            </a:r>
          </a:p>
        </p:txBody>
      </p:sp>
      <p:sp>
        <p:nvSpPr>
          <p:cNvPr id="21" name="TextBox 20"/>
          <p:cNvSpPr txBox="1"/>
          <p:nvPr/>
        </p:nvSpPr>
        <p:spPr>
          <a:xfrm>
            <a:off x="6265011" y="3246120"/>
            <a:ext cx="1564081" cy="50292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350" b="1">
                <a:solidFill>
                  <a:srgbClr val="FFFFFF"/>
                </a:solidFill>
                <a:latin typeface="Arial"/>
              </a:rPr>
              <a:t>الإسناد</a:t>
            </a:r>
          </a:p>
        </p:txBody>
      </p:sp>
      <p:sp>
        <p:nvSpPr>
          <p:cNvPr id="22" name="TextBox 21"/>
          <p:cNvSpPr txBox="1"/>
          <p:nvPr/>
        </p:nvSpPr>
        <p:spPr>
          <a:xfrm>
            <a:off x="6265011" y="3730752"/>
            <a:ext cx="1564081" cy="5029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EAF3F0"/>
                </a:solidFill>
                <a:latin typeface="Arial"/>
              </a:rPr>
              <a:t>إسناد ملفات للمأمور</a:t>
            </a:r>
          </a:p>
        </p:txBody>
      </p:sp>
      <p:sp>
        <p:nvSpPr>
          <p:cNvPr id="23" name="TextBox 22"/>
          <p:cNvSpPr txBox="1"/>
          <p:nvPr/>
        </p:nvSpPr>
        <p:spPr>
          <a:xfrm>
            <a:off x="7874812" y="3291840"/>
            <a:ext cx="228600"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000" b="1">
                <a:solidFill>
                  <a:srgbClr val="64748B"/>
                </a:solidFill>
                <a:latin typeface="Arial"/>
              </a:rPr>
              <a:t>◄</a:t>
            </a:r>
          </a:p>
        </p:txBody>
      </p:sp>
      <p:sp>
        <p:nvSpPr>
          <p:cNvPr id="24" name="Rounded Rectangle 23"/>
          <p:cNvSpPr/>
          <p:nvPr/>
        </p:nvSpPr>
        <p:spPr>
          <a:xfrm>
            <a:off x="4307738" y="2743200"/>
            <a:ext cx="1673809" cy="1554480"/>
          </a:xfrm>
          <a:prstGeom prst="roundRect">
            <a:avLst/>
          </a:prstGeom>
          <a:solidFill>
            <a:srgbClr val="0891B2"/>
          </a:solidFill>
          <a:ln>
            <a:noFill/>
          </a:ln>
          <a:effectLst/>
          <a:effectLst>
            <a:outerShdw blurRad="90000" dist="40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53458" y="2852928"/>
            <a:ext cx="1582369" cy="45720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2000" b="1">
                <a:solidFill>
                  <a:srgbClr val="FFFFFF"/>
                </a:solidFill>
                <a:latin typeface="Arial"/>
              </a:rPr>
              <a:t>4</a:t>
            </a:r>
          </a:p>
        </p:txBody>
      </p:sp>
      <p:sp>
        <p:nvSpPr>
          <p:cNvPr id="26" name="TextBox 25"/>
          <p:cNvSpPr txBox="1"/>
          <p:nvPr/>
        </p:nvSpPr>
        <p:spPr>
          <a:xfrm>
            <a:off x="4362602" y="3246120"/>
            <a:ext cx="1564081" cy="50292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350" b="1">
                <a:solidFill>
                  <a:srgbClr val="FFFFFF"/>
                </a:solidFill>
                <a:latin typeface="Arial"/>
              </a:rPr>
              <a:t>حصر ميداني</a:t>
            </a:r>
          </a:p>
        </p:txBody>
      </p:sp>
      <p:sp>
        <p:nvSpPr>
          <p:cNvPr id="27" name="TextBox 26"/>
          <p:cNvSpPr txBox="1"/>
          <p:nvPr/>
        </p:nvSpPr>
        <p:spPr>
          <a:xfrm>
            <a:off x="4362602" y="3730752"/>
            <a:ext cx="1564081" cy="5029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EAF3F0"/>
                </a:solidFill>
                <a:latin typeface="Arial"/>
              </a:rPr>
              <a:t>مرحلتان + GPS + صور</a:t>
            </a:r>
          </a:p>
        </p:txBody>
      </p:sp>
      <p:sp>
        <p:nvSpPr>
          <p:cNvPr id="28" name="TextBox 27"/>
          <p:cNvSpPr txBox="1"/>
          <p:nvPr/>
        </p:nvSpPr>
        <p:spPr>
          <a:xfrm>
            <a:off x="5972403" y="3291840"/>
            <a:ext cx="228600"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000" b="1">
                <a:solidFill>
                  <a:srgbClr val="64748B"/>
                </a:solidFill>
                <a:latin typeface="Arial"/>
              </a:rPr>
              <a:t>◄</a:t>
            </a:r>
          </a:p>
        </p:txBody>
      </p:sp>
      <p:sp>
        <p:nvSpPr>
          <p:cNvPr id="29" name="Rounded Rectangle 28"/>
          <p:cNvSpPr/>
          <p:nvPr/>
        </p:nvSpPr>
        <p:spPr>
          <a:xfrm>
            <a:off x="2405329" y="2743200"/>
            <a:ext cx="1673809" cy="1554480"/>
          </a:xfrm>
          <a:prstGeom prst="roundRect">
            <a:avLst/>
          </a:prstGeom>
          <a:solidFill>
            <a:srgbClr val="2563EB"/>
          </a:solidFill>
          <a:ln>
            <a:noFill/>
          </a:ln>
          <a:effectLst/>
          <a:effectLst>
            <a:outerShdw blurRad="90000" dist="40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451049" y="2852928"/>
            <a:ext cx="1582369" cy="45720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2000" b="1">
                <a:solidFill>
                  <a:srgbClr val="FFFFFF"/>
                </a:solidFill>
                <a:latin typeface="Arial"/>
              </a:rPr>
              <a:t>5</a:t>
            </a:r>
          </a:p>
        </p:txBody>
      </p:sp>
      <p:sp>
        <p:nvSpPr>
          <p:cNvPr id="31" name="TextBox 30"/>
          <p:cNvSpPr txBox="1"/>
          <p:nvPr/>
        </p:nvSpPr>
        <p:spPr>
          <a:xfrm>
            <a:off x="2460193" y="3246120"/>
            <a:ext cx="1564081" cy="50292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350" b="1">
                <a:solidFill>
                  <a:srgbClr val="FFFFFF"/>
                </a:solidFill>
                <a:latin typeface="Arial"/>
              </a:rPr>
              <a:t>المراجعة</a:t>
            </a:r>
          </a:p>
        </p:txBody>
      </p:sp>
      <p:sp>
        <p:nvSpPr>
          <p:cNvPr id="32" name="TextBox 31"/>
          <p:cNvSpPr txBox="1"/>
          <p:nvPr/>
        </p:nvSpPr>
        <p:spPr>
          <a:xfrm>
            <a:off x="2460193" y="3730752"/>
            <a:ext cx="1564081" cy="5029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EAF3F0"/>
                </a:solidFill>
                <a:latin typeface="Arial"/>
              </a:rPr>
              <a:t>مراجع الحصر يدقّق</a:t>
            </a:r>
          </a:p>
        </p:txBody>
      </p:sp>
      <p:sp>
        <p:nvSpPr>
          <p:cNvPr id="33" name="TextBox 32"/>
          <p:cNvSpPr txBox="1"/>
          <p:nvPr/>
        </p:nvSpPr>
        <p:spPr>
          <a:xfrm>
            <a:off x="4069994" y="3291840"/>
            <a:ext cx="228600"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000" b="1">
                <a:solidFill>
                  <a:srgbClr val="64748B"/>
                </a:solidFill>
                <a:latin typeface="Arial"/>
              </a:rPr>
              <a:t>◄</a:t>
            </a:r>
          </a:p>
        </p:txBody>
      </p:sp>
      <p:sp>
        <p:nvSpPr>
          <p:cNvPr id="34" name="Rounded Rectangle 33"/>
          <p:cNvSpPr/>
          <p:nvPr/>
        </p:nvSpPr>
        <p:spPr>
          <a:xfrm>
            <a:off x="502919" y="2743200"/>
            <a:ext cx="1673809" cy="1554480"/>
          </a:xfrm>
          <a:prstGeom prst="roundRect">
            <a:avLst/>
          </a:prstGeom>
          <a:solidFill>
            <a:srgbClr val="7C3AED"/>
          </a:solidFill>
          <a:ln>
            <a:noFill/>
          </a:ln>
          <a:effectLst/>
          <a:effectLst>
            <a:outerShdw blurRad="90000" dist="40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8639" y="2852928"/>
            <a:ext cx="1582369" cy="45720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2000" b="1">
                <a:solidFill>
                  <a:srgbClr val="FFFFFF"/>
                </a:solidFill>
                <a:latin typeface="Arial"/>
              </a:rPr>
              <a:t>6</a:t>
            </a:r>
          </a:p>
        </p:txBody>
      </p:sp>
      <p:sp>
        <p:nvSpPr>
          <p:cNvPr id="36" name="TextBox 35"/>
          <p:cNvSpPr txBox="1"/>
          <p:nvPr/>
        </p:nvSpPr>
        <p:spPr>
          <a:xfrm>
            <a:off x="557783" y="3246120"/>
            <a:ext cx="1564081" cy="50292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350" b="1">
                <a:solidFill>
                  <a:srgbClr val="FFFFFF"/>
                </a:solidFill>
                <a:latin typeface="Arial"/>
              </a:rPr>
              <a:t>الاعتماد</a:t>
            </a:r>
          </a:p>
        </p:txBody>
      </p:sp>
      <p:sp>
        <p:nvSpPr>
          <p:cNvPr id="37" name="TextBox 36"/>
          <p:cNvSpPr txBox="1"/>
          <p:nvPr/>
        </p:nvSpPr>
        <p:spPr>
          <a:xfrm>
            <a:off x="557783" y="3730752"/>
            <a:ext cx="1564081" cy="5029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EAF3F0"/>
                </a:solidFill>
                <a:latin typeface="Arial"/>
              </a:rPr>
              <a:t>مدير الحصر يعتمد</a:t>
            </a:r>
          </a:p>
        </p:txBody>
      </p:sp>
      <p:sp>
        <p:nvSpPr>
          <p:cNvPr id="38" name="Rectangle 37"/>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40" name="TextBox 39"/>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الثالث</a:t>
            </a:r>
          </a:p>
        </p:txBody>
      </p:sp>
      <p:sp>
        <p:nvSpPr>
          <p:cNvPr id="41" name="TextBox 40"/>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دورة عمل الفحص (Examination Workflow)</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دورة العمل — من اليمين إلى اليسار</a:t>
            </a:r>
          </a:p>
        </p:txBody>
      </p:sp>
      <p:sp>
        <p:nvSpPr>
          <p:cNvPr id="9" name="Rounded Rectangle 8"/>
          <p:cNvSpPr/>
          <p:nvPr/>
        </p:nvSpPr>
        <p:spPr>
          <a:xfrm>
            <a:off x="10014965" y="2743200"/>
            <a:ext cx="1673809" cy="1554480"/>
          </a:xfrm>
          <a:prstGeom prst="roundRect">
            <a:avLst/>
          </a:prstGeom>
          <a:solidFill>
            <a:srgbClr val="2563EB"/>
          </a:solidFill>
          <a:ln>
            <a:noFill/>
          </a:ln>
          <a:effectLst/>
          <a:effectLst>
            <a:outerShdw blurRad="90000" dist="40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60685" y="2852928"/>
            <a:ext cx="1582369" cy="45720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2000" b="1">
                <a:solidFill>
                  <a:srgbClr val="FFFFFF"/>
                </a:solidFill>
                <a:latin typeface="Arial"/>
              </a:rPr>
              <a:t>1</a:t>
            </a:r>
          </a:p>
        </p:txBody>
      </p:sp>
      <p:sp>
        <p:nvSpPr>
          <p:cNvPr id="11" name="TextBox 10"/>
          <p:cNvSpPr txBox="1"/>
          <p:nvPr/>
        </p:nvSpPr>
        <p:spPr>
          <a:xfrm>
            <a:off x="10069829" y="3246120"/>
            <a:ext cx="1564081" cy="50292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350" b="1">
                <a:solidFill>
                  <a:srgbClr val="FFFFFF"/>
                </a:solidFill>
                <a:latin typeface="Arial"/>
              </a:rPr>
              <a:t>اختيار الملف</a:t>
            </a:r>
          </a:p>
        </p:txBody>
      </p:sp>
      <p:sp>
        <p:nvSpPr>
          <p:cNvPr id="12" name="TextBox 11"/>
          <p:cNvSpPr txBox="1"/>
          <p:nvPr/>
        </p:nvSpPr>
        <p:spPr>
          <a:xfrm>
            <a:off x="10069829" y="3730752"/>
            <a:ext cx="1564081" cy="5029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EAF3F0"/>
                </a:solidFill>
                <a:latin typeface="Arial"/>
              </a:rPr>
              <a:t>خطة الفحص</a:t>
            </a:r>
          </a:p>
        </p:txBody>
      </p:sp>
      <p:sp>
        <p:nvSpPr>
          <p:cNvPr id="13" name="TextBox 12"/>
          <p:cNvSpPr txBox="1"/>
          <p:nvPr/>
        </p:nvSpPr>
        <p:spPr>
          <a:xfrm>
            <a:off x="11679631" y="3291840"/>
            <a:ext cx="228600"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000" b="1">
                <a:solidFill>
                  <a:srgbClr val="64748B"/>
                </a:solidFill>
                <a:latin typeface="Arial"/>
              </a:rPr>
              <a:t>◄</a:t>
            </a:r>
          </a:p>
        </p:txBody>
      </p:sp>
      <p:sp>
        <p:nvSpPr>
          <p:cNvPr id="14" name="Rounded Rectangle 13"/>
          <p:cNvSpPr/>
          <p:nvPr/>
        </p:nvSpPr>
        <p:spPr>
          <a:xfrm>
            <a:off x="8112556" y="2743200"/>
            <a:ext cx="1673809" cy="1554480"/>
          </a:xfrm>
          <a:prstGeom prst="roundRect">
            <a:avLst/>
          </a:prstGeom>
          <a:solidFill>
            <a:srgbClr val="2563EB"/>
          </a:solidFill>
          <a:ln>
            <a:noFill/>
          </a:ln>
          <a:effectLst/>
          <a:effectLst>
            <a:outerShdw blurRad="90000" dist="40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58276" y="2852928"/>
            <a:ext cx="1582369" cy="45720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2000" b="1">
                <a:solidFill>
                  <a:srgbClr val="FFFFFF"/>
                </a:solidFill>
                <a:latin typeface="Arial"/>
              </a:rPr>
              <a:t>2</a:t>
            </a:r>
          </a:p>
        </p:txBody>
      </p:sp>
      <p:sp>
        <p:nvSpPr>
          <p:cNvPr id="16" name="TextBox 15"/>
          <p:cNvSpPr txBox="1"/>
          <p:nvPr/>
        </p:nvSpPr>
        <p:spPr>
          <a:xfrm>
            <a:off x="8167420" y="3246120"/>
            <a:ext cx="1564081" cy="50292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350" b="1">
                <a:solidFill>
                  <a:srgbClr val="FFFFFF"/>
                </a:solidFill>
                <a:latin typeface="Arial"/>
              </a:rPr>
              <a:t>الإسناد</a:t>
            </a:r>
          </a:p>
        </p:txBody>
      </p:sp>
      <p:sp>
        <p:nvSpPr>
          <p:cNvPr id="17" name="TextBox 16"/>
          <p:cNvSpPr txBox="1"/>
          <p:nvPr/>
        </p:nvSpPr>
        <p:spPr>
          <a:xfrm>
            <a:off x="8167420" y="3730752"/>
            <a:ext cx="1564081" cy="5029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EAF3F0"/>
                </a:solidFill>
                <a:latin typeface="Arial"/>
              </a:rPr>
              <a:t>مراجع الفحص يوزّع</a:t>
            </a:r>
          </a:p>
        </p:txBody>
      </p:sp>
      <p:sp>
        <p:nvSpPr>
          <p:cNvPr id="18" name="TextBox 17"/>
          <p:cNvSpPr txBox="1"/>
          <p:nvPr/>
        </p:nvSpPr>
        <p:spPr>
          <a:xfrm>
            <a:off x="9777221" y="3291840"/>
            <a:ext cx="228600"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000" b="1">
                <a:solidFill>
                  <a:srgbClr val="64748B"/>
                </a:solidFill>
                <a:latin typeface="Arial"/>
              </a:rPr>
              <a:t>◄</a:t>
            </a:r>
          </a:p>
        </p:txBody>
      </p:sp>
      <p:sp>
        <p:nvSpPr>
          <p:cNvPr id="19" name="Rounded Rectangle 18"/>
          <p:cNvSpPr/>
          <p:nvPr/>
        </p:nvSpPr>
        <p:spPr>
          <a:xfrm>
            <a:off x="6210147" y="2743200"/>
            <a:ext cx="1673809" cy="1554480"/>
          </a:xfrm>
          <a:prstGeom prst="roundRect">
            <a:avLst/>
          </a:prstGeom>
          <a:solidFill>
            <a:srgbClr val="0891B2"/>
          </a:solidFill>
          <a:ln>
            <a:noFill/>
          </a:ln>
          <a:effectLst/>
          <a:effectLst>
            <a:outerShdw blurRad="90000" dist="40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55867" y="2852928"/>
            <a:ext cx="1582369" cy="45720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2000" b="1">
                <a:solidFill>
                  <a:srgbClr val="FFFFFF"/>
                </a:solidFill>
                <a:latin typeface="Arial"/>
              </a:rPr>
              <a:t>3</a:t>
            </a:r>
          </a:p>
        </p:txBody>
      </p:sp>
      <p:sp>
        <p:nvSpPr>
          <p:cNvPr id="21" name="TextBox 20"/>
          <p:cNvSpPr txBox="1"/>
          <p:nvPr/>
        </p:nvSpPr>
        <p:spPr>
          <a:xfrm>
            <a:off x="6265011" y="3246120"/>
            <a:ext cx="1564081" cy="50292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350" b="1">
                <a:solidFill>
                  <a:srgbClr val="FFFFFF"/>
                </a:solidFill>
                <a:latin typeface="Arial"/>
              </a:rPr>
              <a:t>طلب حضور/موعد</a:t>
            </a:r>
          </a:p>
        </p:txBody>
      </p:sp>
      <p:sp>
        <p:nvSpPr>
          <p:cNvPr id="22" name="TextBox 21"/>
          <p:cNvSpPr txBox="1"/>
          <p:nvPr/>
        </p:nvSpPr>
        <p:spPr>
          <a:xfrm>
            <a:off x="6265011" y="3730752"/>
            <a:ext cx="1564081" cy="5029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EAF3F0"/>
                </a:solidFill>
                <a:latin typeface="Arial"/>
              </a:rPr>
              <a:t>إخطار الممول</a:t>
            </a:r>
          </a:p>
        </p:txBody>
      </p:sp>
      <p:sp>
        <p:nvSpPr>
          <p:cNvPr id="23" name="TextBox 22"/>
          <p:cNvSpPr txBox="1"/>
          <p:nvPr/>
        </p:nvSpPr>
        <p:spPr>
          <a:xfrm>
            <a:off x="7874812" y="3291840"/>
            <a:ext cx="228600"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000" b="1">
                <a:solidFill>
                  <a:srgbClr val="64748B"/>
                </a:solidFill>
                <a:latin typeface="Arial"/>
              </a:rPr>
              <a:t>◄</a:t>
            </a:r>
          </a:p>
        </p:txBody>
      </p:sp>
      <p:sp>
        <p:nvSpPr>
          <p:cNvPr id="24" name="Rounded Rectangle 23"/>
          <p:cNvSpPr/>
          <p:nvPr/>
        </p:nvSpPr>
        <p:spPr>
          <a:xfrm>
            <a:off x="4307738" y="2743200"/>
            <a:ext cx="1673809" cy="1554480"/>
          </a:xfrm>
          <a:prstGeom prst="roundRect">
            <a:avLst/>
          </a:prstGeom>
          <a:solidFill>
            <a:srgbClr val="0D9488"/>
          </a:solidFill>
          <a:ln>
            <a:noFill/>
          </a:ln>
          <a:effectLst/>
          <a:effectLst>
            <a:outerShdw blurRad="90000" dist="40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53458" y="2852928"/>
            <a:ext cx="1582369" cy="45720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2000" b="1">
                <a:solidFill>
                  <a:srgbClr val="FFFFFF"/>
                </a:solidFill>
                <a:latin typeface="Arial"/>
              </a:rPr>
              <a:t>4</a:t>
            </a:r>
          </a:p>
        </p:txBody>
      </p:sp>
      <p:sp>
        <p:nvSpPr>
          <p:cNvPr id="26" name="TextBox 25"/>
          <p:cNvSpPr txBox="1"/>
          <p:nvPr/>
        </p:nvSpPr>
        <p:spPr>
          <a:xfrm>
            <a:off x="4362602" y="3246120"/>
            <a:ext cx="1564081" cy="50292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350" b="1">
                <a:solidFill>
                  <a:srgbClr val="FFFFFF"/>
                </a:solidFill>
                <a:latin typeface="Arial"/>
              </a:rPr>
              <a:t>المعاينة</a:t>
            </a:r>
          </a:p>
        </p:txBody>
      </p:sp>
      <p:sp>
        <p:nvSpPr>
          <p:cNvPr id="27" name="TextBox 26"/>
          <p:cNvSpPr txBox="1"/>
          <p:nvPr/>
        </p:nvSpPr>
        <p:spPr>
          <a:xfrm>
            <a:off x="4362602" y="3730752"/>
            <a:ext cx="1564081" cy="5029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EAF3F0"/>
                </a:solidFill>
                <a:latin typeface="Arial"/>
              </a:rPr>
              <a:t>تنفيذ + موقع الفحص</a:t>
            </a:r>
          </a:p>
        </p:txBody>
      </p:sp>
      <p:sp>
        <p:nvSpPr>
          <p:cNvPr id="28" name="TextBox 27"/>
          <p:cNvSpPr txBox="1"/>
          <p:nvPr/>
        </p:nvSpPr>
        <p:spPr>
          <a:xfrm>
            <a:off x="5972403" y="3291840"/>
            <a:ext cx="228600"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000" b="1">
                <a:solidFill>
                  <a:srgbClr val="64748B"/>
                </a:solidFill>
                <a:latin typeface="Arial"/>
              </a:rPr>
              <a:t>◄</a:t>
            </a:r>
          </a:p>
        </p:txBody>
      </p:sp>
      <p:sp>
        <p:nvSpPr>
          <p:cNvPr id="29" name="Rounded Rectangle 28"/>
          <p:cNvSpPr/>
          <p:nvPr/>
        </p:nvSpPr>
        <p:spPr>
          <a:xfrm>
            <a:off x="2405329" y="2743200"/>
            <a:ext cx="1673809" cy="1554480"/>
          </a:xfrm>
          <a:prstGeom prst="roundRect">
            <a:avLst/>
          </a:prstGeom>
          <a:solidFill>
            <a:srgbClr val="D97706"/>
          </a:solidFill>
          <a:ln>
            <a:noFill/>
          </a:ln>
          <a:effectLst/>
          <a:effectLst>
            <a:outerShdw blurRad="90000" dist="40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451049" y="2852928"/>
            <a:ext cx="1582369" cy="45720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2000" b="1">
                <a:solidFill>
                  <a:srgbClr val="FFFFFF"/>
                </a:solidFill>
                <a:latin typeface="Arial"/>
              </a:rPr>
              <a:t>5</a:t>
            </a:r>
          </a:p>
        </p:txBody>
      </p:sp>
      <p:sp>
        <p:nvSpPr>
          <p:cNvPr id="31" name="TextBox 30"/>
          <p:cNvSpPr txBox="1"/>
          <p:nvPr/>
        </p:nvSpPr>
        <p:spPr>
          <a:xfrm>
            <a:off x="2460193" y="3246120"/>
            <a:ext cx="1564081" cy="50292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350" b="1">
                <a:solidFill>
                  <a:srgbClr val="FFFFFF"/>
                </a:solidFill>
                <a:latin typeface="Arial"/>
              </a:rPr>
              <a:t>التوقفات</a:t>
            </a:r>
          </a:p>
        </p:txBody>
      </p:sp>
      <p:sp>
        <p:nvSpPr>
          <p:cNvPr id="32" name="TextBox 31"/>
          <p:cNvSpPr txBox="1"/>
          <p:nvPr/>
        </p:nvSpPr>
        <p:spPr>
          <a:xfrm>
            <a:off x="2460193" y="3730752"/>
            <a:ext cx="1564081" cy="5029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EAF3F0"/>
                </a:solidFill>
                <a:latin typeface="Arial"/>
              </a:rPr>
              <a:t>جزئي/نهائي عند اللزوم</a:t>
            </a:r>
          </a:p>
        </p:txBody>
      </p:sp>
      <p:sp>
        <p:nvSpPr>
          <p:cNvPr id="33" name="TextBox 32"/>
          <p:cNvSpPr txBox="1"/>
          <p:nvPr/>
        </p:nvSpPr>
        <p:spPr>
          <a:xfrm>
            <a:off x="4069994" y="3291840"/>
            <a:ext cx="228600"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000" b="1">
                <a:solidFill>
                  <a:srgbClr val="64748B"/>
                </a:solidFill>
                <a:latin typeface="Arial"/>
              </a:rPr>
              <a:t>◄</a:t>
            </a:r>
          </a:p>
        </p:txBody>
      </p:sp>
      <p:sp>
        <p:nvSpPr>
          <p:cNvPr id="34" name="Rounded Rectangle 33"/>
          <p:cNvSpPr/>
          <p:nvPr/>
        </p:nvSpPr>
        <p:spPr>
          <a:xfrm>
            <a:off x="502919" y="2743200"/>
            <a:ext cx="1673809" cy="1554480"/>
          </a:xfrm>
          <a:prstGeom prst="roundRect">
            <a:avLst/>
          </a:prstGeom>
          <a:solidFill>
            <a:srgbClr val="7C3AED"/>
          </a:solidFill>
          <a:ln>
            <a:noFill/>
          </a:ln>
          <a:effectLst/>
          <a:effectLst>
            <a:outerShdw blurRad="90000" dist="40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8639" y="2852928"/>
            <a:ext cx="1582369" cy="45720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2000" b="1">
                <a:solidFill>
                  <a:srgbClr val="FFFFFF"/>
                </a:solidFill>
                <a:latin typeface="Arial"/>
              </a:rPr>
              <a:t>6</a:t>
            </a:r>
          </a:p>
        </p:txBody>
      </p:sp>
      <p:sp>
        <p:nvSpPr>
          <p:cNvPr id="36" name="TextBox 35"/>
          <p:cNvSpPr txBox="1"/>
          <p:nvPr/>
        </p:nvSpPr>
        <p:spPr>
          <a:xfrm>
            <a:off x="557783" y="3246120"/>
            <a:ext cx="1564081" cy="50292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350" b="1">
                <a:solidFill>
                  <a:srgbClr val="FFFFFF"/>
                </a:solidFill>
                <a:latin typeface="Arial"/>
              </a:rPr>
              <a:t>الاعتماد</a:t>
            </a:r>
          </a:p>
        </p:txBody>
      </p:sp>
      <p:sp>
        <p:nvSpPr>
          <p:cNvPr id="37" name="TextBox 36"/>
          <p:cNvSpPr txBox="1"/>
          <p:nvPr/>
        </p:nvSpPr>
        <p:spPr>
          <a:xfrm>
            <a:off x="557783" y="3730752"/>
            <a:ext cx="1564081" cy="5029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EAF3F0"/>
                </a:solidFill>
                <a:latin typeface="Arial"/>
              </a:rPr>
              <a:t>مدير الفحص يعتمد</a:t>
            </a:r>
          </a:p>
        </p:txBody>
      </p:sp>
      <p:sp>
        <p:nvSpPr>
          <p:cNvPr id="38" name="Rectangle 37"/>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40" name="TextBox 39"/>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الثالث</a:t>
            </a:r>
          </a:p>
        </p:txBody>
      </p:sp>
      <p:sp>
        <p:nvSpPr>
          <p:cNvPr id="41" name="TextBox 40"/>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56032" y="0"/>
            <a:ext cx="54864" cy="68580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45775" cy="45720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600" b="1">
                <a:solidFill>
                  <a:srgbClr val="0D9488"/>
                </a:solidFill>
                <a:latin typeface="Arial"/>
              </a:rPr>
              <a:t>المحور الرابع</a:t>
            </a:r>
          </a:p>
        </p:txBody>
      </p:sp>
      <p:sp>
        <p:nvSpPr>
          <p:cNvPr id="6" name="TextBox 5"/>
          <p:cNvSpPr txBox="1"/>
          <p:nvPr/>
        </p:nvSpPr>
        <p:spPr>
          <a:xfrm>
            <a:off x="822960" y="2743200"/>
            <a:ext cx="10545775" cy="128016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4000" b="1">
                <a:solidFill>
                  <a:srgbClr val="FFFFFF"/>
                </a:solidFill>
                <a:latin typeface="Arial"/>
              </a:rPr>
              <a:t>الهيكل الإداري والأدوار</a:t>
            </a:r>
          </a:p>
        </p:txBody>
      </p:sp>
      <p:sp>
        <p:nvSpPr>
          <p:cNvPr id="7" name="TextBox 6"/>
          <p:cNvSpPr txBox="1"/>
          <p:nvPr/>
        </p:nvSpPr>
        <p:spPr>
          <a:xfrm>
            <a:off x="822960" y="4114800"/>
            <a:ext cx="10545775" cy="1097280"/>
          </a:xfrm>
          <a:prstGeom prst="rect">
            <a:avLst/>
          </a:prstGeom>
          <a:noFill/>
        </p:spPr>
        <p:txBody>
          <a:bodyPr wrap="square" anchor="t" lIns="25400" rIns="25400" tIns="12700" bIns="12700">
            <a:spAutoFit/>
          </a:bodyPr>
          <a:lstStyle/>
          <a:p>
            <a:pPr algn="r" rtl="1">
              <a:lnSpc>
                <a:spcPct val="115000"/>
              </a:lnSpc>
              <a:spcBef>
                <a:spcPts val="0"/>
              </a:spcBef>
              <a:spcAft>
                <a:spcPts val="400"/>
              </a:spcAft>
            </a:pPr>
            <a:r>
              <a:rPr sz="1700" b="0">
                <a:solidFill>
                  <a:srgbClr val="B8CDDC"/>
                </a:solidFill>
                <a:latin typeface="Arial"/>
              </a:rPr>
              <a:t>13 دوراً من الإدارة العليا حتى الممول ومقدّم الشكوى — كل دور بصلاحياته</a:t>
            </a:r>
          </a:p>
        </p:txBody>
      </p:sp>
      <p:sp>
        <p:nvSpPr>
          <p:cNvPr id="8" name="TextBox 7"/>
          <p:cNvSpPr txBox="1"/>
          <p:nvPr/>
        </p:nvSpPr>
        <p:spPr>
          <a:xfrm>
            <a:off x="457200" y="6217920"/>
            <a:ext cx="11277295" cy="36576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100" b="0">
                <a:solidFill>
                  <a:srgbClr val="6E8AA0"/>
                </a:solidFill>
                <a:latin typeface="Arial"/>
              </a:rPr>
              <a:t>GeoTax — منظومة إدارة أعمال مصلحة الضرائب المصرية بنظم المعلومات الجغرافية</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الهيكل الإداري للمنظومة</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هرم الصلاحيات من أعلى لأسفل</a:t>
            </a:r>
          </a:p>
        </p:txBody>
      </p:sp>
      <p:sp>
        <p:nvSpPr>
          <p:cNvPr id="9" name="Rounded Rectangle 8"/>
          <p:cNvSpPr/>
          <p:nvPr/>
        </p:nvSpPr>
        <p:spPr>
          <a:xfrm>
            <a:off x="4175607" y="1325880"/>
            <a:ext cx="3840480" cy="603504"/>
          </a:xfrm>
          <a:prstGeom prst="roundRect">
            <a:avLst/>
          </a:prstGeom>
          <a:solidFill>
            <a:srgbClr val="0F2A4A"/>
          </a:solidFill>
          <a:ln>
            <a:noFill/>
          </a:ln>
          <a:effectLst/>
          <a:effectLst>
            <a:outerShdw blurRad="90000" dist="40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75607" y="1325880"/>
            <a:ext cx="3840480" cy="603504"/>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400" b="1">
                <a:solidFill>
                  <a:srgbClr val="FFFFFF"/>
                </a:solidFill>
                <a:latin typeface="Arial"/>
              </a:rPr>
              <a:t>الإدارة العليا (مركزي)</a:t>
            </a:r>
          </a:p>
        </p:txBody>
      </p:sp>
      <p:sp>
        <p:nvSpPr>
          <p:cNvPr id="11" name="Rounded Rectangle 10"/>
          <p:cNvSpPr/>
          <p:nvPr/>
        </p:nvSpPr>
        <p:spPr>
          <a:xfrm>
            <a:off x="3626967" y="2011680"/>
            <a:ext cx="4937760" cy="603504"/>
          </a:xfrm>
          <a:prstGeom prst="roundRect">
            <a:avLst/>
          </a:prstGeom>
          <a:solidFill>
            <a:srgbClr val="0A5A4A"/>
          </a:solidFill>
          <a:ln>
            <a:noFill/>
          </a:ln>
          <a:effectLst/>
          <a:effectLst>
            <a:outerShdw blurRad="90000" dist="40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26967" y="2011680"/>
            <a:ext cx="4937760" cy="603504"/>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400" b="1">
                <a:solidFill>
                  <a:srgbClr val="FFFFFF"/>
                </a:solidFill>
                <a:latin typeface="Arial"/>
              </a:rPr>
              <a:t>رئيس المأمورية</a:t>
            </a:r>
          </a:p>
        </p:txBody>
      </p:sp>
      <p:sp>
        <p:nvSpPr>
          <p:cNvPr id="13" name="Rounded Rectangle 12"/>
          <p:cNvSpPr/>
          <p:nvPr/>
        </p:nvSpPr>
        <p:spPr>
          <a:xfrm>
            <a:off x="3078327" y="2697480"/>
            <a:ext cx="6035040" cy="603504"/>
          </a:xfrm>
          <a:prstGeom prst="roundRect">
            <a:avLst/>
          </a:prstGeom>
          <a:solidFill>
            <a:srgbClr val="0E7C66"/>
          </a:solidFill>
          <a:ln>
            <a:noFill/>
          </a:ln>
          <a:effectLst/>
          <a:effectLst>
            <a:outerShdw blurRad="90000" dist="40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78327" y="2697480"/>
            <a:ext cx="6035040" cy="603504"/>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400" b="1">
                <a:solidFill>
                  <a:srgbClr val="FFFFFF"/>
                </a:solidFill>
                <a:latin typeface="Arial"/>
              </a:rPr>
              <a:t>مدير الحاسب الآلي</a:t>
            </a:r>
          </a:p>
        </p:txBody>
      </p:sp>
      <p:sp>
        <p:nvSpPr>
          <p:cNvPr id="15" name="Rounded Rectangle 14"/>
          <p:cNvSpPr/>
          <p:nvPr/>
        </p:nvSpPr>
        <p:spPr>
          <a:xfrm>
            <a:off x="2529687" y="3383280"/>
            <a:ext cx="7132320" cy="603504"/>
          </a:xfrm>
          <a:prstGeom prst="roundRect">
            <a:avLst/>
          </a:prstGeom>
          <a:solidFill>
            <a:srgbClr val="0D9488"/>
          </a:solidFill>
          <a:ln>
            <a:noFill/>
          </a:ln>
          <a:effectLst/>
          <a:effectLst>
            <a:outerShdw blurRad="90000" dist="40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29687" y="3383280"/>
            <a:ext cx="7132320" cy="603504"/>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400" b="1">
                <a:solidFill>
                  <a:srgbClr val="FFFFFF"/>
                </a:solidFill>
                <a:latin typeface="Arial"/>
              </a:rPr>
              <a:t>مديرو الإدارات: الحصر / الفحص / (الحجز)</a:t>
            </a:r>
          </a:p>
        </p:txBody>
      </p:sp>
      <p:sp>
        <p:nvSpPr>
          <p:cNvPr id="17" name="Rounded Rectangle 16"/>
          <p:cNvSpPr/>
          <p:nvPr/>
        </p:nvSpPr>
        <p:spPr>
          <a:xfrm>
            <a:off x="1981047" y="4069080"/>
            <a:ext cx="8229600" cy="603504"/>
          </a:xfrm>
          <a:prstGeom prst="roundRect">
            <a:avLst/>
          </a:prstGeom>
          <a:solidFill>
            <a:srgbClr val="0891B2"/>
          </a:solidFill>
          <a:ln>
            <a:noFill/>
          </a:ln>
          <a:effectLst/>
          <a:effectLst>
            <a:outerShdw blurRad="90000" dist="40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81047" y="4069080"/>
            <a:ext cx="8229600" cy="603504"/>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400" b="1">
                <a:solidFill>
                  <a:srgbClr val="FFFFFF"/>
                </a:solidFill>
                <a:latin typeface="Arial"/>
              </a:rPr>
              <a:t>المراجعون: مراجع حصر / مراجع فحص</a:t>
            </a:r>
          </a:p>
        </p:txBody>
      </p:sp>
      <p:sp>
        <p:nvSpPr>
          <p:cNvPr id="19" name="Rounded Rectangle 18"/>
          <p:cNvSpPr/>
          <p:nvPr/>
        </p:nvSpPr>
        <p:spPr>
          <a:xfrm>
            <a:off x="1432407" y="4754880"/>
            <a:ext cx="9326880" cy="603504"/>
          </a:xfrm>
          <a:prstGeom prst="roundRect">
            <a:avLst/>
          </a:prstGeom>
          <a:solidFill>
            <a:srgbClr val="2563EB"/>
          </a:solidFill>
          <a:ln>
            <a:noFill/>
          </a:ln>
          <a:effectLst/>
          <a:effectLst>
            <a:outerShdw blurRad="90000" dist="40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32407" y="4754880"/>
            <a:ext cx="9326880" cy="603504"/>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400" b="1">
                <a:solidFill>
                  <a:srgbClr val="FFFFFF"/>
                </a:solidFill>
                <a:latin typeface="Arial"/>
              </a:rPr>
              <a:t>المأمورون الميدانيون: مأمور حصر / مأمور فحص</a:t>
            </a:r>
          </a:p>
        </p:txBody>
      </p:sp>
      <p:sp>
        <p:nvSpPr>
          <p:cNvPr id="21" name="Rounded Rectangle 20"/>
          <p:cNvSpPr/>
          <p:nvPr/>
        </p:nvSpPr>
        <p:spPr>
          <a:xfrm>
            <a:off x="883767" y="5440680"/>
            <a:ext cx="10424160" cy="603504"/>
          </a:xfrm>
          <a:prstGeom prst="roundRect">
            <a:avLst/>
          </a:prstGeom>
          <a:solidFill>
            <a:srgbClr val="64748B"/>
          </a:solidFill>
          <a:ln>
            <a:noFill/>
          </a:ln>
          <a:effectLst/>
          <a:effectLst>
            <a:outerShdw blurRad="90000" dist="40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3767" y="5440680"/>
            <a:ext cx="10424160" cy="603504"/>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400" b="1">
                <a:solidFill>
                  <a:srgbClr val="FFFFFF"/>
                </a:solidFill>
                <a:latin typeface="Arial"/>
              </a:rPr>
              <a:t>الممول  •  مقدّم الشكوى (جمهور)</a:t>
            </a:r>
          </a:p>
        </p:txBody>
      </p:sp>
      <p:sp>
        <p:nvSpPr>
          <p:cNvPr id="23" name="Rectangle 22"/>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25" name="TextBox 24"/>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الرابع</a:t>
            </a:r>
          </a:p>
        </p:txBody>
      </p:sp>
      <p:sp>
        <p:nvSpPr>
          <p:cNvPr id="26" name="TextBox 25"/>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الإدارة العليا (Admin)</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مركزي — أعلى الهرم</a:t>
            </a:r>
          </a:p>
        </p:txBody>
      </p:sp>
      <p:sp>
        <p:nvSpPr>
          <p:cNvPr id="9" name="TextBox 8"/>
          <p:cNvSpPr txBox="1"/>
          <p:nvPr/>
        </p:nvSpPr>
        <p:spPr>
          <a:xfrm>
            <a:off x="548640" y="1234440"/>
            <a:ext cx="11094415" cy="5166360"/>
          </a:xfrm>
          <a:prstGeom prst="rect">
            <a:avLst/>
          </a:prstGeom>
          <a:noFill/>
        </p:spPr>
        <p:txBody>
          <a:bodyPr wrap="square" anchor="t" lIns="25400" rIns="25400" tIns="12700" bIns="12700">
            <a:spAutoFit/>
          </a:bodyPr>
          <a:lstStyle/>
          <a:p>
            <a:pPr algn="r" rtl="1">
              <a:lnSpc>
                <a:spcPct val="102000"/>
              </a:lnSpc>
              <a:spcBef>
                <a:spcPts val="0"/>
              </a:spcBef>
              <a:spcAft>
                <a:spcPts val="700"/>
              </a:spcAft>
            </a:pPr>
            <a:r>
              <a:rPr sz="1700" b="1">
                <a:solidFill>
                  <a:srgbClr val="0A5A4A"/>
                </a:solidFill>
                <a:latin typeface="Arial"/>
              </a:rPr>
              <a:t>الوصف</a:t>
            </a:r>
          </a:p>
          <a:p>
            <a:pPr algn="r" rtl="1">
              <a:lnSpc>
                <a:spcPct val="102000"/>
              </a:lnSpc>
              <a:spcBef>
                <a:spcPts val="0"/>
              </a:spcBef>
              <a:spcAft>
                <a:spcPts val="700"/>
              </a:spcAft>
            </a:pPr>
            <a:r>
              <a:rPr sz="1400" b="0">
                <a:solidFill>
                  <a:srgbClr val="0F172A"/>
                </a:solidFill>
                <a:latin typeface="Arial"/>
              </a:rPr>
              <a:t>المستوى المركزي الذي يشرف على كل المأموريات على مستوى الجمهورية.</a:t>
            </a:r>
          </a:p>
          <a:p>
            <a:pPr algn="r" rtl="1">
              <a:lnSpc>
                <a:spcPct val="102000"/>
              </a:lnSpc>
              <a:spcBef>
                <a:spcPts val="0"/>
              </a:spcBef>
              <a:spcAft>
                <a:spcPts val="700"/>
              </a:spcAft>
            </a:pPr>
            <a:r>
              <a:rPr sz="1700" b="1">
                <a:solidFill>
                  <a:srgbClr val="0A5A4A"/>
                </a:solidFill>
                <a:latin typeface="Arial"/>
              </a:rPr>
              <a:t>أبرز الصلاحيات والمهام</a:t>
            </a:r>
          </a:p>
          <a:p>
            <a:pPr algn="r" rtl="1">
              <a:lnSpc>
                <a:spcPct val="102000"/>
              </a:lnSpc>
              <a:spcBef>
                <a:spcPts val="0"/>
              </a:spcBef>
              <a:spcAft>
                <a:spcPts val="700"/>
              </a:spcAft>
            </a:pPr>
            <a:r>
              <a:rPr sz="1350" b="0">
                <a:solidFill>
                  <a:srgbClr val="0F172A"/>
                </a:solidFill>
                <a:latin typeface="Arial"/>
              </a:rPr>
              <a:t/>
            </a:r>
            <a:r>
              <a:rPr sz="1350" b="1">
                <a:solidFill>
                  <a:srgbClr val="0E7C66"/>
                </a:solidFill>
                <a:latin typeface="Arial"/>
              </a:rPr>
              <a:t>▪  </a:t>
            </a:r>
            <a:r>
              <a:rPr sz="1350" b="0">
                <a:solidFill>
                  <a:srgbClr val="0F172A"/>
                </a:solidFill>
                <a:latin typeface="Arial"/>
              </a:rPr>
              <a:t>إدارة المأموريات (إضافة/تعديل/حالة).</a:t>
            </a:r>
          </a:p>
          <a:p>
            <a:pPr algn="r" rtl="1">
              <a:lnSpc>
                <a:spcPct val="102000"/>
              </a:lnSpc>
              <a:spcBef>
                <a:spcPts val="0"/>
              </a:spcBef>
              <a:spcAft>
                <a:spcPts val="700"/>
              </a:spcAft>
            </a:pPr>
            <a:r>
              <a:rPr sz="1350" b="0">
                <a:solidFill>
                  <a:srgbClr val="0F172A"/>
                </a:solidFill>
                <a:latin typeface="Arial"/>
              </a:rPr>
              <a:t/>
            </a:r>
            <a:r>
              <a:rPr sz="1350" b="1">
                <a:solidFill>
                  <a:srgbClr val="0E7C66"/>
                </a:solidFill>
                <a:latin typeface="Arial"/>
              </a:rPr>
              <a:t>▪  </a:t>
            </a:r>
            <a:r>
              <a:rPr sz="1350" b="0">
                <a:solidFill>
                  <a:srgbClr val="0F172A"/>
                </a:solidFill>
                <a:latin typeface="Arial"/>
              </a:rPr>
              <a:t>إنشاء وإدارة رؤساء المأموريات.</a:t>
            </a:r>
          </a:p>
          <a:p>
            <a:pPr algn="r" rtl="1">
              <a:lnSpc>
                <a:spcPct val="102000"/>
              </a:lnSpc>
              <a:spcBef>
                <a:spcPts val="0"/>
              </a:spcBef>
              <a:spcAft>
                <a:spcPts val="700"/>
              </a:spcAft>
            </a:pPr>
            <a:r>
              <a:rPr sz="1350" b="0">
                <a:solidFill>
                  <a:srgbClr val="0F172A"/>
                </a:solidFill>
                <a:latin typeface="Arial"/>
              </a:rPr>
              <a:t/>
            </a:r>
            <a:r>
              <a:rPr sz="1350" b="1">
                <a:solidFill>
                  <a:srgbClr val="0E7C66"/>
                </a:solidFill>
                <a:latin typeface="Arial"/>
              </a:rPr>
              <a:t>▪  </a:t>
            </a:r>
            <a:r>
              <a:rPr sz="1350" b="0">
                <a:solidFill>
                  <a:srgbClr val="0F172A"/>
                </a:solidFill>
                <a:latin typeface="Arial"/>
              </a:rPr>
              <a:t>عرض المستخدمين والخريطة التفاعلية على مستوى الجمهورية.</a:t>
            </a:r>
          </a:p>
          <a:p>
            <a:pPr algn="r" rtl="1">
              <a:lnSpc>
                <a:spcPct val="102000"/>
              </a:lnSpc>
              <a:spcBef>
                <a:spcPts val="0"/>
              </a:spcBef>
              <a:spcAft>
                <a:spcPts val="700"/>
              </a:spcAft>
            </a:pPr>
            <a:r>
              <a:rPr sz="1350" b="0">
                <a:solidFill>
                  <a:srgbClr val="0F172A"/>
                </a:solidFill>
                <a:latin typeface="Arial"/>
              </a:rPr>
              <a:t/>
            </a:r>
            <a:r>
              <a:rPr sz="1350" b="1">
                <a:solidFill>
                  <a:srgbClr val="0E7C66"/>
                </a:solidFill>
                <a:latin typeface="Arial"/>
              </a:rPr>
              <a:t>▪  </a:t>
            </a:r>
            <a:r>
              <a:rPr sz="1350" b="0">
                <a:solidFill>
                  <a:srgbClr val="0F172A"/>
                </a:solidFill>
                <a:latin typeface="Arial"/>
              </a:rPr>
              <a:t>التقارير الشاملة وسجل العمليات (Audit Log).</a:t>
            </a:r>
          </a:p>
          <a:p>
            <a:pPr algn="r" rtl="1">
              <a:lnSpc>
                <a:spcPct val="102000"/>
              </a:lnSpc>
              <a:spcBef>
                <a:spcPts val="0"/>
              </a:spcBef>
              <a:spcAft>
                <a:spcPts val="700"/>
              </a:spcAft>
            </a:pPr>
            <a:r>
              <a:rPr sz="1350" b="0">
                <a:solidFill>
                  <a:srgbClr val="0F172A"/>
                </a:solidFill>
                <a:latin typeface="Arial"/>
              </a:rPr>
              <a:t/>
            </a:r>
            <a:r>
              <a:rPr sz="1350" b="1">
                <a:solidFill>
                  <a:srgbClr val="0E7C66"/>
                </a:solidFill>
                <a:latin typeface="Arial"/>
              </a:rPr>
              <a:t>▪  </a:t>
            </a:r>
            <a:r>
              <a:rPr sz="1350" b="0">
                <a:solidFill>
                  <a:srgbClr val="0F172A"/>
                </a:solidFill>
                <a:latin typeface="Arial"/>
              </a:rPr>
              <a:t>الأخبار والمراسلات والشكاوى المركزية.</a:t>
            </a:r>
          </a:p>
        </p:txBody>
      </p:sp>
      <p:sp>
        <p:nvSpPr>
          <p:cNvPr id="10" name="Rectangle 9"/>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2" name="TextBox 11"/>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الرابع</a:t>
            </a:r>
          </a:p>
        </p:txBody>
      </p:sp>
      <p:sp>
        <p:nvSpPr>
          <p:cNvPr id="13" name="TextBox 12"/>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رئيس المأمورية (Office Head)</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قمة الهرم داخل المأمورية</a:t>
            </a:r>
          </a:p>
        </p:txBody>
      </p:sp>
      <p:sp>
        <p:nvSpPr>
          <p:cNvPr id="9" name="TextBox 8"/>
          <p:cNvSpPr txBox="1"/>
          <p:nvPr/>
        </p:nvSpPr>
        <p:spPr>
          <a:xfrm>
            <a:off x="548640" y="1234440"/>
            <a:ext cx="11094415" cy="5166360"/>
          </a:xfrm>
          <a:prstGeom prst="rect">
            <a:avLst/>
          </a:prstGeom>
          <a:noFill/>
        </p:spPr>
        <p:txBody>
          <a:bodyPr wrap="square" anchor="t" lIns="25400" rIns="25400" tIns="12700" bIns="12700">
            <a:spAutoFit/>
          </a:bodyPr>
          <a:lstStyle/>
          <a:p>
            <a:pPr algn="r" rtl="1">
              <a:lnSpc>
                <a:spcPct val="102000"/>
              </a:lnSpc>
              <a:spcBef>
                <a:spcPts val="0"/>
              </a:spcBef>
              <a:spcAft>
                <a:spcPts val="700"/>
              </a:spcAft>
            </a:pPr>
            <a:r>
              <a:rPr sz="1700" b="1">
                <a:solidFill>
                  <a:srgbClr val="0A5A4A"/>
                </a:solidFill>
                <a:latin typeface="Arial"/>
              </a:rPr>
              <a:t>الوصف</a:t>
            </a:r>
          </a:p>
          <a:p>
            <a:pPr algn="r" rtl="1">
              <a:lnSpc>
                <a:spcPct val="102000"/>
              </a:lnSpc>
              <a:spcBef>
                <a:spcPts val="0"/>
              </a:spcBef>
              <a:spcAft>
                <a:spcPts val="700"/>
              </a:spcAft>
            </a:pPr>
            <a:r>
              <a:rPr sz="1400" b="0">
                <a:solidFill>
                  <a:srgbClr val="0F172A"/>
                </a:solidFill>
                <a:latin typeface="Arial"/>
              </a:rPr>
              <a:t>المسؤول الأول عن مأموريته؛ يوجّه ويراقب كل الإدارات بها.</a:t>
            </a:r>
          </a:p>
          <a:p>
            <a:pPr algn="r" rtl="1">
              <a:lnSpc>
                <a:spcPct val="102000"/>
              </a:lnSpc>
              <a:spcBef>
                <a:spcPts val="0"/>
              </a:spcBef>
              <a:spcAft>
                <a:spcPts val="700"/>
              </a:spcAft>
            </a:pPr>
            <a:r>
              <a:rPr sz="1700" b="1">
                <a:solidFill>
                  <a:srgbClr val="0A5A4A"/>
                </a:solidFill>
                <a:latin typeface="Arial"/>
              </a:rPr>
              <a:t>أبرز الصلاحيات والمهام</a:t>
            </a:r>
          </a:p>
          <a:p>
            <a:pPr algn="r" rtl="1">
              <a:lnSpc>
                <a:spcPct val="102000"/>
              </a:lnSpc>
              <a:spcBef>
                <a:spcPts val="0"/>
              </a:spcBef>
              <a:spcAft>
                <a:spcPts val="700"/>
              </a:spcAft>
            </a:pPr>
            <a:r>
              <a:rPr sz="1350" b="0">
                <a:solidFill>
                  <a:srgbClr val="0F172A"/>
                </a:solidFill>
                <a:latin typeface="Arial"/>
              </a:rPr>
              <a:t/>
            </a:r>
            <a:r>
              <a:rPr sz="1350" b="1">
                <a:solidFill>
                  <a:srgbClr val="0E7C66"/>
                </a:solidFill>
                <a:latin typeface="Arial"/>
              </a:rPr>
              <a:t>▪  </a:t>
            </a:r>
            <a:r>
              <a:rPr sz="1350" b="0">
                <a:solidFill>
                  <a:srgbClr val="0F172A"/>
                </a:solidFill>
                <a:latin typeface="Arial"/>
              </a:rPr>
              <a:t>إنشاء مدير الحاسب الآلي للمأمورية.</a:t>
            </a:r>
          </a:p>
          <a:p>
            <a:pPr algn="r" rtl="1">
              <a:lnSpc>
                <a:spcPct val="102000"/>
              </a:lnSpc>
              <a:spcBef>
                <a:spcPts val="0"/>
              </a:spcBef>
              <a:spcAft>
                <a:spcPts val="700"/>
              </a:spcAft>
            </a:pPr>
            <a:r>
              <a:rPr sz="1350" b="0">
                <a:solidFill>
                  <a:srgbClr val="0F172A"/>
                </a:solidFill>
                <a:latin typeface="Arial"/>
              </a:rPr>
              <a:t/>
            </a:r>
            <a:r>
              <a:rPr sz="1350" b="1">
                <a:solidFill>
                  <a:srgbClr val="0E7C66"/>
                </a:solidFill>
                <a:latin typeface="Arial"/>
              </a:rPr>
              <a:t>▪  </a:t>
            </a:r>
            <a:r>
              <a:rPr sz="1350" b="0">
                <a:solidFill>
                  <a:srgbClr val="0F172A"/>
                </a:solidFill>
                <a:latin typeface="Arial"/>
              </a:rPr>
              <a:t>إدارة الملفات ونقل الاختصاص.</a:t>
            </a:r>
          </a:p>
          <a:p>
            <a:pPr algn="r" rtl="1">
              <a:lnSpc>
                <a:spcPct val="102000"/>
              </a:lnSpc>
              <a:spcBef>
                <a:spcPts val="0"/>
              </a:spcBef>
              <a:spcAft>
                <a:spcPts val="700"/>
              </a:spcAft>
            </a:pPr>
            <a:r>
              <a:rPr sz="1350" b="0">
                <a:solidFill>
                  <a:srgbClr val="0F172A"/>
                </a:solidFill>
                <a:latin typeface="Arial"/>
              </a:rPr>
              <a:t/>
            </a:r>
            <a:r>
              <a:rPr sz="1350" b="1">
                <a:solidFill>
                  <a:srgbClr val="0E7C66"/>
                </a:solidFill>
                <a:latin typeface="Arial"/>
              </a:rPr>
              <a:t>▪  </a:t>
            </a:r>
            <a:r>
              <a:rPr sz="1350" b="0">
                <a:solidFill>
                  <a:srgbClr val="0F172A"/>
                </a:solidFill>
                <a:latin typeface="Arial"/>
              </a:rPr>
              <a:t>الخريطة والتقارير على مستوى المأمورية.</a:t>
            </a:r>
          </a:p>
          <a:p>
            <a:pPr algn="r" rtl="1">
              <a:lnSpc>
                <a:spcPct val="102000"/>
              </a:lnSpc>
              <a:spcBef>
                <a:spcPts val="0"/>
              </a:spcBef>
              <a:spcAft>
                <a:spcPts val="700"/>
              </a:spcAft>
            </a:pPr>
            <a:r>
              <a:rPr sz="1350" b="0">
                <a:solidFill>
                  <a:srgbClr val="0F172A"/>
                </a:solidFill>
                <a:latin typeface="Arial"/>
              </a:rPr>
              <a:t/>
            </a:r>
            <a:r>
              <a:rPr sz="1350" b="1">
                <a:solidFill>
                  <a:srgbClr val="0E7C66"/>
                </a:solidFill>
                <a:latin typeface="Arial"/>
              </a:rPr>
              <a:t>▪  </a:t>
            </a:r>
            <a:r>
              <a:rPr sz="1350" b="0">
                <a:solidFill>
                  <a:srgbClr val="0F172A"/>
                </a:solidFill>
                <a:latin typeface="Arial"/>
              </a:rPr>
              <a:t>متابعة الشكاوى والمراسلات وسجل العمليات.</a:t>
            </a:r>
          </a:p>
        </p:txBody>
      </p:sp>
      <p:sp>
        <p:nvSpPr>
          <p:cNvPr id="10" name="Rectangle 9"/>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2" name="TextBox 11"/>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الرابع</a:t>
            </a:r>
          </a:p>
        </p:txBody>
      </p:sp>
      <p:sp>
        <p:nvSpPr>
          <p:cNvPr id="13" name="TextBox 12"/>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مدير الحاسب الآلي (IT Manager)</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المسؤول التشغيلي للمأمورية</a:t>
            </a:r>
          </a:p>
        </p:txBody>
      </p:sp>
      <p:sp>
        <p:nvSpPr>
          <p:cNvPr id="9" name="TextBox 8"/>
          <p:cNvSpPr txBox="1"/>
          <p:nvPr/>
        </p:nvSpPr>
        <p:spPr>
          <a:xfrm>
            <a:off x="548640" y="1234440"/>
            <a:ext cx="11094415" cy="5166360"/>
          </a:xfrm>
          <a:prstGeom prst="rect">
            <a:avLst/>
          </a:prstGeom>
          <a:noFill/>
        </p:spPr>
        <p:txBody>
          <a:bodyPr wrap="square" anchor="t" lIns="25400" rIns="25400" tIns="12700" bIns="12700">
            <a:spAutoFit/>
          </a:bodyPr>
          <a:lstStyle/>
          <a:p>
            <a:pPr algn="r" rtl="1">
              <a:lnSpc>
                <a:spcPct val="102000"/>
              </a:lnSpc>
              <a:spcBef>
                <a:spcPts val="0"/>
              </a:spcBef>
              <a:spcAft>
                <a:spcPts val="700"/>
              </a:spcAft>
            </a:pPr>
            <a:r>
              <a:rPr sz="1700" b="1">
                <a:solidFill>
                  <a:srgbClr val="0A5A4A"/>
                </a:solidFill>
                <a:latin typeface="Arial"/>
              </a:rPr>
              <a:t>الوصف</a:t>
            </a:r>
          </a:p>
          <a:p>
            <a:pPr algn="r" rtl="1">
              <a:lnSpc>
                <a:spcPct val="102000"/>
              </a:lnSpc>
              <a:spcBef>
                <a:spcPts val="0"/>
              </a:spcBef>
              <a:spcAft>
                <a:spcPts val="700"/>
              </a:spcAft>
            </a:pPr>
            <a:r>
              <a:rPr sz="1400" b="0">
                <a:solidFill>
                  <a:srgbClr val="0F172A"/>
                </a:solidFill>
                <a:latin typeface="Arial"/>
              </a:rPr>
              <a:t>يدير المستخدمين والاختصاصات الفنية داخل المأمورية.</a:t>
            </a:r>
          </a:p>
          <a:p>
            <a:pPr algn="r" rtl="1">
              <a:lnSpc>
                <a:spcPct val="102000"/>
              </a:lnSpc>
              <a:spcBef>
                <a:spcPts val="0"/>
              </a:spcBef>
              <a:spcAft>
                <a:spcPts val="700"/>
              </a:spcAft>
            </a:pPr>
            <a:r>
              <a:rPr sz="1700" b="1">
                <a:solidFill>
                  <a:srgbClr val="0A5A4A"/>
                </a:solidFill>
                <a:latin typeface="Arial"/>
              </a:rPr>
              <a:t>أبرز الصلاحيات والمهام</a:t>
            </a:r>
          </a:p>
          <a:p>
            <a:pPr algn="r" rtl="1">
              <a:lnSpc>
                <a:spcPct val="102000"/>
              </a:lnSpc>
              <a:spcBef>
                <a:spcPts val="0"/>
              </a:spcBef>
              <a:spcAft>
                <a:spcPts val="700"/>
              </a:spcAft>
            </a:pPr>
            <a:r>
              <a:rPr sz="1350" b="0">
                <a:solidFill>
                  <a:srgbClr val="0F172A"/>
                </a:solidFill>
                <a:latin typeface="Arial"/>
              </a:rPr>
              <a:t/>
            </a:r>
            <a:r>
              <a:rPr sz="1350" b="1">
                <a:solidFill>
                  <a:srgbClr val="0E7C66"/>
                </a:solidFill>
                <a:latin typeface="Arial"/>
              </a:rPr>
              <a:t>▪  </a:t>
            </a:r>
            <a:r>
              <a:rPr sz="1350" b="0">
                <a:solidFill>
                  <a:srgbClr val="0F172A"/>
                </a:solidFill>
                <a:latin typeface="Arial"/>
              </a:rPr>
              <a:t>إنشاء بقية موظفي المأمورية (مديري ومراجعي ومأموري الحصر والفحص).</a:t>
            </a:r>
          </a:p>
          <a:p>
            <a:pPr algn="r" rtl="1">
              <a:lnSpc>
                <a:spcPct val="102000"/>
              </a:lnSpc>
              <a:spcBef>
                <a:spcPts val="0"/>
              </a:spcBef>
              <a:spcAft>
                <a:spcPts val="700"/>
              </a:spcAft>
            </a:pPr>
            <a:r>
              <a:rPr sz="1350" b="0">
                <a:solidFill>
                  <a:srgbClr val="0F172A"/>
                </a:solidFill>
                <a:latin typeface="Arial"/>
              </a:rPr>
              <a:t/>
            </a:r>
            <a:r>
              <a:rPr sz="1350" b="1">
                <a:solidFill>
                  <a:srgbClr val="0E7C66"/>
                </a:solidFill>
                <a:latin typeface="Arial"/>
              </a:rPr>
              <a:t>▪  </a:t>
            </a:r>
            <a:r>
              <a:rPr sz="1350" b="0">
                <a:solidFill>
                  <a:srgbClr val="0F172A"/>
                </a:solidFill>
                <a:latin typeface="Arial"/>
              </a:rPr>
              <a:t>توزيع الاختصاصات الجغرافية/النوعية.</a:t>
            </a:r>
          </a:p>
          <a:p>
            <a:pPr algn="r" rtl="1">
              <a:lnSpc>
                <a:spcPct val="102000"/>
              </a:lnSpc>
              <a:spcBef>
                <a:spcPts val="0"/>
              </a:spcBef>
              <a:spcAft>
                <a:spcPts val="700"/>
              </a:spcAft>
            </a:pPr>
            <a:r>
              <a:rPr sz="1350" b="0">
                <a:solidFill>
                  <a:srgbClr val="0F172A"/>
                </a:solidFill>
                <a:latin typeface="Arial"/>
              </a:rPr>
              <a:t/>
            </a:r>
            <a:r>
              <a:rPr sz="1350" b="1">
                <a:solidFill>
                  <a:srgbClr val="0E7C66"/>
                </a:solidFill>
                <a:latin typeface="Arial"/>
              </a:rPr>
              <a:t>▪  </a:t>
            </a:r>
            <a:r>
              <a:rPr sz="1350" b="0">
                <a:solidFill>
                  <a:srgbClr val="0F172A"/>
                </a:solidFill>
                <a:latin typeface="Arial"/>
              </a:rPr>
              <a:t>الخريطة والتقارير وسجل العمليات والمراسلات.</a:t>
            </a:r>
          </a:p>
        </p:txBody>
      </p:sp>
      <p:sp>
        <p:nvSpPr>
          <p:cNvPr id="10" name="Rectangle 9"/>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2" name="TextBox 11"/>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الرابع</a:t>
            </a:r>
          </a:p>
        </p:txBody>
      </p:sp>
      <p:sp>
        <p:nvSpPr>
          <p:cNvPr id="13" name="TextBox 12"/>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مدير الحصر (Survey Manager)</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رئيس إدارة الحصر</a:t>
            </a:r>
          </a:p>
        </p:txBody>
      </p:sp>
      <p:sp>
        <p:nvSpPr>
          <p:cNvPr id="9" name="TextBox 8"/>
          <p:cNvSpPr txBox="1"/>
          <p:nvPr/>
        </p:nvSpPr>
        <p:spPr>
          <a:xfrm>
            <a:off x="548640" y="1234440"/>
            <a:ext cx="11094415" cy="5166360"/>
          </a:xfrm>
          <a:prstGeom prst="rect">
            <a:avLst/>
          </a:prstGeom>
          <a:noFill/>
        </p:spPr>
        <p:txBody>
          <a:bodyPr wrap="square" anchor="t" lIns="25400" rIns="25400" tIns="12700" bIns="12700">
            <a:spAutoFit/>
          </a:bodyPr>
          <a:lstStyle/>
          <a:p>
            <a:pPr algn="r" rtl="1">
              <a:lnSpc>
                <a:spcPct val="102000"/>
              </a:lnSpc>
              <a:spcBef>
                <a:spcPts val="0"/>
              </a:spcBef>
              <a:spcAft>
                <a:spcPts val="700"/>
              </a:spcAft>
            </a:pPr>
            <a:r>
              <a:rPr sz="1700" b="1">
                <a:solidFill>
                  <a:srgbClr val="0A5A4A"/>
                </a:solidFill>
                <a:latin typeface="Arial"/>
              </a:rPr>
              <a:t>الوصف</a:t>
            </a:r>
          </a:p>
          <a:p>
            <a:pPr algn="r" rtl="1">
              <a:lnSpc>
                <a:spcPct val="102000"/>
              </a:lnSpc>
              <a:spcBef>
                <a:spcPts val="0"/>
              </a:spcBef>
              <a:spcAft>
                <a:spcPts val="700"/>
              </a:spcAft>
            </a:pPr>
            <a:r>
              <a:rPr sz="1400" b="0">
                <a:solidFill>
                  <a:srgbClr val="0F172A"/>
                </a:solidFill>
                <a:latin typeface="Arial"/>
              </a:rPr>
              <a:t>يشرف على شعبة الحصر ويعتمد أعمالها النهائية.</a:t>
            </a:r>
          </a:p>
          <a:p>
            <a:pPr algn="r" rtl="1">
              <a:lnSpc>
                <a:spcPct val="102000"/>
              </a:lnSpc>
              <a:spcBef>
                <a:spcPts val="0"/>
              </a:spcBef>
              <a:spcAft>
                <a:spcPts val="700"/>
              </a:spcAft>
            </a:pPr>
            <a:r>
              <a:rPr sz="1700" b="1">
                <a:solidFill>
                  <a:srgbClr val="0A5A4A"/>
                </a:solidFill>
                <a:latin typeface="Arial"/>
              </a:rPr>
              <a:t>أبرز الصلاحيات والمهام</a:t>
            </a:r>
          </a:p>
          <a:p>
            <a:pPr algn="r" rtl="1">
              <a:lnSpc>
                <a:spcPct val="102000"/>
              </a:lnSpc>
              <a:spcBef>
                <a:spcPts val="0"/>
              </a:spcBef>
              <a:spcAft>
                <a:spcPts val="700"/>
              </a:spcAft>
            </a:pPr>
            <a:r>
              <a:rPr sz="1350" b="0">
                <a:solidFill>
                  <a:srgbClr val="0F172A"/>
                </a:solidFill>
                <a:latin typeface="Arial"/>
              </a:rPr>
              <a:t/>
            </a:r>
            <a:r>
              <a:rPr sz="1350" b="1">
                <a:solidFill>
                  <a:srgbClr val="0E7C66"/>
                </a:solidFill>
                <a:latin typeface="Arial"/>
              </a:rPr>
              <a:t>▪  </a:t>
            </a:r>
            <a:r>
              <a:rPr sz="1350" b="0">
                <a:solidFill>
                  <a:srgbClr val="0F172A"/>
                </a:solidFill>
                <a:latin typeface="Arial"/>
              </a:rPr>
              <a:t>توزيع مهام الحصر على الفريق.</a:t>
            </a:r>
          </a:p>
          <a:p>
            <a:pPr algn="r" rtl="1">
              <a:lnSpc>
                <a:spcPct val="102000"/>
              </a:lnSpc>
              <a:spcBef>
                <a:spcPts val="0"/>
              </a:spcBef>
              <a:spcAft>
                <a:spcPts val="700"/>
              </a:spcAft>
            </a:pPr>
            <a:r>
              <a:rPr sz="1350" b="0">
                <a:solidFill>
                  <a:srgbClr val="0F172A"/>
                </a:solidFill>
                <a:latin typeface="Arial"/>
              </a:rPr>
              <a:t/>
            </a:r>
            <a:r>
              <a:rPr sz="1350" b="1">
                <a:solidFill>
                  <a:srgbClr val="0E7C66"/>
                </a:solidFill>
                <a:latin typeface="Arial"/>
              </a:rPr>
              <a:t>▪  </a:t>
            </a:r>
            <a:r>
              <a:rPr sz="1350" b="0">
                <a:solidFill>
                  <a:srgbClr val="0F172A"/>
                </a:solidFill>
                <a:latin typeface="Arial"/>
              </a:rPr>
              <a:t>المراجعة والاعتماد النهائي لأعمال الحصر.</a:t>
            </a:r>
          </a:p>
          <a:p>
            <a:pPr algn="r" rtl="1">
              <a:lnSpc>
                <a:spcPct val="102000"/>
              </a:lnSpc>
              <a:spcBef>
                <a:spcPts val="0"/>
              </a:spcBef>
              <a:spcAft>
                <a:spcPts val="700"/>
              </a:spcAft>
            </a:pPr>
            <a:r>
              <a:rPr sz="1350" b="0">
                <a:solidFill>
                  <a:srgbClr val="0F172A"/>
                </a:solidFill>
                <a:latin typeface="Arial"/>
              </a:rPr>
              <a:t/>
            </a:r>
            <a:r>
              <a:rPr sz="1350" b="1">
                <a:solidFill>
                  <a:srgbClr val="0E7C66"/>
                </a:solidFill>
                <a:latin typeface="Arial"/>
              </a:rPr>
              <a:t>▪  </a:t>
            </a:r>
            <a:r>
              <a:rPr sz="1350" b="0">
                <a:solidFill>
                  <a:srgbClr val="0F172A"/>
                </a:solidFill>
                <a:latin typeface="Arial"/>
              </a:rPr>
              <a:t>إدارة مأموري الحصر والاطلاع عليهم.</a:t>
            </a:r>
          </a:p>
          <a:p>
            <a:pPr algn="r" rtl="1">
              <a:lnSpc>
                <a:spcPct val="102000"/>
              </a:lnSpc>
              <a:spcBef>
                <a:spcPts val="0"/>
              </a:spcBef>
              <a:spcAft>
                <a:spcPts val="700"/>
              </a:spcAft>
            </a:pPr>
            <a:r>
              <a:rPr sz="1350" b="0">
                <a:solidFill>
                  <a:srgbClr val="0F172A"/>
                </a:solidFill>
                <a:latin typeface="Arial"/>
              </a:rPr>
              <a:t/>
            </a:r>
            <a:r>
              <a:rPr sz="1350" b="1">
                <a:solidFill>
                  <a:srgbClr val="0E7C66"/>
                </a:solidFill>
                <a:latin typeface="Arial"/>
              </a:rPr>
              <a:t>▪  </a:t>
            </a:r>
            <a:r>
              <a:rPr sz="1350" b="0">
                <a:solidFill>
                  <a:srgbClr val="0F172A"/>
                </a:solidFill>
                <a:latin typeface="Arial"/>
              </a:rPr>
              <a:t>الخريطة والتقارير والمراسلات.</a:t>
            </a:r>
          </a:p>
        </p:txBody>
      </p:sp>
      <p:sp>
        <p:nvSpPr>
          <p:cNvPr id="10" name="Rectangle 9"/>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2" name="TextBox 11"/>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الرابع</a:t>
            </a:r>
          </a:p>
        </p:txBody>
      </p:sp>
      <p:sp>
        <p:nvSpPr>
          <p:cNvPr id="13" name="TextBox 12"/>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مراجع الحصر (Survey Reviewer)</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الحلقة بين المدير والمأمور</a:t>
            </a:r>
          </a:p>
        </p:txBody>
      </p:sp>
      <p:sp>
        <p:nvSpPr>
          <p:cNvPr id="9" name="TextBox 8"/>
          <p:cNvSpPr txBox="1"/>
          <p:nvPr/>
        </p:nvSpPr>
        <p:spPr>
          <a:xfrm>
            <a:off x="548640" y="1234440"/>
            <a:ext cx="11094415" cy="5166360"/>
          </a:xfrm>
          <a:prstGeom prst="rect">
            <a:avLst/>
          </a:prstGeom>
          <a:noFill/>
        </p:spPr>
        <p:txBody>
          <a:bodyPr wrap="square" anchor="t" lIns="25400" rIns="25400" tIns="12700" bIns="12700">
            <a:spAutoFit/>
          </a:bodyPr>
          <a:lstStyle/>
          <a:p>
            <a:pPr algn="r" rtl="1">
              <a:lnSpc>
                <a:spcPct val="102000"/>
              </a:lnSpc>
              <a:spcBef>
                <a:spcPts val="0"/>
              </a:spcBef>
              <a:spcAft>
                <a:spcPts val="700"/>
              </a:spcAft>
            </a:pPr>
            <a:r>
              <a:rPr sz="1700" b="1">
                <a:solidFill>
                  <a:srgbClr val="0A5A4A"/>
                </a:solidFill>
                <a:latin typeface="Arial"/>
              </a:rPr>
              <a:t>الوصف</a:t>
            </a:r>
          </a:p>
          <a:p>
            <a:pPr algn="r" rtl="1">
              <a:lnSpc>
                <a:spcPct val="102000"/>
              </a:lnSpc>
              <a:spcBef>
                <a:spcPts val="0"/>
              </a:spcBef>
              <a:spcAft>
                <a:spcPts val="700"/>
              </a:spcAft>
            </a:pPr>
            <a:r>
              <a:rPr sz="1400" b="0">
                <a:solidFill>
                  <a:srgbClr val="0F172A"/>
                </a:solidFill>
                <a:latin typeface="Arial"/>
              </a:rPr>
              <a:t>يخطّط ويسند ويراجع أعمال الحصر قبل رفعها للمدير.</a:t>
            </a:r>
          </a:p>
          <a:p>
            <a:pPr algn="r" rtl="1">
              <a:lnSpc>
                <a:spcPct val="102000"/>
              </a:lnSpc>
              <a:spcBef>
                <a:spcPts val="0"/>
              </a:spcBef>
              <a:spcAft>
                <a:spcPts val="700"/>
              </a:spcAft>
            </a:pPr>
            <a:r>
              <a:rPr sz="1700" b="1">
                <a:solidFill>
                  <a:srgbClr val="0A5A4A"/>
                </a:solidFill>
                <a:latin typeface="Arial"/>
              </a:rPr>
              <a:t>أبرز الصلاحيات والمهام</a:t>
            </a:r>
          </a:p>
          <a:p>
            <a:pPr algn="r" rtl="1">
              <a:lnSpc>
                <a:spcPct val="102000"/>
              </a:lnSpc>
              <a:spcBef>
                <a:spcPts val="0"/>
              </a:spcBef>
              <a:spcAft>
                <a:spcPts val="700"/>
              </a:spcAft>
            </a:pPr>
            <a:r>
              <a:rPr sz="1350" b="0">
                <a:solidFill>
                  <a:srgbClr val="0F172A"/>
                </a:solidFill>
                <a:latin typeface="Arial"/>
              </a:rPr>
              <a:t/>
            </a:r>
            <a:r>
              <a:rPr sz="1350" b="1">
                <a:solidFill>
                  <a:srgbClr val="0E7C66"/>
                </a:solidFill>
                <a:latin typeface="Arial"/>
              </a:rPr>
              <a:t>▪  </a:t>
            </a:r>
            <a:r>
              <a:rPr sz="1350" b="0">
                <a:solidFill>
                  <a:srgbClr val="0F172A"/>
                </a:solidFill>
                <a:latin typeface="Arial"/>
              </a:rPr>
              <a:t>إعداد خطة الحصر وإسناد الملفات للمأمورين.</a:t>
            </a:r>
          </a:p>
          <a:p>
            <a:pPr algn="r" rtl="1">
              <a:lnSpc>
                <a:spcPct val="102000"/>
              </a:lnSpc>
              <a:spcBef>
                <a:spcPts val="0"/>
              </a:spcBef>
              <a:spcAft>
                <a:spcPts val="700"/>
              </a:spcAft>
            </a:pPr>
            <a:r>
              <a:rPr sz="1350" b="0">
                <a:solidFill>
                  <a:srgbClr val="0F172A"/>
                </a:solidFill>
                <a:latin typeface="Arial"/>
              </a:rPr>
              <a:t/>
            </a:r>
            <a:r>
              <a:rPr sz="1350" b="1">
                <a:solidFill>
                  <a:srgbClr val="0E7C66"/>
                </a:solidFill>
                <a:latin typeface="Arial"/>
              </a:rPr>
              <a:t>▪  </a:t>
            </a:r>
            <a:r>
              <a:rPr sz="1350" b="0">
                <a:solidFill>
                  <a:srgbClr val="0F172A"/>
                </a:solidFill>
                <a:latin typeface="Arial"/>
              </a:rPr>
              <a:t>متابعة تنفيذ المهام وخطوط السير.</a:t>
            </a:r>
          </a:p>
          <a:p>
            <a:pPr algn="r" rtl="1">
              <a:lnSpc>
                <a:spcPct val="102000"/>
              </a:lnSpc>
              <a:spcBef>
                <a:spcPts val="0"/>
              </a:spcBef>
              <a:spcAft>
                <a:spcPts val="700"/>
              </a:spcAft>
            </a:pPr>
            <a:r>
              <a:rPr sz="1350" b="0">
                <a:solidFill>
                  <a:srgbClr val="0F172A"/>
                </a:solidFill>
                <a:latin typeface="Arial"/>
              </a:rPr>
              <a:t/>
            </a:r>
            <a:r>
              <a:rPr sz="1350" b="1">
                <a:solidFill>
                  <a:srgbClr val="0E7C66"/>
                </a:solidFill>
                <a:latin typeface="Arial"/>
              </a:rPr>
              <a:t>▪  </a:t>
            </a:r>
            <a:r>
              <a:rPr sz="1350" b="0">
                <a:solidFill>
                  <a:srgbClr val="0F172A"/>
                </a:solidFill>
                <a:latin typeface="Arial"/>
              </a:rPr>
              <a:t>مراجعة الأعمال الميدانية وتدقيقها.</a:t>
            </a:r>
          </a:p>
          <a:p>
            <a:pPr algn="r" rtl="1">
              <a:lnSpc>
                <a:spcPct val="102000"/>
              </a:lnSpc>
              <a:spcBef>
                <a:spcPts val="0"/>
              </a:spcBef>
              <a:spcAft>
                <a:spcPts val="700"/>
              </a:spcAft>
            </a:pPr>
            <a:r>
              <a:rPr sz="1350" b="0">
                <a:solidFill>
                  <a:srgbClr val="0F172A"/>
                </a:solidFill>
                <a:latin typeface="Arial"/>
              </a:rPr>
              <a:t/>
            </a:r>
            <a:r>
              <a:rPr sz="1350" b="1">
                <a:solidFill>
                  <a:srgbClr val="0E7C66"/>
                </a:solidFill>
                <a:latin typeface="Arial"/>
              </a:rPr>
              <a:t>▪  </a:t>
            </a:r>
            <a:r>
              <a:rPr sz="1350" b="0">
                <a:solidFill>
                  <a:srgbClr val="0F172A"/>
                </a:solidFill>
                <a:latin typeface="Arial"/>
              </a:rPr>
              <a:t>إمكانية الاطلاع على الأدوات الميدانية.</a:t>
            </a:r>
          </a:p>
        </p:txBody>
      </p:sp>
      <p:sp>
        <p:nvSpPr>
          <p:cNvPr id="10" name="Rectangle 9"/>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2" name="TextBox 11"/>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الرابع</a:t>
            </a:r>
          </a:p>
        </p:txBody>
      </p:sp>
      <p:sp>
        <p:nvSpPr>
          <p:cNvPr id="13" name="TextBox 12"/>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مأمور الحصر (Surveyor)</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المنفّذ الميداني للحصر</a:t>
            </a:r>
          </a:p>
        </p:txBody>
      </p:sp>
      <p:sp>
        <p:nvSpPr>
          <p:cNvPr id="9" name="TextBox 8"/>
          <p:cNvSpPr txBox="1"/>
          <p:nvPr/>
        </p:nvSpPr>
        <p:spPr>
          <a:xfrm>
            <a:off x="548640" y="1234440"/>
            <a:ext cx="11094415" cy="5166360"/>
          </a:xfrm>
          <a:prstGeom prst="rect">
            <a:avLst/>
          </a:prstGeom>
          <a:noFill/>
        </p:spPr>
        <p:txBody>
          <a:bodyPr wrap="square" anchor="t" lIns="25400" rIns="25400" tIns="12700" bIns="12700">
            <a:spAutoFit/>
          </a:bodyPr>
          <a:lstStyle/>
          <a:p>
            <a:pPr algn="r" rtl="1">
              <a:lnSpc>
                <a:spcPct val="102000"/>
              </a:lnSpc>
              <a:spcBef>
                <a:spcPts val="0"/>
              </a:spcBef>
              <a:spcAft>
                <a:spcPts val="700"/>
              </a:spcAft>
            </a:pPr>
            <a:r>
              <a:rPr sz="1700" b="1">
                <a:solidFill>
                  <a:srgbClr val="0A5A4A"/>
                </a:solidFill>
                <a:latin typeface="Arial"/>
              </a:rPr>
              <a:t>الوصف</a:t>
            </a:r>
          </a:p>
          <a:p>
            <a:pPr algn="r" rtl="1">
              <a:lnSpc>
                <a:spcPct val="102000"/>
              </a:lnSpc>
              <a:spcBef>
                <a:spcPts val="0"/>
              </a:spcBef>
              <a:spcAft>
                <a:spcPts val="700"/>
              </a:spcAft>
            </a:pPr>
            <a:r>
              <a:rPr sz="1400" b="0">
                <a:solidFill>
                  <a:srgbClr val="0F172A"/>
                </a:solidFill>
                <a:latin typeface="Arial"/>
              </a:rPr>
              <a:t>ينفّذ الحصر الميداني ويلتقط المواقع والصور.</a:t>
            </a:r>
          </a:p>
          <a:p>
            <a:pPr algn="r" rtl="1">
              <a:lnSpc>
                <a:spcPct val="102000"/>
              </a:lnSpc>
              <a:spcBef>
                <a:spcPts val="0"/>
              </a:spcBef>
              <a:spcAft>
                <a:spcPts val="700"/>
              </a:spcAft>
            </a:pPr>
            <a:r>
              <a:rPr sz="1700" b="1">
                <a:solidFill>
                  <a:srgbClr val="0A5A4A"/>
                </a:solidFill>
                <a:latin typeface="Arial"/>
              </a:rPr>
              <a:t>أبرز الصلاحيات والمهام</a:t>
            </a:r>
          </a:p>
          <a:p>
            <a:pPr algn="r" rtl="1">
              <a:lnSpc>
                <a:spcPct val="102000"/>
              </a:lnSpc>
              <a:spcBef>
                <a:spcPts val="0"/>
              </a:spcBef>
              <a:spcAft>
                <a:spcPts val="700"/>
              </a:spcAft>
            </a:pPr>
            <a:r>
              <a:rPr sz="1350" b="0">
                <a:solidFill>
                  <a:srgbClr val="0F172A"/>
                </a:solidFill>
                <a:latin typeface="Arial"/>
              </a:rPr>
              <a:t/>
            </a:r>
            <a:r>
              <a:rPr sz="1350" b="1">
                <a:solidFill>
                  <a:srgbClr val="0E7C66"/>
                </a:solidFill>
                <a:latin typeface="Arial"/>
              </a:rPr>
              <a:t>▪  </a:t>
            </a:r>
            <a:r>
              <a:rPr sz="1350" b="0">
                <a:solidFill>
                  <a:srgbClr val="0F172A"/>
                </a:solidFill>
                <a:latin typeface="Arial"/>
              </a:rPr>
              <a:t>البحث المركزي والبحث داخل المأمورية.</a:t>
            </a:r>
          </a:p>
          <a:p>
            <a:pPr algn="r" rtl="1">
              <a:lnSpc>
                <a:spcPct val="102000"/>
              </a:lnSpc>
              <a:spcBef>
                <a:spcPts val="0"/>
              </a:spcBef>
              <a:spcAft>
                <a:spcPts val="700"/>
              </a:spcAft>
            </a:pPr>
            <a:r>
              <a:rPr sz="1350" b="0">
                <a:solidFill>
                  <a:srgbClr val="0F172A"/>
                </a:solidFill>
                <a:latin typeface="Arial"/>
              </a:rPr>
              <a:t/>
            </a:r>
            <a:r>
              <a:rPr sz="1350" b="1">
                <a:solidFill>
                  <a:srgbClr val="0E7C66"/>
                </a:solidFill>
                <a:latin typeface="Arial"/>
              </a:rPr>
              <a:t>▪  </a:t>
            </a:r>
            <a:r>
              <a:rPr sz="1350" b="0">
                <a:solidFill>
                  <a:srgbClr val="0F172A"/>
                </a:solidFill>
                <a:latin typeface="Arial"/>
              </a:rPr>
              <a:t>فتح ملف حصر على الطبيعة (معاينة على مرحلتين).</a:t>
            </a:r>
          </a:p>
          <a:p>
            <a:pPr algn="r" rtl="1">
              <a:lnSpc>
                <a:spcPct val="102000"/>
              </a:lnSpc>
              <a:spcBef>
                <a:spcPts val="0"/>
              </a:spcBef>
              <a:spcAft>
                <a:spcPts val="700"/>
              </a:spcAft>
            </a:pPr>
            <a:r>
              <a:rPr sz="1350" b="0">
                <a:solidFill>
                  <a:srgbClr val="0F172A"/>
                </a:solidFill>
                <a:latin typeface="Arial"/>
              </a:rPr>
              <a:t/>
            </a:r>
            <a:r>
              <a:rPr sz="1350" b="1">
                <a:solidFill>
                  <a:srgbClr val="0E7C66"/>
                </a:solidFill>
                <a:latin typeface="Arial"/>
              </a:rPr>
              <a:t>▪  </a:t>
            </a:r>
            <a:r>
              <a:rPr sz="1350" b="0">
                <a:solidFill>
                  <a:srgbClr val="0F172A"/>
                </a:solidFill>
                <a:latin typeface="Arial"/>
              </a:rPr>
              <a:t>الإضافات والتعديلات (فرع/مخزن/نشاط فرعي/عنوان).</a:t>
            </a:r>
          </a:p>
          <a:p>
            <a:pPr algn="r" rtl="1">
              <a:lnSpc>
                <a:spcPct val="102000"/>
              </a:lnSpc>
              <a:spcBef>
                <a:spcPts val="0"/>
              </a:spcBef>
              <a:spcAft>
                <a:spcPts val="700"/>
              </a:spcAft>
            </a:pPr>
            <a:r>
              <a:rPr sz="1350" b="0">
                <a:solidFill>
                  <a:srgbClr val="0F172A"/>
                </a:solidFill>
                <a:latin typeface="Arial"/>
              </a:rPr>
              <a:t/>
            </a:r>
            <a:r>
              <a:rPr sz="1350" b="1">
                <a:solidFill>
                  <a:srgbClr val="0E7C66"/>
                </a:solidFill>
                <a:latin typeface="Arial"/>
              </a:rPr>
              <a:t>▪  </a:t>
            </a:r>
            <a:r>
              <a:rPr sz="1350" b="0">
                <a:solidFill>
                  <a:srgbClr val="0F172A"/>
                </a:solidFill>
                <a:latin typeface="Arial"/>
              </a:rPr>
              <a:t>استقبال المهام الواردة وتنفيذها + الخريطة.</a:t>
            </a:r>
          </a:p>
        </p:txBody>
      </p:sp>
      <p:sp>
        <p:nvSpPr>
          <p:cNvPr id="10" name="Rectangle 9"/>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2" name="TextBox 11"/>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الرابع</a:t>
            </a:r>
          </a:p>
        </p:txBody>
      </p:sp>
      <p:sp>
        <p:nvSpPr>
          <p:cNvPr id="13" name="TextBox 12"/>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مدير الفحص (Exam Manager)</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رئيس إدارة الفحص</a:t>
            </a:r>
          </a:p>
        </p:txBody>
      </p:sp>
      <p:sp>
        <p:nvSpPr>
          <p:cNvPr id="9" name="TextBox 8"/>
          <p:cNvSpPr txBox="1"/>
          <p:nvPr/>
        </p:nvSpPr>
        <p:spPr>
          <a:xfrm>
            <a:off x="548640" y="1234440"/>
            <a:ext cx="11094415" cy="5166360"/>
          </a:xfrm>
          <a:prstGeom prst="rect">
            <a:avLst/>
          </a:prstGeom>
          <a:noFill/>
        </p:spPr>
        <p:txBody>
          <a:bodyPr wrap="square" anchor="t" lIns="25400" rIns="25400" tIns="12700" bIns="12700">
            <a:spAutoFit/>
          </a:bodyPr>
          <a:lstStyle/>
          <a:p>
            <a:pPr algn="r" rtl="1">
              <a:lnSpc>
                <a:spcPct val="102000"/>
              </a:lnSpc>
              <a:spcBef>
                <a:spcPts val="0"/>
              </a:spcBef>
              <a:spcAft>
                <a:spcPts val="700"/>
              </a:spcAft>
            </a:pPr>
            <a:r>
              <a:rPr sz="1700" b="1">
                <a:solidFill>
                  <a:srgbClr val="0A5A4A"/>
                </a:solidFill>
                <a:latin typeface="Arial"/>
              </a:rPr>
              <a:t>الوصف</a:t>
            </a:r>
          </a:p>
          <a:p>
            <a:pPr algn="r" rtl="1">
              <a:lnSpc>
                <a:spcPct val="102000"/>
              </a:lnSpc>
              <a:spcBef>
                <a:spcPts val="0"/>
              </a:spcBef>
              <a:spcAft>
                <a:spcPts val="700"/>
              </a:spcAft>
            </a:pPr>
            <a:r>
              <a:rPr sz="1400" b="0">
                <a:solidFill>
                  <a:srgbClr val="0F172A"/>
                </a:solidFill>
                <a:latin typeface="Arial"/>
              </a:rPr>
              <a:t>يشرف على شعبة الفحص ويعتمد نتائجها.</a:t>
            </a:r>
          </a:p>
          <a:p>
            <a:pPr algn="r" rtl="1">
              <a:lnSpc>
                <a:spcPct val="102000"/>
              </a:lnSpc>
              <a:spcBef>
                <a:spcPts val="0"/>
              </a:spcBef>
              <a:spcAft>
                <a:spcPts val="700"/>
              </a:spcAft>
            </a:pPr>
            <a:r>
              <a:rPr sz="1700" b="1">
                <a:solidFill>
                  <a:srgbClr val="0A5A4A"/>
                </a:solidFill>
                <a:latin typeface="Arial"/>
              </a:rPr>
              <a:t>أبرز الصلاحيات والمهام</a:t>
            </a:r>
          </a:p>
          <a:p>
            <a:pPr algn="r" rtl="1">
              <a:lnSpc>
                <a:spcPct val="102000"/>
              </a:lnSpc>
              <a:spcBef>
                <a:spcPts val="0"/>
              </a:spcBef>
              <a:spcAft>
                <a:spcPts val="700"/>
              </a:spcAft>
            </a:pPr>
            <a:r>
              <a:rPr sz="1350" b="0">
                <a:solidFill>
                  <a:srgbClr val="0F172A"/>
                </a:solidFill>
                <a:latin typeface="Arial"/>
              </a:rPr>
              <a:t/>
            </a:r>
            <a:r>
              <a:rPr sz="1350" b="1">
                <a:solidFill>
                  <a:srgbClr val="0E7C66"/>
                </a:solidFill>
                <a:latin typeface="Arial"/>
              </a:rPr>
              <a:t>▪  </a:t>
            </a:r>
            <a:r>
              <a:rPr sz="1350" b="0">
                <a:solidFill>
                  <a:srgbClr val="0F172A"/>
                </a:solidFill>
                <a:latin typeface="Arial"/>
              </a:rPr>
              <a:t>توزيع مهام الفحص.</a:t>
            </a:r>
          </a:p>
          <a:p>
            <a:pPr algn="r" rtl="1">
              <a:lnSpc>
                <a:spcPct val="102000"/>
              </a:lnSpc>
              <a:spcBef>
                <a:spcPts val="0"/>
              </a:spcBef>
              <a:spcAft>
                <a:spcPts val="700"/>
              </a:spcAft>
            </a:pPr>
            <a:r>
              <a:rPr sz="1350" b="0">
                <a:solidFill>
                  <a:srgbClr val="0F172A"/>
                </a:solidFill>
                <a:latin typeface="Arial"/>
              </a:rPr>
              <a:t/>
            </a:r>
            <a:r>
              <a:rPr sz="1350" b="1">
                <a:solidFill>
                  <a:srgbClr val="0E7C66"/>
                </a:solidFill>
                <a:latin typeface="Arial"/>
              </a:rPr>
              <a:t>▪  </a:t>
            </a:r>
            <a:r>
              <a:rPr sz="1350" b="0">
                <a:solidFill>
                  <a:srgbClr val="0F172A"/>
                </a:solidFill>
                <a:latin typeface="Arial"/>
              </a:rPr>
              <a:t>مراجعة واعتماد المعاينات المقدّمة.</a:t>
            </a:r>
          </a:p>
          <a:p>
            <a:pPr algn="r" rtl="1">
              <a:lnSpc>
                <a:spcPct val="102000"/>
              </a:lnSpc>
              <a:spcBef>
                <a:spcPts val="0"/>
              </a:spcBef>
              <a:spcAft>
                <a:spcPts val="700"/>
              </a:spcAft>
            </a:pPr>
            <a:r>
              <a:rPr sz="1350" b="0">
                <a:solidFill>
                  <a:srgbClr val="0F172A"/>
                </a:solidFill>
                <a:latin typeface="Arial"/>
              </a:rPr>
              <a:t/>
            </a:r>
            <a:r>
              <a:rPr sz="1350" b="1">
                <a:solidFill>
                  <a:srgbClr val="0E7C66"/>
                </a:solidFill>
                <a:latin typeface="Arial"/>
              </a:rPr>
              <a:t>▪  </a:t>
            </a:r>
            <a:r>
              <a:rPr sz="1350" b="0">
                <a:solidFill>
                  <a:srgbClr val="0F172A"/>
                </a:solidFill>
                <a:latin typeface="Arial"/>
              </a:rPr>
              <a:t>إدارة مأموري الفحص.</a:t>
            </a:r>
          </a:p>
          <a:p>
            <a:pPr algn="r" rtl="1">
              <a:lnSpc>
                <a:spcPct val="102000"/>
              </a:lnSpc>
              <a:spcBef>
                <a:spcPts val="0"/>
              </a:spcBef>
              <a:spcAft>
                <a:spcPts val="700"/>
              </a:spcAft>
            </a:pPr>
            <a:r>
              <a:rPr sz="1350" b="0">
                <a:solidFill>
                  <a:srgbClr val="0F172A"/>
                </a:solidFill>
                <a:latin typeface="Arial"/>
              </a:rPr>
              <a:t/>
            </a:r>
            <a:r>
              <a:rPr sz="1350" b="1">
                <a:solidFill>
                  <a:srgbClr val="0E7C66"/>
                </a:solidFill>
                <a:latin typeface="Arial"/>
              </a:rPr>
              <a:t>▪  </a:t>
            </a:r>
            <a:r>
              <a:rPr sz="1350" b="0">
                <a:solidFill>
                  <a:srgbClr val="0F172A"/>
                </a:solidFill>
                <a:latin typeface="Arial"/>
              </a:rPr>
              <a:t>الطلبات والتقارير والخريطة والمراسلات.</a:t>
            </a:r>
          </a:p>
        </p:txBody>
      </p:sp>
      <p:sp>
        <p:nvSpPr>
          <p:cNvPr id="10" name="Rectangle 9"/>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2" name="TextBox 11"/>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الرابع</a:t>
            </a:r>
          </a:p>
        </p:txBody>
      </p:sp>
      <p:sp>
        <p:nvSpPr>
          <p:cNvPr id="13" name="TextBox 12"/>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مراجع الفحص (Exam Reviewer)</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تخطيط وإسناد ومراجعة الفحص</a:t>
            </a:r>
          </a:p>
        </p:txBody>
      </p:sp>
      <p:sp>
        <p:nvSpPr>
          <p:cNvPr id="9" name="TextBox 8"/>
          <p:cNvSpPr txBox="1"/>
          <p:nvPr/>
        </p:nvSpPr>
        <p:spPr>
          <a:xfrm>
            <a:off x="548640" y="1234440"/>
            <a:ext cx="11094415" cy="5166360"/>
          </a:xfrm>
          <a:prstGeom prst="rect">
            <a:avLst/>
          </a:prstGeom>
          <a:noFill/>
        </p:spPr>
        <p:txBody>
          <a:bodyPr wrap="square" anchor="t" lIns="25400" rIns="25400" tIns="12700" bIns="12700">
            <a:spAutoFit/>
          </a:bodyPr>
          <a:lstStyle/>
          <a:p>
            <a:pPr algn="r" rtl="1">
              <a:lnSpc>
                <a:spcPct val="102000"/>
              </a:lnSpc>
              <a:spcBef>
                <a:spcPts val="0"/>
              </a:spcBef>
              <a:spcAft>
                <a:spcPts val="700"/>
              </a:spcAft>
            </a:pPr>
            <a:r>
              <a:rPr sz="1700" b="1">
                <a:solidFill>
                  <a:srgbClr val="0A5A4A"/>
                </a:solidFill>
                <a:latin typeface="Arial"/>
              </a:rPr>
              <a:t>الوصف</a:t>
            </a:r>
          </a:p>
          <a:p>
            <a:pPr algn="r" rtl="1">
              <a:lnSpc>
                <a:spcPct val="102000"/>
              </a:lnSpc>
              <a:spcBef>
                <a:spcPts val="0"/>
              </a:spcBef>
              <a:spcAft>
                <a:spcPts val="700"/>
              </a:spcAft>
            </a:pPr>
            <a:r>
              <a:rPr sz="1400" b="0">
                <a:solidFill>
                  <a:srgbClr val="0F172A"/>
                </a:solidFill>
                <a:latin typeface="Arial"/>
              </a:rPr>
              <a:t>يخطّط الفحص ويسند المهام ويراجع المعاينات.</a:t>
            </a:r>
          </a:p>
          <a:p>
            <a:pPr algn="r" rtl="1">
              <a:lnSpc>
                <a:spcPct val="102000"/>
              </a:lnSpc>
              <a:spcBef>
                <a:spcPts val="0"/>
              </a:spcBef>
              <a:spcAft>
                <a:spcPts val="700"/>
              </a:spcAft>
            </a:pPr>
            <a:r>
              <a:rPr sz="1700" b="1">
                <a:solidFill>
                  <a:srgbClr val="0A5A4A"/>
                </a:solidFill>
                <a:latin typeface="Arial"/>
              </a:rPr>
              <a:t>أبرز الصلاحيات والمهام</a:t>
            </a:r>
          </a:p>
          <a:p>
            <a:pPr algn="r" rtl="1">
              <a:lnSpc>
                <a:spcPct val="102000"/>
              </a:lnSpc>
              <a:spcBef>
                <a:spcPts val="0"/>
              </a:spcBef>
              <a:spcAft>
                <a:spcPts val="700"/>
              </a:spcAft>
            </a:pPr>
            <a:r>
              <a:rPr sz="1350" b="0">
                <a:solidFill>
                  <a:srgbClr val="0F172A"/>
                </a:solidFill>
                <a:latin typeface="Arial"/>
              </a:rPr>
              <a:t/>
            </a:r>
            <a:r>
              <a:rPr sz="1350" b="1">
                <a:solidFill>
                  <a:srgbClr val="0E7C66"/>
                </a:solidFill>
                <a:latin typeface="Arial"/>
              </a:rPr>
              <a:t>▪  </a:t>
            </a:r>
            <a:r>
              <a:rPr sz="1350" b="0">
                <a:solidFill>
                  <a:srgbClr val="0F172A"/>
                </a:solidFill>
                <a:latin typeface="Arial"/>
              </a:rPr>
              <a:t>إعداد خطة الفحص وإسناد المهام.</a:t>
            </a:r>
          </a:p>
          <a:p>
            <a:pPr algn="r" rtl="1">
              <a:lnSpc>
                <a:spcPct val="102000"/>
              </a:lnSpc>
              <a:spcBef>
                <a:spcPts val="0"/>
              </a:spcBef>
              <a:spcAft>
                <a:spcPts val="700"/>
              </a:spcAft>
            </a:pPr>
            <a:r>
              <a:rPr sz="1350" b="0">
                <a:solidFill>
                  <a:srgbClr val="0F172A"/>
                </a:solidFill>
                <a:latin typeface="Arial"/>
              </a:rPr>
              <a:t/>
            </a:r>
            <a:r>
              <a:rPr sz="1350" b="1">
                <a:solidFill>
                  <a:srgbClr val="0E7C66"/>
                </a:solidFill>
                <a:latin typeface="Arial"/>
              </a:rPr>
              <a:t>▪  </a:t>
            </a:r>
            <a:r>
              <a:rPr sz="1350" b="0">
                <a:solidFill>
                  <a:srgbClr val="0F172A"/>
                </a:solidFill>
                <a:latin typeface="Arial"/>
              </a:rPr>
              <a:t>متابعة تنفيذ المهام وخطوط السير.</a:t>
            </a:r>
          </a:p>
          <a:p>
            <a:pPr algn="r" rtl="1">
              <a:lnSpc>
                <a:spcPct val="102000"/>
              </a:lnSpc>
              <a:spcBef>
                <a:spcPts val="0"/>
              </a:spcBef>
              <a:spcAft>
                <a:spcPts val="700"/>
              </a:spcAft>
            </a:pPr>
            <a:r>
              <a:rPr sz="1350" b="0">
                <a:solidFill>
                  <a:srgbClr val="0F172A"/>
                </a:solidFill>
                <a:latin typeface="Arial"/>
              </a:rPr>
              <a:t/>
            </a:r>
            <a:r>
              <a:rPr sz="1350" b="1">
                <a:solidFill>
                  <a:srgbClr val="0E7C66"/>
                </a:solidFill>
                <a:latin typeface="Arial"/>
              </a:rPr>
              <a:t>▪  </a:t>
            </a:r>
            <a:r>
              <a:rPr sz="1350" b="0">
                <a:solidFill>
                  <a:srgbClr val="0F172A"/>
                </a:solidFill>
                <a:latin typeface="Arial"/>
              </a:rPr>
              <a:t>مراجعة المعاينات قبل الاعتماد.</a:t>
            </a:r>
          </a:p>
          <a:p>
            <a:pPr algn="r" rtl="1">
              <a:lnSpc>
                <a:spcPct val="102000"/>
              </a:lnSpc>
              <a:spcBef>
                <a:spcPts val="0"/>
              </a:spcBef>
              <a:spcAft>
                <a:spcPts val="700"/>
              </a:spcAft>
            </a:pPr>
            <a:r>
              <a:rPr sz="1350" b="0">
                <a:solidFill>
                  <a:srgbClr val="0F172A"/>
                </a:solidFill>
                <a:latin typeface="Arial"/>
              </a:rPr>
              <a:t/>
            </a:r>
            <a:r>
              <a:rPr sz="1350" b="1">
                <a:solidFill>
                  <a:srgbClr val="0E7C66"/>
                </a:solidFill>
                <a:latin typeface="Arial"/>
              </a:rPr>
              <a:t>▪  </a:t>
            </a:r>
            <a:r>
              <a:rPr sz="1350" b="0">
                <a:solidFill>
                  <a:srgbClr val="0F172A"/>
                </a:solidFill>
                <a:latin typeface="Arial"/>
              </a:rPr>
              <a:t>الخريطة والتقارير والمراسلات.</a:t>
            </a:r>
          </a:p>
        </p:txBody>
      </p:sp>
      <p:sp>
        <p:nvSpPr>
          <p:cNvPr id="10" name="Rectangle 9"/>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2" name="TextBox 11"/>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الرابع</a:t>
            </a:r>
          </a:p>
        </p:txBody>
      </p:sp>
      <p:sp>
        <p:nvSpPr>
          <p:cNvPr id="13" name="TextBox 12"/>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مأمور الفحص (Examiner)</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المنفّذ الميداني للفحص</a:t>
            </a:r>
          </a:p>
        </p:txBody>
      </p:sp>
      <p:sp>
        <p:nvSpPr>
          <p:cNvPr id="9" name="TextBox 8"/>
          <p:cNvSpPr txBox="1"/>
          <p:nvPr/>
        </p:nvSpPr>
        <p:spPr>
          <a:xfrm>
            <a:off x="548640" y="1234440"/>
            <a:ext cx="11094415" cy="5166360"/>
          </a:xfrm>
          <a:prstGeom prst="rect">
            <a:avLst/>
          </a:prstGeom>
          <a:noFill/>
        </p:spPr>
        <p:txBody>
          <a:bodyPr wrap="square" anchor="t" lIns="25400" rIns="25400" tIns="12700" bIns="12700">
            <a:spAutoFit/>
          </a:bodyPr>
          <a:lstStyle/>
          <a:p>
            <a:pPr algn="r" rtl="1">
              <a:lnSpc>
                <a:spcPct val="102000"/>
              </a:lnSpc>
              <a:spcBef>
                <a:spcPts val="0"/>
              </a:spcBef>
              <a:spcAft>
                <a:spcPts val="700"/>
              </a:spcAft>
            </a:pPr>
            <a:r>
              <a:rPr sz="1700" b="1">
                <a:solidFill>
                  <a:srgbClr val="0A5A4A"/>
                </a:solidFill>
                <a:latin typeface="Arial"/>
              </a:rPr>
              <a:t>الوصف</a:t>
            </a:r>
          </a:p>
          <a:p>
            <a:pPr algn="r" rtl="1">
              <a:lnSpc>
                <a:spcPct val="102000"/>
              </a:lnSpc>
              <a:spcBef>
                <a:spcPts val="0"/>
              </a:spcBef>
              <a:spcAft>
                <a:spcPts val="700"/>
              </a:spcAft>
            </a:pPr>
            <a:r>
              <a:rPr sz="1400" b="0">
                <a:solidFill>
                  <a:srgbClr val="0F172A"/>
                </a:solidFill>
                <a:latin typeface="Arial"/>
              </a:rPr>
              <a:t>ينفّذ المعاينات ويحدّد نتائج الفحص والتوقفات.</a:t>
            </a:r>
          </a:p>
          <a:p>
            <a:pPr algn="r" rtl="1">
              <a:lnSpc>
                <a:spcPct val="102000"/>
              </a:lnSpc>
              <a:spcBef>
                <a:spcPts val="0"/>
              </a:spcBef>
              <a:spcAft>
                <a:spcPts val="700"/>
              </a:spcAft>
            </a:pPr>
            <a:r>
              <a:rPr sz="1700" b="1">
                <a:solidFill>
                  <a:srgbClr val="0A5A4A"/>
                </a:solidFill>
                <a:latin typeface="Arial"/>
              </a:rPr>
              <a:t>أبرز الصلاحيات والمهام</a:t>
            </a:r>
          </a:p>
          <a:p>
            <a:pPr algn="r" rtl="1">
              <a:lnSpc>
                <a:spcPct val="102000"/>
              </a:lnSpc>
              <a:spcBef>
                <a:spcPts val="0"/>
              </a:spcBef>
              <a:spcAft>
                <a:spcPts val="700"/>
              </a:spcAft>
            </a:pPr>
            <a:r>
              <a:rPr sz="1350" b="0">
                <a:solidFill>
                  <a:srgbClr val="0F172A"/>
                </a:solidFill>
                <a:latin typeface="Arial"/>
              </a:rPr>
              <a:t/>
            </a:r>
            <a:r>
              <a:rPr sz="1350" b="1">
                <a:solidFill>
                  <a:srgbClr val="0E7C66"/>
                </a:solidFill>
                <a:latin typeface="Arial"/>
              </a:rPr>
              <a:t>▪  </a:t>
            </a:r>
            <a:r>
              <a:rPr sz="1350" b="0">
                <a:solidFill>
                  <a:srgbClr val="0F172A"/>
                </a:solidFill>
                <a:latin typeface="Arial"/>
              </a:rPr>
              <a:t>تنفيذ المعاينات الميدانية مع موقع فحص مستقل.</a:t>
            </a:r>
          </a:p>
          <a:p>
            <a:pPr algn="r" rtl="1">
              <a:lnSpc>
                <a:spcPct val="102000"/>
              </a:lnSpc>
              <a:spcBef>
                <a:spcPts val="0"/>
              </a:spcBef>
              <a:spcAft>
                <a:spcPts val="700"/>
              </a:spcAft>
            </a:pPr>
            <a:r>
              <a:rPr sz="1350" b="0">
                <a:solidFill>
                  <a:srgbClr val="0F172A"/>
                </a:solidFill>
                <a:latin typeface="Arial"/>
              </a:rPr>
              <a:t/>
            </a:r>
            <a:r>
              <a:rPr sz="1350" b="1">
                <a:solidFill>
                  <a:srgbClr val="0E7C66"/>
                </a:solidFill>
                <a:latin typeface="Arial"/>
              </a:rPr>
              <a:t>▪  </a:t>
            </a:r>
            <a:r>
              <a:rPr sz="1350" b="0">
                <a:solidFill>
                  <a:srgbClr val="0F172A"/>
                </a:solidFill>
                <a:latin typeface="Arial"/>
              </a:rPr>
              <a:t>طلب حضور الممول وتحديد مواعيد المعاينة.</a:t>
            </a:r>
          </a:p>
          <a:p>
            <a:pPr algn="r" rtl="1">
              <a:lnSpc>
                <a:spcPct val="102000"/>
              </a:lnSpc>
              <a:spcBef>
                <a:spcPts val="0"/>
              </a:spcBef>
              <a:spcAft>
                <a:spcPts val="700"/>
              </a:spcAft>
            </a:pPr>
            <a:r>
              <a:rPr sz="1350" b="0">
                <a:solidFill>
                  <a:srgbClr val="0F172A"/>
                </a:solidFill>
                <a:latin typeface="Arial"/>
              </a:rPr>
              <a:t/>
            </a:r>
            <a:r>
              <a:rPr sz="1350" b="1">
                <a:solidFill>
                  <a:srgbClr val="0E7C66"/>
                </a:solidFill>
                <a:latin typeface="Arial"/>
              </a:rPr>
              <a:t>▪  </a:t>
            </a:r>
            <a:r>
              <a:rPr sz="1350" b="0">
                <a:solidFill>
                  <a:srgbClr val="0F172A"/>
                </a:solidFill>
                <a:latin typeface="Arial"/>
              </a:rPr>
              <a:t>إخطارات التوقف الجزئي والنهائي.</a:t>
            </a:r>
          </a:p>
          <a:p>
            <a:pPr algn="r" rtl="1">
              <a:lnSpc>
                <a:spcPct val="102000"/>
              </a:lnSpc>
              <a:spcBef>
                <a:spcPts val="0"/>
              </a:spcBef>
              <a:spcAft>
                <a:spcPts val="700"/>
              </a:spcAft>
            </a:pPr>
            <a:r>
              <a:rPr sz="1350" b="0">
                <a:solidFill>
                  <a:srgbClr val="0F172A"/>
                </a:solidFill>
                <a:latin typeface="Arial"/>
              </a:rPr>
              <a:t/>
            </a:r>
            <a:r>
              <a:rPr sz="1350" b="1">
                <a:solidFill>
                  <a:srgbClr val="0E7C66"/>
                </a:solidFill>
                <a:latin typeface="Arial"/>
              </a:rPr>
              <a:t>▪  </a:t>
            </a:r>
            <a:r>
              <a:rPr sz="1350" b="0">
                <a:solidFill>
                  <a:srgbClr val="0F172A"/>
                </a:solidFill>
                <a:latin typeface="Arial"/>
              </a:rPr>
              <a:t>استقبال المهام الواردة + الخريطة والتقارير.</a:t>
            </a:r>
          </a:p>
        </p:txBody>
      </p:sp>
      <p:sp>
        <p:nvSpPr>
          <p:cNvPr id="10" name="Rectangle 9"/>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2" name="TextBox 11"/>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الرابع</a:t>
            </a:r>
          </a:p>
        </p:txBody>
      </p:sp>
      <p:sp>
        <p:nvSpPr>
          <p:cNvPr id="13" name="TextBox 12"/>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مأمور الحجز (Seizer)</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إدارة الحجز — مرحلة مستقبلية</a:t>
            </a:r>
          </a:p>
        </p:txBody>
      </p:sp>
      <p:sp>
        <p:nvSpPr>
          <p:cNvPr id="9" name="TextBox 8"/>
          <p:cNvSpPr txBox="1"/>
          <p:nvPr/>
        </p:nvSpPr>
        <p:spPr>
          <a:xfrm>
            <a:off x="548640" y="1234440"/>
            <a:ext cx="11094415" cy="5166360"/>
          </a:xfrm>
          <a:prstGeom prst="rect">
            <a:avLst/>
          </a:prstGeom>
          <a:noFill/>
        </p:spPr>
        <p:txBody>
          <a:bodyPr wrap="square" anchor="t" lIns="25400" rIns="25400" tIns="12700" bIns="12700">
            <a:spAutoFit/>
          </a:bodyPr>
          <a:lstStyle/>
          <a:p>
            <a:pPr algn="r" rtl="1">
              <a:lnSpc>
                <a:spcPct val="102000"/>
              </a:lnSpc>
              <a:spcBef>
                <a:spcPts val="0"/>
              </a:spcBef>
              <a:spcAft>
                <a:spcPts val="700"/>
              </a:spcAft>
            </a:pPr>
            <a:r>
              <a:rPr sz="1700" b="1">
                <a:solidFill>
                  <a:srgbClr val="0A5A4A"/>
                </a:solidFill>
                <a:latin typeface="Arial"/>
              </a:rPr>
              <a:t>الوصف</a:t>
            </a:r>
          </a:p>
          <a:p>
            <a:pPr algn="r" rtl="1">
              <a:lnSpc>
                <a:spcPct val="102000"/>
              </a:lnSpc>
              <a:spcBef>
                <a:spcPts val="0"/>
              </a:spcBef>
              <a:spcAft>
                <a:spcPts val="700"/>
              </a:spcAft>
            </a:pPr>
            <a:r>
              <a:rPr sz="1400" b="0">
                <a:solidFill>
                  <a:srgbClr val="0F172A"/>
                </a:solidFill>
                <a:latin typeface="Arial"/>
              </a:rPr>
              <a:t>معرّف في النظام كإدارة ثالثة (حجز) وسجلاتها جاهزة، ومستبعد من الإصدار الحالي ليُفعّل لاحقاً.</a:t>
            </a:r>
          </a:p>
          <a:p>
            <a:pPr algn="r" rtl="1">
              <a:lnSpc>
                <a:spcPct val="102000"/>
              </a:lnSpc>
              <a:spcBef>
                <a:spcPts val="0"/>
              </a:spcBef>
              <a:spcAft>
                <a:spcPts val="700"/>
              </a:spcAft>
            </a:pPr>
            <a:r>
              <a:rPr sz="1700" b="1">
                <a:solidFill>
                  <a:srgbClr val="0A5A4A"/>
                </a:solidFill>
                <a:latin typeface="Arial"/>
              </a:rPr>
              <a:t>أبرز الصلاحيات والمهام</a:t>
            </a:r>
          </a:p>
          <a:p>
            <a:pPr algn="r" rtl="1">
              <a:lnSpc>
                <a:spcPct val="102000"/>
              </a:lnSpc>
              <a:spcBef>
                <a:spcPts val="0"/>
              </a:spcBef>
              <a:spcAft>
                <a:spcPts val="700"/>
              </a:spcAft>
            </a:pPr>
            <a:r>
              <a:rPr sz="1350" b="0">
                <a:solidFill>
                  <a:srgbClr val="0F172A"/>
                </a:solidFill>
                <a:latin typeface="Arial"/>
              </a:rPr>
              <a:t/>
            </a:r>
            <a:r>
              <a:rPr sz="1350" b="1">
                <a:solidFill>
                  <a:srgbClr val="0E7C66"/>
                </a:solidFill>
                <a:latin typeface="Arial"/>
              </a:rPr>
              <a:t>▪  </a:t>
            </a:r>
            <a:r>
              <a:rPr sz="1350" b="0">
                <a:solidFill>
                  <a:srgbClr val="0F172A"/>
                </a:solidFill>
                <a:latin typeface="Arial"/>
              </a:rPr>
              <a:t>تسجيل قرارات الحجز والمبالغ والأصناف المحجوزة.</a:t>
            </a:r>
          </a:p>
          <a:p>
            <a:pPr algn="r" rtl="1">
              <a:lnSpc>
                <a:spcPct val="102000"/>
              </a:lnSpc>
              <a:spcBef>
                <a:spcPts val="0"/>
              </a:spcBef>
              <a:spcAft>
                <a:spcPts val="700"/>
              </a:spcAft>
            </a:pPr>
            <a:r>
              <a:rPr sz="1350" b="0">
                <a:solidFill>
                  <a:srgbClr val="0F172A"/>
                </a:solidFill>
                <a:latin typeface="Arial"/>
              </a:rPr>
              <a:t/>
            </a:r>
            <a:r>
              <a:rPr sz="1350" b="1">
                <a:solidFill>
                  <a:srgbClr val="0E7C66"/>
                </a:solidFill>
                <a:latin typeface="Arial"/>
              </a:rPr>
              <a:t>▪  </a:t>
            </a:r>
            <a:r>
              <a:rPr sz="1350" b="0">
                <a:solidFill>
                  <a:srgbClr val="0F172A"/>
                </a:solidFill>
                <a:latin typeface="Arial"/>
              </a:rPr>
              <a:t>حالات: محجوز / مرفوع / مُباع بالمزاد.</a:t>
            </a:r>
          </a:p>
          <a:p>
            <a:pPr algn="r" rtl="1">
              <a:lnSpc>
                <a:spcPct val="102000"/>
              </a:lnSpc>
              <a:spcBef>
                <a:spcPts val="0"/>
              </a:spcBef>
              <a:spcAft>
                <a:spcPts val="700"/>
              </a:spcAft>
            </a:pPr>
            <a:r>
              <a:rPr sz="1350" b="0">
                <a:solidFill>
                  <a:srgbClr val="0F172A"/>
                </a:solidFill>
                <a:latin typeface="Arial"/>
              </a:rPr>
              <a:t/>
            </a:r>
            <a:r>
              <a:rPr sz="1350" b="1">
                <a:solidFill>
                  <a:srgbClr val="0E7C66"/>
                </a:solidFill>
                <a:latin typeface="Arial"/>
              </a:rPr>
              <a:t>▪  </a:t>
            </a:r>
            <a:r>
              <a:rPr sz="1350" b="0">
                <a:solidFill>
                  <a:srgbClr val="0F172A"/>
                </a:solidFill>
                <a:latin typeface="Arial"/>
              </a:rPr>
              <a:t>التقاط موقع وصور محل الحجز.</a:t>
            </a:r>
          </a:p>
          <a:p>
            <a:pPr algn="r" rtl="1">
              <a:lnSpc>
                <a:spcPct val="102000"/>
              </a:lnSpc>
              <a:spcBef>
                <a:spcPts val="0"/>
              </a:spcBef>
              <a:spcAft>
                <a:spcPts val="700"/>
              </a:spcAft>
            </a:pPr>
            <a:r>
              <a:rPr sz="1350" b="0">
                <a:solidFill>
                  <a:srgbClr val="0F172A"/>
                </a:solidFill>
                <a:latin typeface="Arial"/>
              </a:rPr>
              <a:t/>
            </a:r>
            <a:r>
              <a:rPr sz="1350" b="1">
                <a:solidFill>
                  <a:srgbClr val="0E7C66"/>
                </a:solidFill>
                <a:latin typeface="Arial"/>
              </a:rPr>
              <a:t>▪  </a:t>
            </a:r>
            <a:r>
              <a:rPr sz="1350" b="0">
                <a:solidFill>
                  <a:srgbClr val="0F172A"/>
                </a:solidFill>
                <a:latin typeface="Arial"/>
              </a:rPr>
              <a:t>يُفعّل ضمن التوسعات المستقبلية للمنظومة.</a:t>
            </a:r>
          </a:p>
        </p:txBody>
      </p:sp>
      <p:sp>
        <p:nvSpPr>
          <p:cNvPr id="10" name="Rectangle 9"/>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2" name="TextBox 11"/>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الرابع</a:t>
            </a:r>
          </a:p>
        </p:txBody>
      </p:sp>
      <p:sp>
        <p:nvSpPr>
          <p:cNvPr id="13" name="TextBox 12"/>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الممول (Taxpayer)</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المستفيد الخارجي</a:t>
            </a:r>
          </a:p>
        </p:txBody>
      </p:sp>
      <p:sp>
        <p:nvSpPr>
          <p:cNvPr id="9" name="TextBox 8"/>
          <p:cNvSpPr txBox="1"/>
          <p:nvPr/>
        </p:nvSpPr>
        <p:spPr>
          <a:xfrm>
            <a:off x="548640" y="1234440"/>
            <a:ext cx="11094415" cy="5166360"/>
          </a:xfrm>
          <a:prstGeom prst="rect">
            <a:avLst/>
          </a:prstGeom>
          <a:noFill/>
        </p:spPr>
        <p:txBody>
          <a:bodyPr wrap="square" anchor="t" lIns="25400" rIns="25400" tIns="12700" bIns="12700">
            <a:spAutoFit/>
          </a:bodyPr>
          <a:lstStyle/>
          <a:p>
            <a:pPr algn="r" rtl="1">
              <a:lnSpc>
                <a:spcPct val="102000"/>
              </a:lnSpc>
              <a:spcBef>
                <a:spcPts val="0"/>
              </a:spcBef>
              <a:spcAft>
                <a:spcPts val="700"/>
              </a:spcAft>
            </a:pPr>
            <a:r>
              <a:rPr sz="1700" b="1">
                <a:solidFill>
                  <a:srgbClr val="0A5A4A"/>
                </a:solidFill>
                <a:latin typeface="Arial"/>
              </a:rPr>
              <a:t>الوصف</a:t>
            </a:r>
          </a:p>
          <a:p>
            <a:pPr algn="r" rtl="1">
              <a:lnSpc>
                <a:spcPct val="102000"/>
              </a:lnSpc>
              <a:spcBef>
                <a:spcPts val="0"/>
              </a:spcBef>
              <a:spcAft>
                <a:spcPts val="700"/>
              </a:spcAft>
            </a:pPr>
            <a:r>
              <a:rPr sz="1400" b="0">
                <a:solidFill>
                  <a:srgbClr val="0F172A"/>
                </a:solidFill>
                <a:latin typeface="Arial"/>
              </a:rPr>
              <a:t>صاحب النشاط الاقتصادي؛ يتابع ملفه ويقدّم طلباته إلكترونياً.</a:t>
            </a:r>
          </a:p>
          <a:p>
            <a:pPr algn="r" rtl="1">
              <a:lnSpc>
                <a:spcPct val="102000"/>
              </a:lnSpc>
              <a:spcBef>
                <a:spcPts val="0"/>
              </a:spcBef>
              <a:spcAft>
                <a:spcPts val="700"/>
              </a:spcAft>
            </a:pPr>
            <a:r>
              <a:rPr sz="1700" b="1">
                <a:solidFill>
                  <a:srgbClr val="0A5A4A"/>
                </a:solidFill>
                <a:latin typeface="Arial"/>
              </a:rPr>
              <a:t>أبرز الصلاحيات والمهام</a:t>
            </a:r>
          </a:p>
          <a:p>
            <a:pPr algn="r" rtl="1">
              <a:lnSpc>
                <a:spcPct val="102000"/>
              </a:lnSpc>
              <a:spcBef>
                <a:spcPts val="0"/>
              </a:spcBef>
              <a:spcAft>
                <a:spcPts val="700"/>
              </a:spcAft>
            </a:pPr>
            <a:r>
              <a:rPr sz="1350" b="0">
                <a:solidFill>
                  <a:srgbClr val="0F172A"/>
                </a:solidFill>
                <a:latin typeface="Arial"/>
              </a:rPr>
              <a:t/>
            </a:r>
            <a:r>
              <a:rPr sz="1350" b="1">
                <a:solidFill>
                  <a:srgbClr val="0E7C66"/>
                </a:solidFill>
                <a:latin typeface="Arial"/>
              </a:rPr>
              <a:t>▪  </a:t>
            </a:r>
            <a:r>
              <a:rPr sz="1350" b="0">
                <a:solidFill>
                  <a:srgbClr val="0F172A"/>
                </a:solidFill>
                <a:latin typeface="Arial"/>
              </a:rPr>
              <a:t>عرض ملفه الضريبي وبياناته.</a:t>
            </a:r>
          </a:p>
          <a:p>
            <a:pPr algn="r" rtl="1">
              <a:lnSpc>
                <a:spcPct val="102000"/>
              </a:lnSpc>
              <a:spcBef>
                <a:spcPts val="0"/>
              </a:spcBef>
              <a:spcAft>
                <a:spcPts val="700"/>
              </a:spcAft>
            </a:pPr>
            <a:r>
              <a:rPr sz="1350" b="0">
                <a:solidFill>
                  <a:srgbClr val="0F172A"/>
                </a:solidFill>
                <a:latin typeface="Arial"/>
              </a:rPr>
              <a:t/>
            </a:r>
            <a:r>
              <a:rPr sz="1350" b="1">
                <a:solidFill>
                  <a:srgbClr val="0E7C66"/>
                </a:solidFill>
                <a:latin typeface="Arial"/>
              </a:rPr>
              <a:t>▪  </a:t>
            </a:r>
            <a:r>
              <a:rPr sz="1350" b="0">
                <a:solidFill>
                  <a:srgbClr val="0F172A"/>
                </a:solidFill>
                <a:latin typeface="Arial"/>
              </a:rPr>
              <a:t>تقديم الطلبات (فتح ملف/فرع/بطاقة...).</a:t>
            </a:r>
          </a:p>
          <a:p>
            <a:pPr algn="r" rtl="1">
              <a:lnSpc>
                <a:spcPct val="102000"/>
              </a:lnSpc>
              <a:spcBef>
                <a:spcPts val="0"/>
              </a:spcBef>
              <a:spcAft>
                <a:spcPts val="700"/>
              </a:spcAft>
            </a:pPr>
            <a:r>
              <a:rPr sz="1350" b="0">
                <a:solidFill>
                  <a:srgbClr val="0F172A"/>
                </a:solidFill>
                <a:latin typeface="Arial"/>
              </a:rPr>
              <a:t/>
            </a:r>
            <a:r>
              <a:rPr sz="1350" b="1">
                <a:solidFill>
                  <a:srgbClr val="0E7C66"/>
                </a:solidFill>
                <a:latin typeface="Arial"/>
              </a:rPr>
              <a:t>▪  </a:t>
            </a:r>
            <a:r>
              <a:rPr sz="1350" b="0">
                <a:solidFill>
                  <a:srgbClr val="0F172A"/>
                </a:solidFill>
                <a:latin typeface="Arial"/>
              </a:rPr>
              <a:t>المراسلات مع المأمورية والإشعارات.</a:t>
            </a:r>
          </a:p>
          <a:p>
            <a:pPr algn="r" rtl="1">
              <a:lnSpc>
                <a:spcPct val="102000"/>
              </a:lnSpc>
              <a:spcBef>
                <a:spcPts val="0"/>
              </a:spcBef>
              <a:spcAft>
                <a:spcPts val="700"/>
              </a:spcAft>
            </a:pPr>
            <a:r>
              <a:rPr sz="1350" b="0">
                <a:solidFill>
                  <a:srgbClr val="0F172A"/>
                </a:solidFill>
                <a:latin typeface="Arial"/>
              </a:rPr>
              <a:t/>
            </a:r>
            <a:r>
              <a:rPr sz="1350" b="1">
                <a:solidFill>
                  <a:srgbClr val="0E7C66"/>
                </a:solidFill>
                <a:latin typeface="Arial"/>
              </a:rPr>
              <a:t>▪  </a:t>
            </a:r>
            <a:r>
              <a:rPr sz="1350" b="0">
                <a:solidFill>
                  <a:srgbClr val="0F172A"/>
                </a:solidFill>
                <a:latin typeface="Arial"/>
              </a:rPr>
              <a:t>متابعة الأخبار الرسمية.</a:t>
            </a:r>
          </a:p>
        </p:txBody>
      </p:sp>
      <p:sp>
        <p:nvSpPr>
          <p:cNvPr id="10" name="Rectangle 9"/>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2" name="TextBox 11"/>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الرابع</a:t>
            </a:r>
          </a:p>
        </p:txBody>
      </p:sp>
      <p:sp>
        <p:nvSpPr>
          <p:cNvPr id="13" name="TextBox 12"/>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مقدّم الشكوى (Complainant)</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الجمهور — بدون تسجيل</a:t>
            </a:r>
          </a:p>
        </p:txBody>
      </p:sp>
      <p:sp>
        <p:nvSpPr>
          <p:cNvPr id="9" name="TextBox 8"/>
          <p:cNvSpPr txBox="1"/>
          <p:nvPr/>
        </p:nvSpPr>
        <p:spPr>
          <a:xfrm>
            <a:off x="548640" y="1234440"/>
            <a:ext cx="11094415" cy="5166360"/>
          </a:xfrm>
          <a:prstGeom prst="rect">
            <a:avLst/>
          </a:prstGeom>
          <a:noFill/>
        </p:spPr>
        <p:txBody>
          <a:bodyPr wrap="square" anchor="t" lIns="25400" rIns="25400" tIns="12700" bIns="12700">
            <a:spAutoFit/>
          </a:bodyPr>
          <a:lstStyle/>
          <a:p>
            <a:pPr algn="r" rtl="1">
              <a:lnSpc>
                <a:spcPct val="102000"/>
              </a:lnSpc>
              <a:spcBef>
                <a:spcPts val="0"/>
              </a:spcBef>
              <a:spcAft>
                <a:spcPts val="700"/>
              </a:spcAft>
            </a:pPr>
            <a:r>
              <a:rPr sz="1700" b="1">
                <a:solidFill>
                  <a:srgbClr val="0A5A4A"/>
                </a:solidFill>
                <a:latin typeface="Arial"/>
              </a:rPr>
              <a:t>الوصف</a:t>
            </a:r>
          </a:p>
          <a:p>
            <a:pPr algn="r" rtl="1">
              <a:lnSpc>
                <a:spcPct val="102000"/>
              </a:lnSpc>
              <a:spcBef>
                <a:spcPts val="0"/>
              </a:spcBef>
              <a:spcAft>
                <a:spcPts val="700"/>
              </a:spcAft>
            </a:pPr>
            <a:r>
              <a:rPr sz="1400" b="0">
                <a:solidFill>
                  <a:srgbClr val="0F172A"/>
                </a:solidFill>
                <a:latin typeface="Arial"/>
              </a:rPr>
              <a:t>أي فرد من الجمهور يبلّغ عن نشاط غير مسجّل أو مخالفة.</a:t>
            </a:r>
          </a:p>
          <a:p>
            <a:pPr algn="r" rtl="1">
              <a:lnSpc>
                <a:spcPct val="102000"/>
              </a:lnSpc>
              <a:spcBef>
                <a:spcPts val="0"/>
              </a:spcBef>
              <a:spcAft>
                <a:spcPts val="700"/>
              </a:spcAft>
            </a:pPr>
            <a:r>
              <a:rPr sz="1700" b="1">
                <a:solidFill>
                  <a:srgbClr val="0A5A4A"/>
                </a:solidFill>
                <a:latin typeface="Arial"/>
              </a:rPr>
              <a:t>أبرز الصلاحيات والمهام</a:t>
            </a:r>
          </a:p>
          <a:p>
            <a:pPr algn="r" rtl="1">
              <a:lnSpc>
                <a:spcPct val="102000"/>
              </a:lnSpc>
              <a:spcBef>
                <a:spcPts val="0"/>
              </a:spcBef>
              <a:spcAft>
                <a:spcPts val="700"/>
              </a:spcAft>
            </a:pPr>
            <a:r>
              <a:rPr sz="1350" b="0">
                <a:solidFill>
                  <a:srgbClr val="0F172A"/>
                </a:solidFill>
                <a:latin typeface="Arial"/>
              </a:rPr>
              <a:t/>
            </a:r>
            <a:r>
              <a:rPr sz="1350" b="1">
                <a:solidFill>
                  <a:srgbClr val="0E7C66"/>
                </a:solidFill>
                <a:latin typeface="Arial"/>
              </a:rPr>
              <a:t>▪  </a:t>
            </a:r>
            <a:r>
              <a:rPr sz="1350" b="0">
                <a:solidFill>
                  <a:srgbClr val="0F172A"/>
                </a:solidFill>
                <a:latin typeface="Arial"/>
              </a:rPr>
              <a:t>تقديم شكوى دون تسجيل دخول.</a:t>
            </a:r>
          </a:p>
          <a:p>
            <a:pPr algn="r" rtl="1">
              <a:lnSpc>
                <a:spcPct val="102000"/>
              </a:lnSpc>
              <a:spcBef>
                <a:spcPts val="0"/>
              </a:spcBef>
              <a:spcAft>
                <a:spcPts val="700"/>
              </a:spcAft>
            </a:pPr>
            <a:r>
              <a:rPr sz="1350" b="0">
                <a:solidFill>
                  <a:srgbClr val="0F172A"/>
                </a:solidFill>
                <a:latin typeface="Arial"/>
              </a:rPr>
              <a:t/>
            </a:r>
            <a:r>
              <a:rPr sz="1350" b="1">
                <a:solidFill>
                  <a:srgbClr val="0E7C66"/>
                </a:solidFill>
                <a:latin typeface="Arial"/>
              </a:rPr>
              <a:t>▪  </a:t>
            </a:r>
            <a:r>
              <a:rPr sz="1350" b="0">
                <a:solidFill>
                  <a:srgbClr val="0F172A"/>
                </a:solidFill>
                <a:latin typeface="Arial"/>
              </a:rPr>
              <a:t>إرفاق بيانات المشكو في حقه ونشاطه وعنوانه وموقعه وصوره.</a:t>
            </a:r>
          </a:p>
          <a:p>
            <a:pPr algn="r" rtl="1">
              <a:lnSpc>
                <a:spcPct val="102000"/>
              </a:lnSpc>
              <a:spcBef>
                <a:spcPts val="0"/>
              </a:spcBef>
              <a:spcAft>
                <a:spcPts val="700"/>
              </a:spcAft>
            </a:pPr>
            <a:r>
              <a:rPr sz="1350" b="0">
                <a:solidFill>
                  <a:srgbClr val="0F172A"/>
                </a:solidFill>
                <a:latin typeface="Arial"/>
              </a:rPr>
              <a:t/>
            </a:r>
            <a:r>
              <a:rPr sz="1350" b="1">
                <a:solidFill>
                  <a:srgbClr val="0E7C66"/>
                </a:solidFill>
                <a:latin typeface="Arial"/>
              </a:rPr>
              <a:t>▪  </a:t>
            </a:r>
            <a:r>
              <a:rPr sz="1350" b="0">
                <a:solidFill>
                  <a:srgbClr val="0F172A"/>
                </a:solidFill>
                <a:latin typeface="Arial"/>
              </a:rPr>
              <a:t>تُوجَّه الشكوى تلقائياً للمأمورية للمعالجة.</a:t>
            </a:r>
          </a:p>
        </p:txBody>
      </p:sp>
      <p:sp>
        <p:nvSpPr>
          <p:cNvPr id="10" name="Rectangle 9"/>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2" name="TextBox 11"/>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الرابع</a:t>
            </a:r>
          </a:p>
        </p:txBody>
      </p:sp>
      <p:sp>
        <p:nvSpPr>
          <p:cNvPr id="13" name="TextBox 12"/>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56032" y="0"/>
            <a:ext cx="54864" cy="68580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45775" cy="45720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600" b="1">
                <a:solidFill>
                  <a:srgbClr val="0D9488"/>
                </a:solidFill>
                <a:latin typeface="Arial"/>
              </a:rPr>
              <a:t>المحور الخامس</a:t>
            </a:r>
          </a:p>
        </p:txBody>
      </p:sp>
      <p:sp>
        <p:nvSpPr>
          <p:cNvPr id="6" name="TextBox 5"/>
          <p:cNvSpPr txBox="1"/>
          <p:nvPr/>
        </p:nvSpPr>
        <p:spPr>
          <a:xfrm>
            <a:off x="822960" y="2743200"/>
            <a:ext cx="10545775" cy="128016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4000" b="1">
                <a:solidFill>
                  <a:srgbClr val="FFFFFF"/>
                </a:solidFill>
                <a:latin typeface="Arial"/>
              </a:rPr>
              <a:t>تسجيل الدخول والأمان</a:t>
            </a:r>
          </a:p>
        </p:txBody>
      </p:sp>
      <p:sp>
        <p:nvSpPr>
          <p:cNvPr id="7" name="TextBox 6"/>
          <p:cNvSpPr txBox="1"/>
          <p:nvPr/>
        </p:nvSpPr>
        <p:spPr>
          <a:xfrm>
            <a:off x="822960" y="4114800"/>
            <a:ext cx="10545775" cy="1097280"/>
          </a:xfrm>
          <a:prstGeom prst="rect">
            <a:avLst/>
          </a:prstGeom>
          <a:noFill/>
        </p:spPr>
        <p:txBody>
          <a:bodyPr wrap="square" anchor="t" lIns="25400" rIns="25400" tIns="12700" bIns="12700">
            <a:spAutoFit/>
          </a:bodyPr>
          <a:lstStyle/>
          <a:p>
            <a:pPr algn="r" rtl="1">
              <a:lnSpc>
                <a:spcPct val="115000"/>
              </a:lnSpc>
              <a:spcBef>
                <a:spcPts val="0"/>
              </a:spcBef>
              <a:spcAft>
                <a:spcPts val="400"/>
              </a:spcAft>
            </a:pPr>
            <a:r>
              <a:rPr sz="1700" b="0">
                <a:solidFill>
                  <a:srgbClr val="B8CDDC"/>
                </a:solidFill>
                <a:latin typeface="Arial"/>
              </a:rPr>
              <a:t>اختيار المأمورية • رقم الحاسب • كلمة المرور • تغييرها لأول مرة • سياسة الصلاحيات</a:t>
            </a:r>
          </a:p>
        </p:txBody>
      </p:sp>
      <p:sp>
        <p:nvSpPr>
          <p:cNvPr id="8" name="TextBox 7"/>
          <p:cNvSpPr txBox="1"/>
          <p:nvPr/>
        </p:nvSpPr>
        <p:spPr>
          <a:xfrm>
            <a:off x="457200" y="6217920"/>
            <a:ext cx="11277295" cy="36576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100" b="0">
                <a:solidFill>
                  <a:srgbClr val="6E8AA0"/>
                </a:solidFill>
                <a:latin typeface="Arial"/>
              </a:rPr>
              <a:t>GeoTax — منظومة إدارة أعمال مصلحة الضرائب المصرية بنظم المعلومات الجغرافية</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منظومة الدخول وسياسة الأمان</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نظرة عامة</a:t>
            </a:r>
          </a:p>
        </p:txBody>
      </p:sp>
      <p:sp>
        <p:nvSpPr>
          <p:cNvPr id="9" name="TextBox 8"/>
          <p:cNvSpPr txBox="1"/>
          <p:nvPr/>
        </p:nvSpPr>
        <p:spPr>
          <a:xfrm>
            <a:off x="548640" y="1234440"/>
            <a:ext cx="11094415" cy="5166360"/>
          </a:xfrm>
          <a:prstGeom prst="rect">
            <a:avLst/>
          </a:prstGeom>
          <a:noFill/>
        </p:spPr>
        <p:txBody>
          <a:bodyPr wrap="square" anchor="t" lIns="25400" rIns="25400" tIns="12700" bIns="12700">
            <a:spAutoFit/>
          </a:bodyPr>
          <a:lstStyle/>
          <a:p>
            <a:pPr algn="r" rtl="1">
              <a:lnSpc>
                <a:spcPct val="102000"/>
              </a:lnSpc>
              <a:spcBef>
                <a:spcPts val="0"/>
              </a:spcBef>
              <a:spcAft>
                <a:spcPts val="700"/>
              </a:spcAft>
            </a:pPr>
            <a:r>
              <a:rPr sz="1700" b="1">
                <a:solidFill>
                  <a:srgbClr val="0A5A4A"/>
                </a:solidFill>
                <a:latin typeface="Arial"/>
              </a:rPr>
              <a:t>ثلاثة مداخل رئيسية من شاشة البداية</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موظف: دخول بالمأمورية + رقم الحاسب + كلمة المرور (أو بريد الإدارة العليا).</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ممول: دخول برقم التسجيل الضريبي، أو تسجيل ممول قائم، أو طلب فتح ملف جديد.</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تقديم شكوى: متاح للجمهور بدون تسجيل دخول.</a:t>
            </a:r>
          </a:p>
          <a:p>
            <a:pPr algn="r" rtl="1">
              <a:lnSpc>
                <a:spcPct val="102000"/>
              </a:lnSpc>
              <a:spcBef>
                <a:spcPts val="0"/>
              </a:spcBef>
              <a:spcAft>
                <a:spcPts val="700"/>
              </a:spcAft>
            </a:pPr>
            <a:r>
              <a:rPr sz="1700" b="1">
                <a:solidFill>
                  <a:srgbClr val="0A5A4A"/>
                </a:solidFill>
                <a:latin typeface="Arial"/>
              </a:rPr>
              <a:t>سياسة الأمان</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كلمة مرور افتراضية عند الإنشاء + إجبار تغييرها عند أول دخول.</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المصادقة عبر Supabase Auth وربط كل حساب بملف Profile ودور محدد.</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صلاحيات الوصول للبيانات محكومة على مستوى قاعدة البيانات (RLS/RPC).</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عزل البيانات: كل موظف يرى نطاق مأموريته ودوره فقط.</a:t>
            </a:r>
          </a:p>
        </p:txBody>
      </p:sp>
      <p:sp>
        <p:nvSpPr>
          <p:cNvPr id="10" name="Rectangle 9"/>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2" name="TextBox 11"/>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الخامس</a:t>
            </a:r>
          </a:p>
        </p:txBody>
      </p:sp>
      <p:sp>
        <p:nvSpPr>
          <p:cNvPr id="13" name="TextBox 12"/>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56032" y="0"/>
            <a:ext cx="54864" cy="68580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45775" cy="45720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600" b="1">
                <a:solidFill>
                  <a:srgbClr val="0D9488"/>
                </a:solidFill>
                <a:latin typeface="Arial"/>
              </a:rPr>
              <a:t>المحور السادس</a:t>
            </a:r>
          </a:p>
        </p:txBody>
      </p:sp>
      <p:sp>
        <p:nvSpPr>
          <p:cNvPr id="6" name="TextBox 5"/>
          <p:cNvSpPr txBox="1"/>
          <p:nvPr/>
        </p:nvSpPr>
        <p:spPr>
          <a:xfrm>
            <a:off x="822960" y="2743200"/>
            <a:ext cx="10545775" cy="128016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4000" b="1">
                <a:solidFill>
                  <a:srgbClr val="FFFFFF"/>
                </a:solidFill>
                <a:latin typeface="Arial"/>
              </a:rPr>
              <a:t>تحليل جميع شاشات التطبيق</a:t>
            </a:r>
          </a:p>
        </p:txBody>
      </p:sp>
      <p:sp>
        <p:nvSpPr>
          <p:cNvPr id="7" name="TextBox 6"/>
          <p:cNvSpPr txBox="1"/>
          <p:nvPr/>
        </p:nvSpPr>
        <p:spPr>
          <a:xfrm>
            <a:off x="822960" y="4114800"/>
            <a:ext cx="10545775" cy="1097280"/>
          </a:xfrm>
          <a:prstGeom prst="rect">
            <a:avLst/>
          </a:prstGeom>
          <a:noFill/>
        </p:spPr>
        <p:txBody>
          <a:bodyPr wrap="square" anchor="t" lIns="25400" rIns="25400" tIns="12700" bIns="12700">
            <a:spAutoFit/>
          </a:bodyPr>
          <a:lstStyle/>
          <a:p>
            <a:pPr algn="r" rtl="1">
              <a:lnSpc>
                <a:spcPct val="115000"/>
              </a:lnSpc>
              <a:spcBef>
                <a:spcPts val="0"/>
              </a:spcBef>
              <a:spcAft>
                <a:spcPts val="400"/>
              </a:spcAft>
            </a:pPr>
            <a:r>
              <a:rPr sz="1700" b="0">
                <a:solidFill>
                  <a:srgbClr val="B8CDDC"/>
                </a:solidFill>
                <a:latin typeface="Arial"/>
              </a:rPr>
              <a:t>شرح كل شاشة: الهدف • العناصر والأزرار والأيقونات • السيناريو • الفائدة • مكان اللقطة</a:t>
            </a:r>
          </a:p>
        </p:txBody>
      </p:sp>
      <p:sp>
        <p:nvSpPr>
          <p:cNvPr id="8" name="TextBox 7"/>
          <p:cNvSpPr txBox="1"/>
          <p:nvPr/>
        </p:nvSpPr>
        <p:spPr>
          <a:xfrm>
            <a:off x="457200" y="6217920"/>
            <a:ext cx="11277295" cy="36576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100" b="0">
                <a:solidFill>
                  <a:srgbClr val="6E8AA0"/>
                </a:solidFill>
                <a:latin typeface="Arial"/>
              </a:rPr>
              <a:t>GeoTax — منظومة إدارة أعمال مصلحة الضرائب المصرية بنظم المعلومات الجغرافية</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اختيار نوع المستخدم</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1 — بوابة الدخول</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RoleSelectScreen  ·  شاشة البداية</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بوابة الدخول: توجيه المستخدم لمساره الصحيح (موظف / ممول / شكوى).</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شعار GeoTax وعنوان المنظومة في الأعلى.</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بطاقة «موظف» (أيقونة درع ✔) → دخول الموظفين.</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بطاقة «ممول» (أيقونة شخص) → دخول/تسجيل الممول.</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بطاقة «تقديم شكوى» (أيقونة تنبيه) → متاحة للجمهور بلا تسجيل.</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سهم ◄ على كل بطاقة يوضح الانتقال.</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يفتح المستخدم التطبيق فيجد ثلاث بطاقات واضحة، يضغط البطاقة المناسبة لدوره فينتقل لشاشة الدخول الخاصة به.</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تبسيط نقطة الدخول ومنع الالتباس بين المستخدمين المختلفين.</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التصميم يعتمد الأبيض والأخضر مع أيقونات حديثة، ومتوافق مع الاتجاه من اليمين لليسار.</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دخول الموظف</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2 — الموظفون</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EmployeeLoginScreen  ·  الموظفون</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مصادقة الموظف بربط رقم الحاسب بالمأمورية لاشتقاق حساب فريد.</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قائمة اختيار «المأمورية» (Modal) أو «الإدارة العليا (مركزي)».</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حقل «رقم الحاسب» (أو البريد الإلكتروني للإدارة العليا).</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حقل «كلمة المرور» (الافتراضي 12345).</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زر «دخول» + تنبيه بتغيير كلمة المرور أول مرة.</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سهم رجوع أعلى الشاشة.</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يختار الموظف مأموريته ثم يُدخل رقم حاسبه وكلمة مروره؛ يشتق النظام بريداً داخلياً (emp&lt;رقم&gt;@office&lt;كود&gt;) ويصادق عليه.</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ربط الهوية بالمأمورية يضمن عزل البيانات ومنع تداخل الحسابات بين المأموريات.</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الإدارة العليا تختار «مركزي» وتدخل ببريدها مباشرة؛ الاشتقاق التلقائي للبريد يبسّط الأمر على الموظف.</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دخول وتسجيل الممول</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3 — الممولون</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TaxpayerLoginScreen  ·  الممولون</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تمكين الممول من الدخول أو التسجيل بثلاثة أوضاع حسب حالته.</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تبويبات: «دخول» / «ممول مسجَّل» / «ملف جديد».</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دخول: رقم التسجيل الضريبي + كلمة المرور.</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ممول مسجَّل: الاسم + القومي + الهاتف + الرقم الضريبي (ربط بسجل قائم).</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ملف جديد: اختيار المأمورية + الاسم + القومي + الهاتف (طلب فتح ملف).</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زر إجراء متغيّر حسب الوضع (دخول/تسجيل/إرسال الطلب).</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الممول القائم يربط حسابه ببياناته في المأمورية؛ الممول الجديد يرسل طلب فتح ملف يظهر لمأمور الحصر في المأمورية المختارة.</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يفتح قناة رقمية مباشرة للممول ويحوّل «فتح الملف» إلى طلب إلكتروني قابل للتتبع.</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الممول الجديد يُسجَّل بحالة «طلب فتح ملف» في سجل الممولين ليظهر ميدانياً للمأمور.</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تغيير كلمة المرور (أول دخول)</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4 — الأمان</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ChangePasswordScreen  ·  الأمان</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فرض تغيير كلمة المرور المؤقتة قبل استخدام النظام.</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حقل كلمة المرور الجديدة + حقل التأكيد.</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تحقق: 6 أحرف على الأقل + تطابق الحقلين.</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زر «حفظ كلمة المرور» (RPC آمن على الخادم).</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زر «تسجيل الخروج» للتراجع.</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عند أول دخول يُحوَّل المستخدم إجبارياً لهذه الشاشة ولا يكمل حتى يعيّن كلمة مرور جديدة خاصة به.</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يقطع الطريق على استخدام كلمات المرور الافتراضية ويرفع أمان الحسابات فوراً.</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التغيير يتم عبر دالة خادم change_my_password وليس على الجهاز، لحماية العملية.</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الرئيسية — الإدارة العليا</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5 — الإدارة العليا</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AdminHomeScreen  ·  الإدارة العليا</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لوحة انطلاق مركزية لكل صلاحيات الإدارة العليا.</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ترويسة باسم المستخدم + أيقونة الملف الشخصي.</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بلاطات: الأخبار، المأموريات، المستخدمون، الخريطة، التقارير.</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بلاطات: سجل العمليات، المراسلات، الشكاوى، الملف الشخصي.</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كل بلاطة أيقونة ملوّنة + عنوان.</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يفتح المسؤول المركزي لوحته فيصل بضغطة واحدة إلى أي وحدة على مستوى الجمهورية.</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رؤية شاملة وتحكم مركزي في المأموريات ورؤسائها والتقارير الكلية.</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تُظهر البلاطات الوحدات المتاحة لهذا الدور فقط — انعكاس مباشر لمبدأ الصلاحيات.</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الرئيسية — رئيس المأمورية</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6 — رئيس المأمورية</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OfficeHeadHomeScreen  ·  رئيس المأمورية</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لوحة إدارة المأمورية بالكامل لرئيسها.</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ترويسة تعرض المأمورية والمحافظة.</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بلاطات: الأخبار، إدارة المستخدمين، إدارة الملفات، الخريطة.</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بلاطات: التقارير، المراسلات، الشكاوى، سجل العمليات، الملف الشخصي.</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يتابع رئيس المأمورية أداء مأموريته وينشئ مدير الحاسب وينقل الملفات ويطّلع على التقارير.</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تركيز الإشراف على نطاق المأمورية مع أدوات رقابة (سجل عمليات + تقارير).</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«إدارة الملفات» أداة خاصة لنقل الاختصاص بين الإدارات داخل المأمورية.</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الرئيسية — مدير الحاسب الآلي</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7 — مدير الحاسب</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ITManagerHomeScreen  ·  مدير الحاسب</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لوحة الإدارة الفنية والتشغيلية للمأمورية.</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بلاطات: الأخبار، إدارة المستخدمين، توزيع الاختصاصات، الخريطة.</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بلاطات: التقارير، المراسلات، سجل العمليات، الملف الشخصي.</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ينشئ مدير الحاسب حسابات الفريق ويضبط توزيع الاختصاصات ويراقب سجل العمليات.</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ضبط تشغيلي دقيق للمأمورية وتفعيل الفرق دون تدخل الإدارة العليا.</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توزيع الاختصاصات وحدة مميزة لهذا الدور تحدّد مسؤوليات كل فريق.</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الرئيسية — مدير الحصر</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8 — إدارة الحصر</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SurveyManagerHomeScreen  ·  إدارة الحصر</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لوحة إدارة شعبة الحصر والاعتماد.</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بلاطات: الأخبار، توزيع مهام الحصر، المراجعة والاعتماد.</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بلاطات: الخريطة، التقارير، مأمورو الحصر، المراسلات، الملف الشخصي.</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يوزّع مدير الحصر المهام، ويفتح شاشة المراجعة والاعتماد لاعتماد أعمال الشعبة.</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فصل واضح بين التنفيذ (المأمور) والاعتماد (المدير) يرفع جودة البيانات.</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«المراجعة والاعتماد» تفتح إدارة الحصر في وضع اعتماد المهام قيد المراجعة.</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الرئيسية — مراجع الحصر</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9 — إدارة الحصر</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SurveyReviewerHomeScreen  ·  إدارة الحصر</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لوحة تخطيط وإسناد ومتابعة أعمال الحصر.</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بلاطات: الأخبار، خطة الحصر، إسناد الملفات، متابعة المهام.</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بلاطات: الخريطة، التقارير، المراسلات، الملف الشخصي.</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يبني المراجع خطة الحصر، يسند الملفات للمأمورين، ويتابع تنفيذها وخطوط سيرها.</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تحويل الخطة إلى مهام موزّعة قابلة للمتابعة اللحظية.</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«متابعة المهام» تعرض حالة كل مهمة مُسندة وتقدّمها.</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الرئيسية — مأمور الحصر</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10 — إدارة الحصر</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SurveyorHomeScreen  ·  إدارة الحصر</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لوحة العمل الميداني لمأمور الحصر.</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بلاطات: الأخبار، البحث المركزي، بحث داخل المأمورية، أعمال الحصر.</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بلاطات: الخريطة، التقارير، المراسلات، الملف الشخصي.</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يبدأ المأمور يومه بالبحث عن الممول، ثم يفتح «أعمال الحصر» لتنفيذ المعاينات والإضافات.</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تجميع كل أدوات المأمور الميدانية في شاشة واحدة سريعة الوصول.</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يجمع بين البحث المركزي (كل الجمهورية) والبحث داخل المأمورية (بيانات كاملة).</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الرئيسية — مدير الفحص</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11 — إدارة الفحص</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ExamManagerHomeScreen  ·  إدارة الفحص</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لوحة إدارة شعبة الفحص والاعتماد.</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بلاطات: الأخبار، توزيع مهام الفحص، المراجعة والاعتماد.</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بلاطات: الخريطة، التقارير، مأمورو الفحص، المراسلات، الملف الشخصي.</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يوزّع مدير الفحص المهام ويعتمد المعاينات المقدّمة من المأمورين.</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ضبط جودة نتائج الفحص عبر اعتماد مركزي داخل الشعبة.</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«المراجعة والاعتماد» تعرض المعاينات المقدّمة للاعتماد فقط.</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الرئيسية — مراجع الفحص</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12 — إدارة الفحص</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ExamReviewerHomeScreen  ·  إدارة الفحص</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لوحة تخطيط وإسناد ومتابعة أعمال الفحص.</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بلاطات: الأخبار، خطة الفحص، إسناد المهام، متابعة المهام.</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بلاطات: الخريطة، التقارير، المراسلات، الملف الشخصي.</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يخطّط المراجع للفحص ويسند المهام ويتابع المعاينات قبل الاعتماد.</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تنظيم دورة الفحص وضمان جاهزية المعاينات للاعتماد.</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يشبه مراجع الحصر في المنطق لكن على بيانات الفحص.</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الرئيسية — مأمور الفحص</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13 — إدارة الفحص</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ExaminerHomeScreen  ·  إدارة الفحص</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لوحة العمل الميداني لمأمور الفحص.</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بلاطات: الأخبار، أعمال الفحص، الخريطة.</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بلاطات: التقارير، المراسلات، الملف الشخصي.</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يفتح المأمور «أعمال الفحص» لتنفيذ المعاينات وطلبات الحضور والتوقفات.</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تركيز أدوات الفحص الميداني في مدخل واحد.</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أعمال الفحص تشمل المعاينة وطلب الحضور والموعد والتوقف الجزئي والنهائي.</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الرئيسية — الموظف العام</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14 — الموظفون</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StaffHomeScreen  ·  الموظفون</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شاشة مبسّطة لموظف مرتبط بإدارة واحدة فقط.</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بطاقة إدارة الموظف حسب دوره (حصر/فحص).</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اختصارات سريعة: الخريطة، المراسلات.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زر تسجيل الخروج مع تأكيد.</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يفتح الموظف شاشته فيجد إدارته مباشرة + اختصارين سريعين.</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تبسيط تجربة الموظف ذي الدور الواحد وتقليل التشتت.</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إن لم تُسنَد له إدارة تظهر رسالة توجّهه للتواصل مع المدير.</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الرئيسية — الممول</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15 — الممول</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TaxpayerHomeScreen  ·  الممول</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بوابة الممول لملفه وطلباته وتواصله مع المأمورية.</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بلاطات: ملفي، آخر الأخبار، الطلبات، المراسلات، الإشعارات (بعدّاد غير المقروء).</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بلاطة «طلب فتح ملف ضريبي» تظهر لمن لا يملك ملفاً بعد.</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ترويسة تعرض الاسم والرقم الضريبي أو تنبيه غياب الملف.</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يتابع الممول ملفه وطلباته وإشعاراته؛ ومن لا ملف له يقدّم طلب فتح ملف مباشرة.</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قناة خدمة ذاتية تقلّل زيارات المأمورية وتسرّع الإجراءات.</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بلاطة «ملفي» معطّلة حتى يُفتح ملف ضريبي فعلي للممول.</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الخريطة التفاعلية</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16 — GIS</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MapScreen  ·  GIS</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عرض كل الممولين والفروع والمخازن على خريطة حية مع بحث وترميز لوني.</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شريط بحث (رقم/اسم/نشاط/عنوان).</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مفتاح ألوان: نشط/توقف جزئي/توقف نهائي/جديد/قيد الإجراء/فرع/مخزن.</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علامات (Markers) ملوّنة لكل كيان + نافذة بيانات عند الضغط.</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شريط سفلي يعرض «عدد النقاط المعروضة».</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يفتح الموظف الخريطة، يبحث أو يصفّي، ثم يضغط علامة ممول لينتقل مباشرة إلى ملفه.</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تحويل البيانات إلى رؤية جغرافية فورية تكشف الحالة والتوزيع والفجوات.</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الضغط على علامة ممول ينقل لملفه؛ الألوان تعكس حالة النشاط لحظياً.</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البحث المركزي</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17 — الحصر</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CentralSearchScreen  ·  الحصر</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البحث عن أي ممول على مستوى الجمهورية ببيانات محدودة.</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حقل «رقم التسجيل الضريبي» + زر «بحث».</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تنبيه: لا يظهر الموقع ولا خط السير ولا يُسمح بالتعديل.</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بطاقة نتيجة: الاسم، النشاط، تاريخ البدء، العنوان، المأمورية المختصة.</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يبحث المأمور برقم التسجيل فيعرف فوراً المأمورية المختصة بالممول ولو خارج مأموريته.</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منع الازدواج الضريبي وتحديد الاختصاص بسرعة عبر الجمهورية.</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البيانات محدودة عمداً (بلا موقع/تعديل) حفاظاً على الخصوصية بين المأموريات.</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قائمة الممولين / بحث المأمورية</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18 — الحصر</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TaxpayersListScreen  ·  الحصر</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عرض وبحث ممولي المأمورية بكامل بياناتهم مع تصنيف بالمصدر.</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أقسام حسب المصدر: الكل / المرفوعة / الحصر / طلبات.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بحث متعدد المعايير داخل المأمورية.</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وضعان: عرض (view) أو تعديل (modify).</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الانتقال لملف الممول أو نموذج التعديل.</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يستعرض المأمور ممولي مأموريته، يصفّيهم بالمصدر أو البحث، ثم يفتح الملف أو يعدّله.</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وصول كامل ودقيق لبيانات المأمورية عكس البحث المركزي المحدود.</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الوضع (عرض/تعديل) يتحكم في السماح بالإضافات والتعديلات.</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ملف الممول</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19 — الحصر</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TaxpayerFileScreen  ·  الحصر</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العرض الموحّد الشامل لكل بيانات ممول واحد.</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البيانات الأساسية: الاسم، النشاط، العنوان، الحالة، الموقع.</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الفروع والمخازن والأنشطة الفرعية المرتبطة.</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الصور والمرفقات وحالة النشاط (نشط/توقف).</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روابط للإجراءات (تعديل/إضافة/خريطة).</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يفتح الموظف ملف الممول فيرى صورته الكاملة في مكان واحد قبل أي إجراء.</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إنهاء تشتت البيانات: كل ما يخص الممول في ملف واحد مترابط.</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الملف هو الوحدة المركزية التي ترتبط بها كل الجداول الأخرى.</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الحصر الميداني</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20 — الحصر</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EnumerationFormScreen  ·  الحصر</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تسجيل نشاط جديد على الطبيعة على مرحلتين مع الموقع والصور.</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حقول بيانات النشاط والممول ورقم التسجيل.</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التقاط الموقع الجغرافي GPS + دقة القراءة.</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التقاط/إرفاق صور المعاينة.</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حفظ المعاينة على مرحلتين (بيانات ثم توثيق).</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يقف المأمور أمام المنشأة، يملأ البيانات، يلتقط الموقع والصور، ثم يحفظ الحصر.</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توثيق ميداني لا يقبل التزوير: موقع + صور + وقت + منفّذ.</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المرحلتان تضمنان اكتمال البيانات قبل الاعتماد.</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أعمال شعبة الحصر</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21 — الحصر</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SurveyorWorksScreen  ·  الحصر</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مركز أدوات المأمور: فتح ملف، طلبات، مهام، أعمال أخرى.</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فتح ملف حصر على الطبيعة.</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الطلبات الواردة من الممولين.</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المهام الواردة من مراجع الحصر مع خطوط السير.</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أعمال الحصر الأخرى (إضافات وتعديلات).</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ينطلق المأمور من هذه الشاشة لأي مهمة حصر يومية.</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تنظيم عمل المأمور في أربعة مسارات واضحة.</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تربط بين العمل المبادَر (فتح ملف) والعمل المُسنَد (المهام).</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أعمال الحصر الأخرى</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22 — الحصر</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OtherWorksScreen  ·  الحصر</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مدخل الإضافات والتعديلات على ملفات قائمة.</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إضافة نشاط فرعي.</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إضافة فرع.</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إضافة مخزن.</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تغيير العنوان.</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يختار المأمور نوع الإضافة/التعديل ثم يحدد الممول المستهدف.</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إبقاء ملف الممول محدّثاً بكل تغييرات نشاطه.</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كل إضافة تُسجَّل بموقعها الخاص لتظهر على الخريطة.</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إضافة فرع</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23 — الحصر</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AddBranchScreen  ·  الحصر</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تسجيل فرع جديد لممول مع موقعه وصوره.</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اسم الفرع + العنوان.</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التقاط الموقع الجغرافي للفرع.</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إرفاق صور الفرع.</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حفظ وربط بالممول.</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يزور المأمور الفرع، يسجّل بياناته وموقعه، فيرتبط تلقائياً بملف الممول.</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حصر كامل لمنافذ النشاط لا المقر الرئيسي فقط.</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الفرع يظهر بلون بنفسجي مميز على الخريطة.</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إضافة مخزن</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24 — الحصر</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AddWarehouseScreen  ·  الحصر</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تسجيل مخزن تابع لممول مع موقعه.</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عنوان المخزن.</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التقاط الموقع الجغرافي.</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إرفاق الصور.</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حفظ وربط بالممول.</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يسجّل المأمور المخزن وموقعه ليُضاف لملف الممول.</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كشف مخازن قد تخفي نشاطاً غير مُصرّح به.</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المخزن يظهر بلون فيروزي مميز على الخريطة.</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إضافة نشاط فرعي</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25 — الحصر</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AddSubActivityScreen  ·  الحصر</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تسجيل نشاط فرعي إضافي لممول قائم.</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اسم النشاط الفرعي + الوصف.</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ربط بالممول.</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حفظ.</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عند اكتشاف نشاط إضافي للممول يسجّله المأمور كنشاط فرعي.</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دقة أعلى في توصيف نشاط الممول وأوعيته الضريبية.</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يُغني ملف الممول ببيانات نشاطه الحقيقي الكامل.</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التعديلات (تغيير عنوان...)</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26 — الحصر</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ModificationFormScreen  ·  الحصر</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تسجيل تعديل على بيانات ممول (عنوان/فرع/مخزن/نشاط).</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اختيار نوع التعديل.</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الحقول حسب النوع + الموقع الجديد إن لزم.</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حفظ التعديل مرتبطاً بالممول.</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يفتح المأمور نموذج التعديل من ملف الممول ويسجّل التغيير.</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سجل تاريخي للتغيرات على النشاط بدل الكتابة فوق البيانات.</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أنواع التعديل معرّفة مسبقاً لضمان التوحيد.</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المهام الواردة</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27 — المهام</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MyTasksScreen  ·  المهام</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عرض المهام المُسندة للموظف مع أولوياتها وحالاتها.</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قائمة المهام: النوع، الأولوية، تاريخ التنفيذ، الحالة.</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ألوان الحالة (جديدة/قيد التنفيذ/تم/مؤجلة/ملغاة).</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فتح تفاصيل المهمة.</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يفتح المأمور مهامه الواردة مرتّبة بالأولوية ويبدأ تنفيذها.</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لا مهمة تضيع: كل عمل مُسنَد مرئي ومؤرّخ ومُتابَع.</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الأولويات: عاجلة/مرتفعة/عادية/منخفضة.</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تفاصيل المهمة</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28 — المهام</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TaskDetailScreen  ·  المهام</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تفاصيل مهمة واحدة وملفاتها وخط سيرها.</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الملفات المشمولة بالمهمة (taxpayer_ids).</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الأولوية، الموعد، الملاحظات، الصور.</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تحديث الحالة (بدء/تأجيل/إتمام).</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يفتح المأمور المهمة، يطّلع على ملفاتها وخط سيرها، وينفّذها ويحدّث حالتها.</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متابعة دقيقة لتقدّم كل مهمة حتى إتمامها.</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تسجّل أوقات البدء والإتمام تلقائياً.</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إسناد المهام</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29 — المهام</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AssignTaskScreen  ·  المهام</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إسناد مهام حصر/فحص للمأمورين مع تحديد الملفات والأولوية والموعد.</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اختيار نوع المهمة (حصر/فحص).</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اختيار المأمور المُسنَد إليه.</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تحديد الملفات (الممولين) والأولوية والموعد.</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إضافة ملاحظات وحفظ الإسناد.</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يبني المراجع/المدير المهمة ويحدد منفّذها وملفاتها ويرسلها فتظهر لدى المأمور فوراً.</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توزيع عادل وموثّق للعمل مع متابعة لاحقة كاملة.</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تدعم إسناد الحصر والفحص من نفس الشاشة حسب النوع.</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متابعة المهام</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30 — المهام</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MyAssignedTasksScreen  ·  المهام</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متابعة المهام التي أسندها المستخدم وحالة تنفيذها.</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قائمة المهام المُسندة + حالاتها.</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نسبة الإنجاز والمهام المتأخرة.</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الاطلاع على تفاصيل كل مهمة.</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يتابع المراجع/المدير ما أسنده ويتدخل عند التأخير.</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رقابة لحظية على أداء الفريق الميداني.</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للمدير: تعمل كبوابة اعتماد المعاينات المقدّمة.</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خطة الحصر</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31 — الحصر</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SurveyPlansScreen  ·  الحصر</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إعداد ومتابعة خطة الحصر الزمنية.</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إنشاء خطط حصر بفترات وأهداف.</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ربط الخطة بالإسناد والتنفيذ.</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متابعة تقدّم الخطة.</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يضع المراجع خطة الحصر ثم يترجمها إلى مهام مُسندة.</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تحويل العمل من رد فعل إلى تخطيط استباقي.</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الخطة مرجع لقياس الإنجاز الدوري.</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خطة الفحص</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32 — الفحص</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ExamPlansScreen  ·  الفحص</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إعداد ومتابعة خطة الفحص الزمنية.</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إنشاء خطط فحص بفترات وأهداف.</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ربطها بالإسناد والمعاينات.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متابعة التقدّم.</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يضع مراجع الفحص الخطة ثم يوزّعها مهاماً على المأمورين.</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انتظام دورة الفحص وقياس إنجازها.</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نظير خطة الحصر في شعبة الفحص.</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أعمال الفحص</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33 — الفحص</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ExaminerWorksScreen  ·  الفحص</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مركز أدوات مأمور الفحص (ويتكيّف للمدير كشاشة اعتماد).</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المعاينات، طلب حضور، تحديد موعد.</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إخطار توقف جزئي، إخطار توقف نهائي.</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المهام الواردة (للمأمور) / المهام قيد المراجعة (للمدير).</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يفتح المأمور أدواته لتنفيذ الفحص؛ ويرى المدير المهام قيد الاعتماد فقط.</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شاشة واحدة ذكية تتكيّف مع دور المستخدم.</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المدير يرى: المهام قيد المراجعة + الطلبات + التقارير فقط.</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معاينة فحص</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34 — الفحص</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InspectionFormScreen  ·  الفحص</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تنفيذ معاينة ميدانية وتسجيل نتيجتها مع موقع فحص مستقل.</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تاريخ ووقت المعاينة (بداية/نهاية).</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النتيجة والملاحظات.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موقع الفحص الجغرافي المستقل + صور + مستندات.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حفظ وربط بالممول.</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ينفّذ المأمور المعاينة، يسجّل التوقيت والنتيجة والموقع والمستندات.</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توثيق كامل لواقعة الفحص يصعب الطعن فيه.</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موقع الفحص مستقل عن موقع الحصر (قد يختلفان).</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طلب حضور</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35 — الفحص</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AttendanceRequestFormScreen  ·  الفحص</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إخطار الممول رسمياً بالحضور للمأمورية.</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تاريخ ووقت الحضور المطلوب.</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سبب الحضور + ملاحظات.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حفظ وإرسال إخطار للممول.</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يطلب المأمور حضور الممول فيصله إشعار بالموعد والسبب.</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توثيق الإخطارات وضمان وصولها للممول.</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يظهر الطلب في إشعارات الممول.</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تحديد موعد معاينة</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36 — الفحص</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AppointmentFormScreen  ·  الفحص</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تحديد موعد مسبق للمعاينة وإخطار الممول.</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تاريخ ووقت الموعد.</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ملاحظات + حالة الموعد.</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حفظ وإخطار الممول.</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يحدد المأمور موعد المعاينة مسبقاً فيُخطَر الممول به.</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تنظيم المعاينات وتقليل الزيارات الفاشلة.</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يتكامل مع إشعارات الممول.</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إخطار توقف جزئي</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37 — الفحص</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PartialStopFormScreen  ·  الفحص</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تسجيل توقف جزئي لنشاط الممول.</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تاريخ التوقف + السبب + ملاحظات + صور.</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تحديث حالة النشاط.</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حفظ.</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عند رصد توقف جزئي يسجّله المأمور فيتغيّر لون الممول لأصفر على الخريطة.</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رصد لحظي لحالة النشاط ينعكس على الخريطة والتقارير.</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الحالة الجزئية تعني نشاطاً متعثراً لا متوقفاً كلياً.</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إخطار توقف نهائي</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38 — الفحص</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FinalStopFormScreen  ·  الفحص</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تسجيل توقف نهائي لنشاط الممول.</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تاريخ التوقف + السبب + ملاحظات + صور.</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تحديث الحالة لنهائي.</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حفظ.</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عند التوقف النهائي يسجّله المأمور فيتحوّل لون الممول لأحمر على الخريطة.</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تحديث دقيق للقاعدة الضريبية بإخراج الأنشطة المنتهية.</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يميّز التوقف النهائي عن الجزئي في الحالة واللون.</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الطلبات (الإدارة)</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39 — الطلبات</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RequestsListScreen  ·  الطلبات</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عرض ومعالجة طلبات الممولين الواردة لكل إدارة.</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قائمة الطلبات حسب الإدارة + حالة كل طلب بلون.</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أنواع طلبات الحصر والفحص المتعددة.</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فتح الطلب لمعالجته.</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يفتح الموظف الطلبات الواردة، يعالجها بالترتيب حسب حالتها.</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تحويل التعامل الورقي مع الطلبات إلى مسار رقمي متتبَّع.</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الحالات: جديد/تحت المراجعة/مطلوب استيفاء/معتمد/مرفوض/مغلق.</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معالجة الطلب</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40 — الطلبات</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RequestDetailScreen  ·  الطلبات</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تفاصيل طلب واحد واتخاذ قرار بشأنه.</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بيانات مقدّم الطلب والنشاط والموقع.</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تغيير الحالة + كتابة الرد + تحديد موعد.</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حفظ القرار وإخطار الممول.</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يراجع الموظف الطلب، يطلب استيفاءً أو يعتمد أو يرفض، ويردّ على الممول.</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قرار موثّق ومنسوب لمنفّذه مع إخطار فوري للممول.</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كل تغيير حالة يُسجَّل ويصل الممول كإشعار.</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طلب جديد (الممول)</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41 — الطلبات</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NewRequestFormScreen  ·  الطلبات</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تقديم الممول طلباً جديداً لإدارة معيّنة.</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اختيار نوع الطلب (حصر/فحص).</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بيانات الطلب والموقع إن لزم.</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إرسال الطلب.</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يقدّم الممول طلبه إلكترونياً فيصل مباشرة للإدارة المختصة.</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خدمة ذاتية تلغي الحضور الورقي لتقديم الطلبات.</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«فتح ملف ضريبي» أحد أهم الأنواع للممول الجديد.</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طلباتي (الممول)</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42 — الطلبات</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TaxpayerRequestsScreen  ·  الطلبات</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متابعة الممول لطلباته وحالاتها وردود المأمورية.</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قائمة طلبات الممول + حالة كل طلب.</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الرد والموعد إن وُجد.</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تقديم طلب جديد.</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يتابع الممول طلباته من هاتفه ويعرف حالتها والرد عليها.</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شفافية كاملة تجاه الممول تقلّل الاستفسارات.</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يعكس مباشرة قرارات الموظف على شاشة معالجة الطلب.</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تقديم شكوى (عام)</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43 — الشكاوى</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ComplaintFormScreen  ·  الشكاوى</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تمكين الجمهور من الإبلاغ عن نشاط أو مخالفة دون تسجيل.</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بيانات مقدّم الشكوى (اختياري) والمشكو في حقه.</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النشاط والعنوان والموقع الجغرافي.</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تفاصيل + صور + إرسال.</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يفتح أي مواطن الشاشة من البداية، يملأ الشكوى ويرسلها فتصل للمأمورية.</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قناة مجتمعية لاكتشاف الأنشطة غير المسجّلة.</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متاحة بلا تسجيل دخول لتشجيع الإبلاغ.</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قائمة الشكاوى</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44 — الشكاوى</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ComplaintsListScreen  ·  الشكاوى</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عرض ومتابعة الشكاوى الواردة للمأمورية.</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قائمة الشكاوى + حالتها (جديد/قيد المراجعة/محوّل/منتهي).</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فتح الشكوى لمعالجتها.</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يستعرض الموظف الشكاوى ويبدأ معالجتها بحسب حالتها.</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عدم ضياع أي بلاغ ومتابعته حتى الإغلاق.</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الشكوى تحمل موقعاً يسهّل التحقق الميداني.</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تفاصيل الشكوى</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45 — الشكاوى</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ComplaintDetailScreen  ·  الشكاوى</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تفاصيل شكوى واحدة واتخاذ إجراء بشأنها.</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بيانات الشكوى كاملة + الصور + الموقع.</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تغيير الحالة/التحويل للمعاينة.</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حفظ الإجراء.</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يراجع الموظف الشكوى، يحوّلها لمعاينة أو يغلقها بعد التحقق.</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مسار واضح من البلاغ إلى الإجراء الميداني.</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قد تتحول الشكوى إلى مهمة حصر/فحص.</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المراسلات</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46 — التواصل</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ConversationsScreen  ·  التواصل</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قائمة محادثات المستخدم مع عدّاد الرسائل غير المقروءة.</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قائمة جهات التواصل + آخر رسالة + عدّاد غير مقروء.</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فتح المحادثة.</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يفتح المستخدم مراسلاته ويكمل أي محادثة أو يبدأ جديدة.</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قناة تواصل رسمية موثّقة بين المصلحة والممول والزملاء.</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تعمل للموظفين والممولين معاً.</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المحادثة</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47 — التواصل</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ChatScreen  ·  التواصل</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شاشة الرسائل المباشرة بين طرفين مع المرفقات.</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فقاعات الرسائل + التوقيت + حالة القراءة.</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إرسال نص ومرفقات.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تحديث فوري.</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يتبادل الطرفان الرسائل والمرفقات في سياق موثّق.</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تسريع حسم الاستفسارات دون زيارات أو مكالمات.</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الرسائل مرتبطة بهوية الطرفين ومؤرّخة.</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الأخبار</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48 — الأخبار</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NewsListScreen  ·  الأخبار</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عرض الأخبار والتعميمات الرسمية حسب الجمهور المستهدف.</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قائمة الأخبار بعناوينها وتواريخها.</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استهداف: الكل/مأمورية/دور.</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فتح الخبر كاملاً.</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يطّلع المستخدم على آخر التعميمات الموجّهة له.</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قناة تعميم رسمية موحّدة بدل الرسائل المتفرقة.</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الاستهداف يضمن وصول الخبر للفئة الصحيحة.</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إضافة/تعديل خبر</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49 — الأخبار</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NewsFormScreen  ·  الأخبار</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إنشاء أو تحرير خبر وتحديد جمهوره.</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العنوان + المحتوى.</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اختيار الجمهور (الكل/مأمورية/دور).</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نشر/تحديث.</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ينشئ المسؤول الخبر ويحدد جمهوره ثم ينشره.</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تحكم مرن في التعميمات الرسمية.</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متاح للأدوار ذات صلاحية النشر.</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الإشعارات</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50 — الإشعارات</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NotificationsScreen  ·  الإشعارات</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مركز الإشعارات الموحّد لكل المستخدمين.</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قائمة الإشعارات بأنواعها (رسالة/مهمة/طلب/موعد/حضور/اعتماد).</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تمييز المقروء + الانتقال للعنصر المرتبط.</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يفتح المستخدم إشعاراته وينتقل بضغطة للعنصر المعني.</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لا معلومة تفوت: كل حدث مهم يصل صاحبه فوراً.</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مدعومة بإشعارات الدفع (Push) عبر التوكن.</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الملف الشخصي</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51 — الحساب</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ProfileScreen  ·  الحساب</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عرض بيانات المستخدم وإدارة حسابه.</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الاسم، الدور، المأمورية، رقم الحاسب/الرقم الضريبي.</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الصورة الشخصية.</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تسجيل الخروج.</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يراجع المستخدم بياناته ويسجّل الخروج عند الحاجة.</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شفافية هوية المستخدم داخل النظام.</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الدور والمأمورية يحددان ما يراه المستخدم.</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سجل العمليات (Audit Log)</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52 — الرقابة</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AuditLogScreen  ·  الرقابة</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توثيق كل عملية بهوية منفّذها ووقتها وتفاصيلها.</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بحث بالاسم/رقم الحاسب/نوع العملية.</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بطاقة لكل عملية: النوع، المستخدم، الكيان، التفاصيل، الوقت.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تحديث بالسحب.</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يفتح المسؤول السجل ليتتبّع من فعل ماذا ومتى عند أي مساءلة.</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حوكمة وحماية للمال العام ومساءلة دقيقة.</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يعرض آخر 500 عملية مرتّبة زمنياً.</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التقارير</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53 — التقارير</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ReportsScreen  ·  التقارير</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سحب تقارير مصنّفة لفترة زمنية وتصديرها Excel/PDF.</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اختيار نوع التقرير (11 نوعاً).</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تحديد الفترة (من/إلى).</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تصدير Excel أو PDF.</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يختار المستخدم نوع التقرير والفترة ثم يصدّره بضغطة زر.</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دعم القرار ببيانات جاهزة قابلة للمشاركة فوراً.</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الأنواع: ممولين/حصر/معاينات/توقفات/مهام/طلبات/شكاوى/فروع/مخازن...</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إدارة المأموريات</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54 — الإدارة المركزية</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OfficesAdminScreen  ·  الإدارة المركزية</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إنشاء وإدارة المأموريات على مستوى الجمهورية.</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قائمة المأموريات (الكود، الاسم، المحافظة، المنطقة، الحالة).</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إضافة/تعديل مأمورية.</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تفعيل/تعطيل.</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تدير الإدارة العليا شبكة المأموريات وتوسّعها مركزياً.</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بنية مرنة قابلة للتوسّع لأي عدد من المأموريات.</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كود المأمورية أساس اشتقاق حسابات موظفيها.</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إدارة المستخدمين</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55 — الإدارة</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ManageEmployeesScreen  ·  الإدارة</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إنشاء الحسابات ضمن الهرم الإداري حسب دور المُنشئ.</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قائمة الموظفين المرئيين لدور المستخدم.</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إضافة موظف: الاسم، رقم الحاسب، كلمة المرور، الدور.</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للأدمن: اختيار المأمورية.</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إنشاء آمن عبر RPC يفرض الهرم.</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ينشئ كل مستوى المستوى الأدنى منه فقط: أدمن→رؤساء، رئيس→مدير حاسب، مدير حاسب→الفريق.</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فرض هرم الصلاحيات تقنياً يمنع تجاوز الأدوار.</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الأدوار المرئية والقابلة للإنشاء تُفلتر حسب دور المُنشئ.</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إدارة الملفات</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56 — رئيس المأمورية</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FileManagementScreen  ·  رئيس المأمورية</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نقل الاختصاص وإدارة ملفات الممولين بين الإدارات.</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عرض/بحث الملفات.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نقل الملف بين الإدارات/المأمورين.</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توثيق النقل.</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ينقل رئيس المأمورية ملفاً من إدارة لأخرى حسب مقتضى العمل.</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مرونة إدارية مع الحفاظ على تتبّع الملف.</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النقل عملية موثّقة في السجل.</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توزيع الاختصاصات</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57 — مدير الحاسب</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JurisdictionsScreen  ·  مدير الحاسب</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تعريف وتوزيع اختصاصات الفرق داخل المأمورية.</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عرض الاختصاصات الحالية.</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إسناد نطاق/نوع لكل فريق.</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حفظ التوزيع.</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يضبط مدير الحاسب من يختص بماذا لتجنّب التداخل.</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توزيع واضح للمسؤوليات يرفع الكفاءة ويمنع التكرار.</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أساس لإسناد المهام لاحقاً.</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سجلات الإدارة (عام)</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58 — السجلات</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DepartmentListScreen  ·  السجلات</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قائمة سجلات إدارة (فحص/حجز) القائمة على تعريف حقول ديناميكي.</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قائمة السجلات + حالتها الملوّنة.</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بحث + إضافة سجل جديد.</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فتح السجل.</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يستعرض الموظف سجلات إدارته ويضيف أو يفتح سجلاً.</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محرّك موحّد يخدم أكثر من إدارة بنفس الشاشات.</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الحقول والحالات تُقرأ من تعريف الإدارة (Departments).</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نموذج سجل الإدارة</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59 — السجلات</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DepartmentFormScreen  ·  السجلات</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إضافة/تعديل سجل بحقول تتبع تعريف الإدارة.</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حقول ديناميكية (نص/رقم/متعدد الأسطر).</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الموقع والصور حسب الإدارة.</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حفظ.</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يملأ الموظف الحقول المعرّفة لإدارته ويحفظ السجل.</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تقليل التطوير: نموذج واحد يخدم كل الإدارات.</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مثلاً الفحص يضيف الإيراد والوعاء والضريبة المستحقة.</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تفاصيل سجل الإدارة</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60 — السجلات</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DepartmentDetailScreen  ·  السجلات</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عرض تفاصيل سجل إدارة واحد.</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كل حقول السجل + الحالة.</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الموقع والصور إن وُجدت.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إجراءات التعديل.</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يفتح الموظف/الممول السجل لعرض تفاصيله الكاملة.</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شفافية بيانات كل سجل إداري.</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يُستخدم أيضاً في مسار الممول.</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شاشة: ملف الممول (للممول)</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الشاشة رقم 61 — الممول</a:t>
            </a:r>
          </a:p>
        </p:txBody>
      </p:sp>
      <p:sp>
        <p:nvSpPr>
          <p:cNvPr id="9" name="Rounded Rectangle 8"/>
          <p:cNvSpPr/>
          <p:nvPr/>
        </p:nvSpPr>
        <p:spPr>
          <a:xfrm>
            <a:off x="502920" y="1280160"/>
            <a:ext cx="3977639" cy="4892040"/>
          </a:xfrm>
          <a:prstGeom prst="roundRect">
            <a:avLst/>
          </a:prstGeom>
          <a:solidFill>
            <a:srgbClr val="F1F5F9"/>
          </a:solidFill>
          <a:ln w="19050">
            <a:solidFill>
              <a:srgbClr val="D8E0E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3260"/>
            <a:ext cx="3977639" cy="54864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3000" b="0">
                <a:solidFill>
                  <a:srgbClr val="64748B"/>
                </a:solidFill>
                <a:latin typeface="Arial"/>
              </a:rPr>
              <a:t>🖼️</a:t>
            </a:r>
          </a:p>
        </p:txBody>
      </p:sp>
      <p:sp>
        <p:nvSpPr>
          <p:cNvPr id="11" name="TextBox 10"/>
          <p:cNvSpPr txBox="1"/>
          <p:nvPr/>
        </p:nvSpPr>
        <p:spPr>
          <a:xfrm>
            <a:off x="502920" y="3771900"/>
            <a:ext cx="3977639" cy="45720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500" b="1">
                <a:solidFill>
                  <a:srgbClr val="64748B"/>
                </a:solidFill>
                <a:latin typeface="Arial"/>
              </a:rPr>
              <a:t>ضع Screenshot هنا</a:t>
            </a:r>
          </a:p>
        </p:txBody>
      </p:sp>
      <p:sp>
        <p:nvSpPr>
          <p:cNvPr id="12" name="TextBox 11"/>
          <p:cNvSpPr txBox="1"/>
          <p:nvPr/>
        </p:nvSpPr>
        <p:spPr>
          <a:xfrm>
            <a:off x="502920" y="5715000"/>
            <a:ext cx="3977639" cy="3657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لقطة الشاشة من التطبيق الفعلي</a:t>
            </a:r>
          </a:p>
        </p:txBody>
      </p:sp>
      <p:sp>
        <p:nvSpPr>
          <p:cNvPr id="13" name="TextBox 12"/>
          <p:cNvSpPr txBox="1"/>
          <p:nvPr/>
        </p:nvSpPr>
        <p:spPr>
          <a:xfrm>
            <a:off x="502920" y="6199632"/>
            <a:ext cx="3977639"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000" b="0">
                <a:solidFill>
                  <a:srgbClr val="64748B"/>
                </a:solidFill>
                <a:latin typeface="Arial"/>
              </a:rPr>
              <a:t>TaxpayerMyFileScreen  ·  الممول</a:t>
            </a:r>
          </a:p>
        </p:txBody>
      </p:sp>
      <p:sp>
        <p:nvSpPr>
          <p:cNvPr id="14" name="TextBox 13"/>
          <p:cNvSpPr txBox="1"/>
          <p:nvPr/>
        </p:nvSpPr>
        <p:spPr>
          <a:xfrm>
            <a:off x="4709160" y="1280160"/>
            <a:ext cx="6949440" cy="512064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0E7C66"/>
                </a:solidFill>
                <a:latin typeface="Arial"/>
              </a:rPr>
              <a:t>🎯  </a:t>
            </a:r>
            <a:r>
              <a:rPr sz="1500" b="1">
                <a:solidFill>
                  <a:srgbClr val="0A5A4A"/>
                </a:solidFill>
                <a:latin typeface="Arial"/>
              </a:rPr>
              <a:t>هدف الشاشة</a:t>
            </a:r>
          </a:p>
          <a:p>
            <a:pPr algn="r" rtl="1">
              <a:lnSpc>
                <a:spcPct val="100000"/>
              </a:lnSpc>
              <a:spcBef>
                <a:spcPts val="0"/>
              </a:spcBef>
              <a:spcAft>
                <a:spcPts val="400"/>
              </a:spcAft>
            </a:pPr>
            <a:r>
              <a:rPr sz="1350" b="0">
                <a:solidFill>
                  <a:srgbClr val="0F172A"/>
                </a:solidFill>
                <a:latin typeface="Arial"/>
              </a:rPr>
              <a:t>عرض الممول لملفه الضريبي الكامل من جانبه.</a:t>
            </a:r>
          </a:p>
          <a:p>
            <a:pPr algn="r" rtl="1">
              <a:lnSpc>
                <a:spcPct val="100000"/>
              </a:lnSpc>
              <a:spcBef>
                <a:spcPts val="0"/>
              </a:spcBef>
              <a:spcAft>
                <a:spcPts val="400"/>
              </a:spcAft>
            </a:pPr>
            <a:r>
              <a:rPr sz="1500" b="1">
                <a:solidFill>
                  <a:srgbClr val="2563EB"/>
                </a:solidFill>
                <a:latin typeface="Arial"/>
              </a:rPr>
              <a:t>🧩  </a:t>
            </a:r>
            <a:r>
              <a:rPr sz="1500" b="1">
                <a:solidFill>
                  <a:srgbClr val="0A5A4A"/>
                </a:solidFill>
                <a:latin typeface="Arial"/>
              </a:rPr>
              <a:t>العناصر والأزرار والأيقونات</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البيانات الأساسية والنشاط والحالة.</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الفروع والمخازن والأنشطة الفرعية.</a:t>
            </a:r>
          </a:p>
          <a:p>
            <a:pPr algn="r" rtl="1">
              <a:lnSpc>
                <a:spcPct val="100000"/>
              </a:lnSpc>
              <a:spcBef>
                <a:spcPts val="0"/>
              </a:spcBef>
              <a:spcAft>
                <a:spcPts val="400"/>
              </a:spcAft>
            </a:pPr>
            <a:r>
              <a:rPr sz="1250" b="0">
                <a:solidFill>
                  <a:srgbClr val="0F172A"/>
                </a:solidFill>
                <a:latin typeface="Arial"/>
              </a:rPr>
              <a:t/>
            </a:r>
            <a:r>
              <a:rPr sz="1250" b="1">
                <a:solidFill>
                  <a:srgbClr val="0E7C66"/>
                </a:solidFill>
                <a:latin typeface="Arial"/>
              </a:rPr>
              <a:t>▪  </a:t>
            </a:r>
            <a:r>
              <a:rPr sz="1250" b="0">
                <a:solidFill>
                  <a:srgbClr val="0F172A"/>
                </a:solidFill>
                <a:latin typeface="Arial"/>
              </a:rPr>
              <a:t>الموقع على الخريطة والصور.</a:t>
            </a:r>
          </a:p>
          <a:p>
            <a:pPr algn="r" rtl="1">
              <a:lnSpc>
                <a:spcPct val="100000"/>
              </a:lnSpc>
              <a:spcBef>
                <a:spcPts val="0"/>
              </a:spcBef>
              <a:spcAft>
                <a:spcPts val="400"/>
              </a:spcAft>
            </a:pPr>
            <a:r>
              <a:rPr sz="1500" b="1">
                <a:solidFill>
                  <a:srgbClr val="7C3AED"/>
                </a:solidFill>
                <a:latin typeface="Arial"/>
              </a:rPr>
              <a:t>🧭  </a:t>
            </a:r>
            <a:r>
              <a:rPr sz="1500" b="1">
                <a:solidFill>
                  <a:srgbClr val="0A5A4A"/>
                </a:solidFill>
                <a:latin typeface="Arial"/>
              </a:rPr>
              <a:t>سيناريو الاستخدام</a:t>
            </a:r>
          </a:p>
          <a:p>
            <a:pPr algn="r" rtl="1">
              <a:lnSpc>
                <a:spcPct val="100000"/>
              </a:lnSpc>
              <a:spcBef>
                <a:spcPts val="0"/>
              </a:spcBef>
              <a:spcAft>
                <a:spcPts val="400"/>
              </a:spcAft>
            </a:pPr>
            <a:r>
              <a:rPr sz="1250" b="0">
                <a:solidFill>
                  <a:srgbClr val="0F172A"/>
                </a:solidFill>
                <a:latin typeface="Arial"/>
              </a:rPr>
              <a:t>يفتح الممول «ملفي» ليرى بياناته كما هي مسجّلة لدى المصلحة.</a:t>
            </a:r>
          </a:p>
          <a:p>
            <a:pPr algn="r" rtl="1">
              <a:lnSpc>
                <a:spcPct val="100000"/>
              </a:lnSpc>
              <a:spcBef>
                <a:spcPts val="0"/>
              </a:spcBef>
              <a:spcAft>
                <a:spcPts val="400"/>
              </a:spcAft>
            </a:pPr>
            <a:r>
              <a:rPr sz="1500" b="1">
                <a:solidFill>
                  <a:srgbClr val="0D9488"/>
                </a:solidFill>
                <a:latin typeface="Arial"/>
              </a:rPr>
              <a:t>✅  </a:t>
            </a:r>
            <a:r>
              <a:rPr sz="1500" b="1">
                <a:solidFill>
                  <a:srgbClr val="0A5A4A"/>
                </a:solidFill>
                <a:latin typeface="Arial"/>
              </a:rPr>
              <a:t>الفائدة والنتيجة</a:t>
            </a:r>
          </a:p>
          <a:p>
            <a:pPr algn="r" rtl="1">
              <a:lnSpc>
                <a:spcPct val="100000"/>
              </a:lnSpc>
              <a:spcBef>
                <a:spcPts val="0"/>
              </a:spcBef>
              <a:spcAft>
                <a:spcPts val="400"/>
              </a:spcAft>
            </a:pPr>
            <a:r>
              <a:rPr sz="1250" b="0">
                <a:solidFill>
                  <a:srgbClr val="0F172A"/>
                </a:solidFill>
                <a:latin typeface="Arial"/>
              </a:rPr>
              <a:t>شفافية تبني الثقة وتقلّل الأخطاء والاعتراضات.</a:t>
            </a:r>
          </a:p>
          <a:p>
            <a:pPr algn="r" rtl="1">
              <a:lnSpc>
                <a:spcPct val="100000"/>
              </a:lnSpc>
              <a:spcBef>
                <a:spcPts val="0"/>
              </a:spcBef>
              <a:spcAft>
                <a:spcPts val="400"/>
              </a:spcAft>
            </a:pPr>
            <a:r>
              <a:rPr sz="1500" b="1">
                <a:solidFill>
                  <a:srgbClr val="D97706"/>
                </a:solidFill>
                <a:latin typeface="Arial"/>
              </a:rPr>
              <a:t>📌  </a:t>
            </a:r>
            <a:r>
              <a:rPr sz="1500" b="1">
                <a:solidFill>
                  <a:srgbClr val="D97706"/>
                </a:solidFill>
                <a:latin typeface="Arial"/>
              </a:rPr>
              <a:t>ملاحظات مهمة</a:t>
            </a:r>
          </a:p>
          <a:p>
            <a:pPr algn="r" rtl="1">
              <a:lnSpc>
                <a:spcPct val="100000"/>
              </a:lnSpc>
              <a:spcBef>
                <a:spcPts val="0"/>
              </a:spcBef>
              <a:spcAft>
                <a:spcPts val="400"/>
              </a:spcAft>
            </a:pPr>
            <a:r>
              <a:rPr sz="1200" b="0">
                <a:solidFill>
                  <a:srgbClr val="64748B"/>
                </a:solidFill>
                <a:latin typeface="Arial"/>
              </a:rPr>
              <a:t>يعرض نفس بيانات الملف المركزي بصلاحية اطلاع.</a:t>
            </a:r>
          </a:p>
        </p:txBody>
      </p:sp>
      <p:sp>
        <p:nvSpPr>
          <p:cNvPr id="15" name="Rectangle 14"/>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7" name="TextBox 16"/>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السادس</a:t>
            </a:r>
          </a:p>
        </p:txBody>
      </p:sp>
      <p:sp>
        <p:nvSpPr>
          <p:cNvPr id="18" name="TextBox 17"/>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56032" y="0"/>
            <a:ext cx="54864" cy="68580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45775" cy="45720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600" b="1">
                <a:solidFill>
                  <a:srgbClr val="0D9488"/>
                </a:solidFill>
                <a:latin typeface="Arial"/>
              </a:rPr>
              <a:t>المحور السابع</a:t>
            </a:r>
          </a:p>
        </p:txBody>
      </p:sp>
      <p:sp>
        <p:nvSpPr>
          <p:cNvPr id="6" name="TextBox 5"/>
          <p:cNvSpPr txBox="1"/>
          <p:nvPr/>
        </p:nvSpPr>
        <p:spPr>
          <a:xfrm>
            <a:off x="822960" y="2743200"/>
            <a:ext cx="10545775" cy="128016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4000" b="1">
                <a:solidFill>
                  <a:srgbClr val="FFFFFF"/>
                </a:solidFill>
                <a:latin typeface="Arial"/>
              </a:rPr>
              <a:t>الصلاحيات التفصيلية</a:t>
            </a:r>
          </a:p>
        </p:txBody>
      </p:sp>
      <p:sp>
        <p:nvSpPr>
          <p:cNvPr id="7" name="TextBox 6"/>
          <p:cNvSpPr txBox="1"/>
          <p:nvPr/>
        </p:nvSpPr>
        <p:spPr>
          <a:xfrm>
            <a:off x="822960" y="4114800"/>
            <a:ext cx="10545775" cy="1097280"/>
          </a:xfrm>
          <a:prstGeom prst="rect">
            <a:avLst/>
          </a:prstGeom>
          <a:noFill/>
        </p:spPr>
        <p:txBody>
          <a:bodyPr wrap="square" anchor="t" lIns="25400" rIns="25400" tIns="12700" bIns="12700">
            <a:spAutoFit/>
          </a:bodyPr>
          <a:lstStyle/>
          <a:p>
            <a:pPr algn="r" rtl="1">
              <a:lnSpc>
                <a:spcPct val="115000"/>
              </a:lnSpc>
              <a:spcBef>
                <a:spcPts val="0"/>
              </a:spcBef>
              <a:spcAft>
                <a:spcPts val="400"/>
              </a:spcAft>
            </a:pPr>
            <a:r>
              <a:rPr sz="1700" b="0">
                <a:solidFill>
                  <a:srgbClr val="B8CDDC"/>
                </a:solidFill>
                <a:latin typeface="Arial"/>
              </a:rPr>
              <a:t>مصفوفة الصلاحيات عبر الأدوار ومبدأ الهرم الإداري المُطبَّق تقنياً</a:t>
            </a:r>
          </a:p>
        </p:txBody>
      </p:sp>
      <p:sp>
        <p:nvSpPr>
          <p:cNvPr id="8" name="TextBox 7"/>
          <p:cNvSpPr txBox="1"/>
          <p:nvPr/>
        </p:nvSpPr>
        <p:spPr>
          <a:xfrm>
            <a:off x="457200" y="6217920"/>
            <a:ext cx="11277295" cy="36576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100" b="0">
                <a:solidFill>
                  <a:srgbClr val="6E8AA0"/>
                </a:solidFill>
                <a:latin typeface="Arial"/>
              </a:rPr>
              <a:t>GeoTax — منظومة إدارة أعمال مصلحة الضرائب المصرية بنظم المعلومات الجغرافية</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مصفوفة الصلاحيات حسب الدور</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من يرى/ينفّذ ماذا</a:t>
            </a:r>
          </a:p>
        </p:txBody>
      </p:sp>
      <p:sp>
        <p:nvSpPr>
          <p:cNvPr id="9" name="Rectangle 8"/>
          <p:cNvSpPr/>
          <p:nvPr/>
        </p:nvSpPr>
        <p:spPr>
          <a:xfrm>
            <a:off x="10188767" y="1234440"/>
            <a:ext cx="1637167" cy="566928"/>
          </a:xfrm>
          <a:prstGeom prst="rect">
            <a:avLst/>
          </a:prstGeom>
          <a:solidFill>
            <a:srgbClr val="0E7C6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88767" y="1234440"/>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50" b="1">
                <a:solidFill>
                  <a:srgbClr val="FFFFFF"/>
                </a:solidFill>
                <a:latin typeface="Arial"/>
              </a:rPr>
              <a:t>الدور</a:t>
            </a:r>
          </a:p>
        </p:txBody>
      </p:sp>
      <p:sp>
        <p:nvSpPr>
          <p:cNvPr id="11" name="Rectangle 10"/>
          <p:cNvSpPr/>
          <p:nvPr/>
        </p:nvSpPr>
        <p:spPr>
          <a:xfrm>
            <a:off x="8551599" y="1234440"/>
            <a:ext cx="1637167" cy="566928"/>
          </a:xfrm>
          <a:prstGeom prst="rect">
            <a:avLst/>
          </a:prstGeom>
          <a:solidFill>
            <a:srgbClr val="0E7C6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51599" y="1234440"/>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50" b="1">
                <a:solidFill>
                  <a:srgbClr val="FFFFFF"/>
                </a:solidFill>
                <a:latin typeface="Arial"/>
              </a:rPr>
              <a:t>إنشاء مستخدمين</a:t>
            </a:r>
          </a:p>
        </p:txBody>
      </p:sp>
      <p:sp>
        <p:nvSpPr>
          <p:cNvPr id="13" name="Rectangle 12"/>
          <p:cNvSpPr/>
          <p:nvPr/>
        </p:nvSpPr>
        <p:spPr>
          <a:xfrm>
            <a:off x="6914431" y="1234440"/>
            <a:ext cx="1637167" cy="566928"/>
          </a:xfrm>
          <a:prstGeom prst="rect">
            <a:avLst/>
          </a:prstGeom>
          <a:solidFill>
            <a:srgbClr val="0E7C6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14431" y="1234440"/>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50" b="1">
                <a:solidFill>
                  <a:srgbClr val="FFFFFF"/>
                </a:solidFill>
                <a:latin typeface="Arial"/>
              </a:rPr>
              <a:t>حصر ميداني</a:t>
            </a:r>
          </a:p>
        </p:txBody>
      </p:sp>
      <p:sp>
        <p:nvSpPr>
          <p:cNvPr id="15" name="Rectangle 14"/>
          <p:cNvSpPr/>
          <p:nvPr/>
        </p:nvSpPr>
        <p:spPr>
          <a:xfrm>
            <a:off x="5277263" y="1234440"/>
            <a:ext cx="1637167" cy="566928"/>
          </a:xfrm>
          <a:prstGeom prst="rect">
            <a:avLst/>
          </a:prstGeom>
          <a:solidFill>
            <a:srgbClr val="0E7C6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77263" y="1234440"/>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50" b="1">
                <a:solidFill>
                  <a:srgbClr val="FFFFFF"/>
                </a:solidFill>
                <a:latin typeface="Arial"/>
              </a:rPr>
              <a:t>اعتماد</a:t>
            </a:r>
          </a:p>
        </p:txBody>
      </p:sp>
      <p:sp>
        <p:nvSpPr>
          <p:cNvPr id="17" name="Rectangle 16"/>
          <p:cNvSpPr/>
          <p:nvPr/>
        </p:nvSpPr>
        <p:spPr>
          <a:xfrm>
            <a:off x="3640095" y="1234440"/>
            <a:ext cx="1637167" cy="566928"/>
          </a:xfrm>
          <a:prstGeom prst="rect">
            <a:avLst/>
          </a:prstGeom>
          <a:solidFill>
            <a:srgbClr val="0E7C6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40095" y="1234440"/>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50" b="1">
                <a:solidFill>
                  <a:srgbClr val="FFFFFF"/>
                </a:solidFill>
                <a:latin typeface="Arial"/>
              </a:rPr>
              <a:t>خريطة</a:t>
            </a:r>
          </a:p>
        </p:txBody>
      </p:sp>
      <p:sp>
        <p:nvSpPr>
          <p:cNvPr id="19" name="Rectangle 18"/>
          <p:cNvSpPr/>
          <p:nvPr/>
        </p:nvSpPr>
        <p:spPr>
          <a:xfrm>
            <a:off x="2002927" y="1234440"/>
            <a:ext cx="1637167" cy="566928"/>
          </a:xfrm>
          <a:prstGeom prst="rect">
            <a:avLst/>
          </a:prstGeom>
          <a:solidFill>
            <a:srgbClr val="0E7C6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002927" y="1234440"/>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50" b="1">
                <a:solidFill>
                  <a:srgbClr val="FFFFFF"/>
                </a:solidFill>
                <a:latin typeface="Arial"/>
              </a:rPr>
              <a:t>تقارير</a:t>
            </a:r>
          </a:p>
        </p:txBody>
      </p:sp>
      <p:sp>
        <p:nvSpPr>
          <p:cNvPr id="21" name="Rectangle 20"/>
          <p:cNvSpPr/>
          <p:nvPr/>
        </p:nvSpPr>
        <p:spPr>
          <a:xfrm>
            <a:off x="365760" y="1234440"/>
            <a:ext cx="1637167" cy="566928"/>
          </a:xfrm>
          <a:prstGeom prst="rect">
            <a:avLst/>
          </a:prstGeom>
          <a:solidFill>
            <a:srgbClr val="0E7C6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 y="1234440"/>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50" b="1">
                <a:solidFill>
                  <a:srgbClr val="FFFFFF"/>
                </a:solidFill>
                <a:latin typeface="Arial"/>
              </a:rPr>
              <a:t>سجل عمليات</a:t>
            </a:r>
          </a:p>
        </p:txBody>
      </p:sp>
      <p:sp>
        <p:nvSpPr>
          <p:cNvPr id="23" name="Rectangle 22"/>
          <p:cNvSpPr/>
          <p:nvPr/>
        </p:nvSpPr>
        <p:spPr>
          <a:xfrm>
            <a:off x="10188767" y="1801368"/>
            <a:ext cx="1637167" cy="566928"/>
          </a:xfrm>
          <a:prstGeom prst="rect">
            <a:avLst/>
          </a:prstGeom>
          <a:solidFill>
            <a:srgbClr val="FFFFFF"/>
          </a:solidFill>
          <a:ln w="635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188767" y="1801368"/>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200" b="1">
                <a:solidFill>
                  <a:srgbClr val="0F172A"/>
                </a:solidFill>
                <a:latin typeface="Arial"/>
              </a:rPr>
              <a:t>الإدارة العليا</a:t>
            </a:r>
          </a:p>
        </p:txBody>
      </p:sp>
      <p:sp>
        <p:nvSpPr>
          <p:cNvPr id="25" name="Rectangle 24"/>
          <p:cNvSpPr/>
          <p:nvPr/>
        </p:nvSpPr>
        <p:spPr>
          <a:xfrm>
            <a:off x="8551599" y="1801368"/>
            <a:ext cx="1637167" cy="566928"/>
          </a:xfrm>
          <a:prstGeom prst="rect">
            <a:avLst/>
          </a:prstGeom>
          <a:solidFill>
            <a:srgbClr val="FFFFFF"/>
          </a:solidFill>
          <a:ln w="635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51599" y="1801368"/>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رؤساء المأموريات</a:t>
            </a:r>
          </a:p>
        </p:txBody>
      </p:sp>
      <p:sp>
        <p:nvSpPr>
          <p:cNvPr id="27" name="Rectangle 26"/>
          <p:cNvSpPr/>
          <p:nvPr/>
        </p:nvSpPr>
        <p:spPr>
          <a:xfrm>
            <a:off x="6914431" y="1801368"/>
            <a:ext cx="1637167" cy="566928"/>
          </a:xfrm>
          <a:prstGeom prst="rect">
            <a:avLst/>
          </a:prstGeom>
          <a:solidFill>
            <a:srgbClr val="FFFFFF"/>
          </a:solidFill>
          <a:ln w="635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14431" y="1801368"/>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a:t>
            </a:r>
          </a:p>
        </p:txBody>
      </p:sp>
      <p:sp>
        <p:nvSpPr>
          <p:cNvPr id="29" name="Rectangle 28"/>
          <p:cNvSpPr/>
          <p:nvPr/>
        </p:nvSpPr>
        <p:spPr>
          <a:xfrm>
            <a:off x="5277263" y="1801368"/>
            <a:ext cx="1637167" cy="566928"/>
          </a:xfrm>
          <a:prstGeom prst="rect">
            <a:avLst/>
          </a:prstGeom>
          <a:solidFill>
            <a:srgbClr val="FFFFFF"/>
          </a:solidFill>
          <a:ln w="635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277263" y="1801368"/>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a:t>
            </a:r>
          </a:p>
        </p:txBody>
      </p:sp>
      <p:sp>
        <p:nvSpPr>
          <p:cNvPr id="31" name="Rectangle 30"/>
          <p:cNvSpPr/>
          <p:nvPr/>
        </p:nvSpPr>
        <p:spPr>
          <a:xfrm>
            <a:off x="3640095" y="1801368"/>
            <a:ext cx="1637167" cy="566928"/>
          </a:xfrm>
          <a:prstGeom prst="rect">
            <a:avLst/>
          </a:prstGeom>
          <a:solidFill>
            <a:srgbClr val="FFFFFF"/>
          </a:solidFill>
          <a:ln w="635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40095" y="1801368"/>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 (كلي)</a:t>
            </a:r>
          </a:p>
        </p:txBody>
      </p:sp>
      <p:sp>
        <p:nvSpPr>
          <p:cNvPr id="33" name="Rectangle 32"/>
          <p:cNvSpPr/>
          <p:nvPr/>
        </p:nvSpPr>
        <p:spPr>
          <a:xfrm>
            <a:off x="2002927" y="1801368"/>
            <a:ext cx="1637167" cy="566928"/>
          </a:xfrm>
          <a:prstGeom prst="rect">
            <a:avLst/>
          </a:prstGeom>
          <a:solidFill>
            <a:srgbClr val="FFFFFF"/>
          </a:solidFill>
          <a:ln w="635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002927" y="1801368"/>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 (كلي)</a:t>
            </a:r>
          </a:p>
        </p:txBody>
      </p:sp>
      <p:sp>
        <p:nvSpPr>
          <p:cNvPr id="35" name="Rectangle 34"/>
          <p:cNvSpPr/>
          <p:nvPr/>
        </p:nvSpPr>
        <p:spPr>
          <a:xfrm>
            <a:off x="365760" y="1801368"/>
            <a:ext cx="1637167" cy="566928"/>
          </a:xfrm>
          <a:prstGeom prst="rect">
            <a:avLst/>
          </a:prstGeom>
          <a:solidFill>
            <a:srgbClr val="FFFFFF"/>
          </a:solidFill>
          <a:ln w="635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1801368"/>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1">
                <a:solidFill>
                  <a:srgbClr val="0A5A4A"/>
                </a:solidFill>
                <a:latin typeface="Arial"/>
              </a:rPr>
              <a:t>✔</a:t>
            </a:r>
          </a:p>
        </p:txBody>
      </p:sp>
      <p:sp>
        <p:nvSpPr>
          <p:cNvPr id="37" name="Rectangle 36"/>
          <p:cNvSpPr/>
          <p:nvPr/>
        </p:nvSpPr>
        <p:spPr>
          <a:xfrm>
            <a:off x="10188767" y="2368296"/>
            <a:ext cx="1637167" cy="566928"/>
          </a:xfrm>
          <a:prstGeom prst="rect">
            <a:avLst/>
          </a:prstGeom>
          <a:solidFill>
            <a:srgbClr val="F8FAFC"/>
          </a:solidFill>
          <a:ln w="635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88767" y="2368296"/>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200" b="1">
                <a:solidFill>
                  <a:srgbClr val="0F172A"/>
                </a:solidFill>
                <a:latin typeface="Arial"/>
              </a:rPr>
              <a:t>رئيس المأمورية</a:t>
            </a:r>
          </a:p>
        </p:txBody>
      </p:sp>
      <p:sp>
        <p:nvSpPr>
          <p:cNvPr id="39" name="Rectangle 38"/>
          <p:cNvSpPr/>
          <p:nvPr/>
        </p:nvSpPr>
        <p:spPr>
          <a:xfrm>
            <a:off x="8551599" y="2368296"/>
            <a:ext cx="1637167" cy="566928"/>
          </a:xfrm>
          <a:prstGeom prst="rect">
            <a:avLst/>
          </a:prstGeom>
          <a:solidFill>
            <a:srgbClr val="F8FAFC"/>
          </a:solidFill>
          <a:ln w="635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551599" y="2368296"/>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مدير الحاسب</a:t>
            </a:r>
          </a:p>
        </p:txBody>
      </p:sp>
      <p:sp>
        <p:nvSpPr>
          <p:cNvPr id="41" name="Rectangle 40"/>
          <p:cNvSpPr/>
          <p:nvPr/>
        </p:nvSpPr>
        <p:spPr>
          <a:xfrm>
            <a:off x="6914431" y="2368296"/>
            <a:ext cx="1637167" cy="566928"/>
          </a:xfrm>
          <a:prstGeom prst="rect">
            <a:avLst/>
          </a:prstGeom>
          <a:solidFill>
            <a:srgbClr val="F8FAFC"/>
          </a:solidFill>
          <a:ln w="635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914431" y="2368296"/>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a:t>
            </a:r>
          </a:p>
        </p:txBody>
      </p:sp>
      <p:sp>
        <p:nvSpPr>
          <p:cNvPr id="43" name="Rectangle 42"/>
          <p:cNvSpPr/>
          <p:nvPr/>
        </p:nvSpPr>
        <p:spPr>
          <a:xfrm>
            <a:off x="5277263" y="2368296"/>
            <a:ext cx="1637167" cy="566928"/>
          </a:xfrm>
          <a:prstGeom prst="rect">
            <a:avLst/>
          </a:prstGeom>
          <a:solidFill>
            <a:srgbClr val="F8FAFC"/>
          </a:solidFill>
          <a:ln w="635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277263" y="2368296"/>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a:t>
            </a:r>
          </a:p>
        </p:txBody>
      </p:sp>
      <p:sp>
        <p:nvSpPr>
          <p:cNvPr id="45" name="Rectangle 44"/>
          <p:cNvSpPr/>
          <p:nvPr/>
        </p:nvSpPr>
        <p:spPr>
          <a:xfrm>
            <a:off x="3640095" y="2368296"/>
            <a:ext cx="1637167" cy="566928"/>
          </a:xfrm>
          <a:prstGeom prst="rect">
            <a:avLst/>
          </a:prstGeom>
          <a:solidFill>
            <a:srgbClr val="F8FAFC"/>
          </a:solidFill>
          <a:ln w="635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40095" y="2368296"/>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1">
                <a:solidFill>
                  <a:srgbClr val="0A5A4A"/>
                </a:solidFill>
                <a:latin typeface="Arial"/>
              </a:rPr>
              <a:t>✔</a:t>
            </a:r>
          </a:p>
        </p:txBody>
      </p:sp>
      <p:sp>
        <p:nvSpPr>
          <p:cNvPr id="47" name="Rectangle 46"/>
          <p:cNvSpPr/>
          <p:nvPr/>
        </p:nvSpPr>
        <p:spPr>
          <a:xfrm>
            <a:off x="2002927" y="2368296"/>
            <a:ext cx="1637167" cy="566928"/>
          </a:xfrm>
          <a:prstGeom prst="rect">
            <a:avLst/>
          </a:prstGeom>
          <a:solidFill>
            <a:srgbClr val="F8FAFC"/>
          </a:solidFill>
          <a:ln w="635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002927" y="2368296"/>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1">
                <a:solidFill>
                  <a:srgbClr val="0A5A4A"/>
                </a:solidFill>
                <a:latin typeface="Arial"/>
              </a:rPr>
              <a:t>✔</a:t>
            </a:r>
          </a:p>
        </p:txBody>
      </p:sp>
      <p:sp>
        <p:nvSpPr>
          <p:cNvPr id="49" name="Rectangle 48"/>
          <p:cNvSpPr/>
          <p:nvPr/>
        </p:nvSpPr>
        <p:spPr>
          <a:xfrm>
            <a:off x="365760" y="2368296"/>
            <a:ext cx="1637167" cy="566928"/>
          </a:xfrm>
          <a:prstGeom prst="rect">
            <a:avLst/>
          </a:prstGeom>
          <a:solidFill>
            <a:srgbClr val="F8FAFC"/>
          </a:solidFill>
          <a:ln w="635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5760" y="2368296"/>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1">
                <a:solidFill>
                  <a:srgbClr val="0A5A4A"/>
                </a:solidFill>
                <a:latin typeface="Arial"/>
              </a:rPr>
              <a:t>✔</a:t>
            </a:r>
          </a:p>
        </p:txBody>
      </p:sp>
      <p:sp>
        <p:nvSpPr>
          <p:cNvPr id="51" name="Rectangle 50"/>
          <p:cNvSpPr/>
          <p:nvPr/>
        </p:nvSpPr>
        <p:spPr>
          <a:xfrm>
            <a:off x="10188767" y="2935224"/>
            <a:ext cx="1637167" cy="566928"/>
          </a:xfrm>
          <a:prstGeom prst="rect">
            <a:avLst/>
          </a:prstGeom>
          <a:solidFill>
            <a:srgbClr val="FFFFFF"/>
          </a:solidFill>
          <a:ln w="635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188767" y="2935224"/>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200" b="1">
                <a:solidFill>
                  <a:srgbClr val="0F172A"/>
                </a:solidFill>
                <a:latin typeface="Arial"/>
              </a:rPr>
              <a:t>مدير الحاسب</a:t>
            </a:r>
          </a:p>
        </p:txBody>
      </p:sp>
      <p:sp>
        <p:nvSpPr>
          <p:cNvPr id="53" name="Rectangle 52"/>
          <p:cNvSpPr/>
          <p:nvPr/>
        </p:nvSpPr>
        <p:spPr>
          <a:xfrm>
            <a:off x="8551599" y="2935224"/>
            <a:ext cx="1637167" cy="566928"/>
          </a:xfrm>
          <a:prstGeom prst="rect">
            <a:avLst/>
          </a:prstGeom>
          <a:solidFill>
            <a:srgbClr val="FFFFFF"/>
          </a:solidFill>
          <a:ln w="635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551599" y="2935224"/>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كل الفريق</a:t>
            </a:r>
          </a:p>
        </p:txBody>
      </p:sp>
      <p:sp>
        <p:nvSpPr>
          <p:cNvPr id="55" name="Rectangle 54"/>
          <p:cNvSpPr/>
          <p:nvPr/>
        </p:nvSpPr>
        <p:spPr>
          <a:xfrm>
            <a:off x="6914431" y="2935224"/>
            <a:ext cx="1637167" cy="566928"/>
          </a:xfrm>
          <a:prstGeom prst="rect">
            <a:avLst/>
          </a:prstGeom>
          <a:solidFill>
            <a:srgbClr val="FFFFFF"/>
          </a:solidFill>
          <a:ln w="635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914431" y="2935224"/>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a:t>
            </a:r>
          </a:p>
        </p:txBody>
      </p:sp>
      <p:sp>
        <p:nvSpPr>
          <p:cNvPr id="57" name="Rectangle 56"/>
          <p:cNvSpPr/>
          <p:nvPr/>
        </p:nvSpPr>
        <p:spPr>
          <a:xfrm>
            <a:off x="5277263" y="2935224"/>
            <a:ext cx="1637167" cy="566928"/>
          </a:xfrm>
          <a:prstGeom prst="rect">
            <a:avLst/>
          </a:prstGeom>
          <a:solidFill>
            <a:srgbClr val="FFFFFF"/>
          </a:solidFill>
          <a:ln w="635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277263" y="2935224"/>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a:t>
            </a:r>
          </a:p>
        </p:txBody>
      </p:sp>
      <p:sp>
        <p:nvSpPr>
          <p:cNvPr id="59" name="Rectangle 58"/>
          <p:cNvSpPr/>
          <p:nvPr/>
        </p:nvSpPr>
        <p:spPr>
          <a:xfrm>
            <a:off x="3640095" y="2935224"/>
            <a:ext cx="1637167" cy="566928"/>
          </a:xfrm>
          <a:prstGeom prst="rect">
            <a:avLst/>
          </a:prstGeom>
          <a:solidFill>
            <a:srgbClr val="FFFFFF"/>
          </a:solidFill>
          <a:ln w="635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640095" y="2935224"/>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1">
                <a:solidFill>
                  <a:srgbClr val="0A5A4A"/>
                </a:solidFill>
                <a:latin typeface="Arial"/>
              </a:rPr>
              <a:t>✔</a:t>
            </a:r>
          </a:p>
        </p:txBody>
      </p:sp>
      <p:sp>
        <p:nvSpPr>
          <p:cNvPr id="61" name="Rectangle 60"/>
          <p:cNvSpPr/>
          <p:nvPr/>
        </p:nvSpPr>
        <p:spPr>
          <a:xfrm>
            <a:off x="2002927" y="2935224"/>
            <a:ext cx="1637167" cy="566928"/>
          </a:xfrm>
          <a:prstGeom prst="rect">
            <a:avLst/>
          </a:prstGeom>
          <a:solidFill>
            <a:srgbClr val="FFFFFF"/>
          </a:solidFill>
          <a:ln w="635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002927" y="2935224"/>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1">
                <a:solidFill>
                  <a:srgbClr val="0A5A4A"/>
                </a:solidFill>
                <a:latin typeface="Arial"/>
              </a:rPr>
              <a:t>✔</a:t>
            </a:r>
          </a:p>
        </p:txBody>
      </p:sp>
      <p:sp>
        <p:nvSpPr>
          <p:cNvPr id="63" name="Rectangle 62"/>
          <p:cNvSpPr/>
          <p:nvPr/>
        </p:nvSpPr>
        <p:spPr>
          <a:xfrm>
            <a:off x="365760" y="2935224"/>
            <a:ext cx="1637167" cy="566928"/>
          </a:xfrm>
          <a:prstGeom prst="rect">
            <a:avLst/>
          </a:prstGeom>
          <a:solidFill>
            <a:srgbClr val="FFFFFF"/>
          </a:solidFill>
          <a:ln w="635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65760" y="2935224"/>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1">
                <a:solidFill>
                  <a:srgbClr val="0A5A4A"/>
                </a:solidFill>
                <a:latin typeface="Arial"/>
              </a:rPr>
              <a:t>✔</a:t>
            </a:r>
          </a:p>
        </p:txBody>
      </p:sp>
      <p:sp>
        <p:nvSpPr>
          <p:cNvPr id="65" name="Rectangle 64"/>
          <p:cNvSpPr/>
          <p:nvPr/>
        </p:nvSpPr>
        <p:spPr>
          <a:xfrm>
            <a:off x="10188767" y="3502152"/>
            <a:ext cx="1637167" cy="566928"/>
          </a:xfrm>
          <a:prstGeom prst="rect">
            <a:avLst/>
          </a:prstGeom>
          <a:solidFill>
            <a:srgbClr val="F8FAFC"/>
          </a:solidFill>
          <a:ln w="635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0188767" y="3502152"/>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200" b="1">
                <a:solidFill>
                  <a:srgbClr val="0F172A"/>
                </a:solidFill>
                <a:latin typeface="Arial"/>
              </a:rPr>
              <a:t>مدير الحصر/الفحص</a:t>
            </a:r>
          </a:p>
        </p:txBody>
      </p:sp>
      <p:sp>
        <p:nvSpPr>
          <p:cNvPr id="67" name="Rectangle 66"/>
          <p:cNvSpPr/>
          <p:nvPr/>
        </p:nvSpPr>
        <p:spPr>
          <a:xfrm>
            <a:off x="8551599" y="3502152"/>
            <a:ext cx="1637167" cy="566928"/>
          </a:xfrm>
          <a:prstGeom prst="rect">
            <a:avLst/>
          </a:prstGeom>
          <a:solidFill>
            <a:srgbClr val="F8FAFC"/>
          </a:solidFill>
          <a:ln w="635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551599" y="3502152"/>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a:t>
            </a:r>
          </a:p>
        </p:txBody>
      </p:sp>
      <p:sp>
        <p:nvSpPr>
          <p:cNvPr id="69" name="Rectangle 68"/>
          <p:cNvSpPr/>
          <p:nvPr/>
        </p:nvSpPr>
        <p:spPr>
          <a:xfrm>
            <a:off x="6914431" y="3502152"/>
            <a:ext cx="1637167" cy="566928"/>
          </a:xfrm>
          <a:prstGeom prst="rect">
            <a:avLst/>
          </a:prstGeom>
          <a:solidFill>
            <a:srgbClr val="F8FAFC"/>
          </a:solidFill>
          <a:ln w="635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914431" y="3502152"/>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a:t>
            </a:r>
          </a:p>
        </p:txBody>
      </p:sp>
      <p:sp>
        <p:nvSpPr>
          <p:cNvPr id="71" name="Rectangle 70"/>
          <p:cNvSpPr/>
          <p:nvPr/>
        </p:nvSpPr>
        <p:spPr>
          <a:xfrm>
            <a:off x="5277263" y="3502152"/>
            <a:ext cx="1637167" cy="566928"/>
          </a:xfrm>
          <a:prstGeom prst="rect">
            <a:avLst/>
          </a:prstGeom>
          <a:solidFill>
            <a:srgbClr val="F8FAFC"/>
          </a:solidFill>
          <a:ln w="635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277263" y="3502152"/>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1">
                <a:solidFill>
                  <a:srgbClr val="0A5A4A"/>
                </a:solidFill>
                <a:latin typeface="Arial"/>
              </a:rPr>
              <a:t>✔</a:t>
            </a:r>
          </a:p>
        </p:txBody>
      </p:sp>
      <p:sp>
        <p:nvSpPr>
          <p:cNvPr id="73" name="Rectangle 72"/>
          <p:cNvSpPr/>
          <p:nvPr/>
        </p:nvSpPr>
        <p:spPr>
          <a:xfrm>
            <a:off x="3640095" y="3502152"/>
            <a:ext cx="1637167" cy="566928"/>
          </a:xfrm>
          <a:prstGeom prst="rect">
            <a:avLst/>
          </a:prstGeom>
          <a:solidFill>
            <a:srgbClr val="F8FAFC"/>
          </a:solidFill>
          <a:ln w="635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3640095" y="3502152"/>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1">
                <a:solidFill>
                  <a:srgbClr val="0A5A4A"/>
                </a:solidFill>
                <a:latin typeface="Arial"/>
              </a:rPr>
              <a:t>✔</a:t>
            </a:r>
          </a:p>
        </p:txBody>
      </p:sp>
      <p:sp>
        <p:nvSpPr>
          <p:cNvPr id="75" name="Rectangle 74"/>
          <p:cNvSpPr/>
          <p:nvPr/>
        </p:nvSpPr>
        <p:spPr>
          <a:xfrm>
            <a:off x="2002927" y="3502152"/>
            <a:ext cx="1637167" cy="566928"/>
          </a:xfrm>
          <a:prstGeom prst="rect">
            <a:avLst/>
          </a:prstGeom>
          <a:solidFill>
            <a:srgbClr val="F8FAFC"/>
          </a:solidFill>
          <a:ln w="635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002927" y="3502152"/>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1">
                <a:solidFill>
                  <a:srgbClr val="0A5A4A"/>
                </a:solidFill>
                <a:latin typeface="Arial"/>
              </a:rPr>
              <a:t>✔</a:t>
            </a:r>
          </a:p>
        </p:txBody>
      </p:sp>
      <p:sp>
        <p:nvSpPr>
          <p:cNvPr id="77" name="Rectangle 76"/>
          <p:cNvSpPr/>
          <p:nvPr/>
        </p:nvSpPr>
        <p:spPr>
          <a:xfrm>
            <a:off x="365760" y="3502152"/>
            <a:ext cx="1637167" cy="566928"/>
          </a:xfrm>
          <a:prstGeom prst="rect">
            <a:avLst/>
          </a:prstGeom>
          <a:solidFill>
            <a:srgbClr val="F8FAFC"/>
          </a:solidFill>
          <a:ln w="635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365760" y="3502152"/>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a:t>
            </a:r>
          </a:p>
        </p:txBody>
      </p:sp>
      <p:sp>
        <p:nvSpPr>
          <p:cNvPr id="79" name="Rectangle 78"/>
          <p:cNvSpPr/>
          <p:nvPr/>
        </p:nvSpPr>
        <p:spPr>
          <a:xfrm>
            <a:off x="10188767" y="4069080"/>
            <a:ext cx="1637167" cy="566928"/>
          </a:xfrm>
          <a:prstGeom prst="rect">
            <a:avLst/>
          </a:prstGeom>
          <a:solidFill>
            <a:srgbClr val="FFFFFF"/>
          </a:solidFill>
          <a:ln w="635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10188767" y="4069080"/>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200" b="1">
                <a:solidFill>
                  <a:srgbClr val="0F172A"/>
                </a:solidFill>
                <a:latin typeface="Arial"/>
              </a:rPr>
              <a:t>المراجع</a:t>
            </a:r>
          </a:p>
        </p:txBody>
      </p:sp>
      <p:sp>
        <p:nvSpPr>
          <p:cNvPr id="81" name="Rectangle 80"/>
          <p:cNvSpPr/>
          <p:nvPr/>
        </p:nvSpPr>
        <p:spPr>
          <a:xfrm>
            <a:off x="8551599" y="4069080"/>
            <a:ext cx="1637167" cy="566928"/>
          </a:xfrm>
          <a:prstGeom prst="rect">
            <a:avLst/>
          </a:prstGeom>
          <a:solidFill>
            <a:srgbClr val="FFFFFF"/>
          </a:solidFill>
          <a:ln w="635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8551599" y="4069080"/>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a:t>
            </a:r>
          </a:p>
        </p:txBody>
      </p:sp>
      <p:sp>
        <p:nvSpPr>
          <p:cNvPr id="83" name="Rectangle 82"/>
          <p:cNvSpPr/>
          <p:nvPr/>
        </p:nvSpPr>
        <p:spPr>
          <a:xfrm>
            <a:off x="6914431" y="4069080"/>
            <a:ext cx="1637167" cy="566928"/>
          </a:xfrm>
          <a:prstGeom prst="rect">
            <a:avLst/>
          </a:prstGeom>
          <a:solidFill>
            <a:srgbClr val="FFFFFF"/>
          </a:solidFill>
          <a:ln w="635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914431" y="4069080"/>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اطلاع</a:t>
            </a:r>
          </a:p>
        </p:txBody>
      </p:sp>
      <p:sp>
        <p:nvSpPr>
          <p:cNvPr id="85" name="Rectangle 84"/>
          <p:cNvSpPr/>
          <p:nvPr/>
        </p:nvSpPr>
        <p:spPr>
          <a:xfrm>
            <a:off x="5277263" y="4069080"/>
            <a:ext cx="1637167" cy="566928"/>
          </a:xfrm>
          <a:prstGeom prst="rect">
            <a:avLst/>
          </a:prstGeom>
          <a:solidFill>
            <a:srgbClr val="FFFFFF"/>
          </a:solidFill>
          <a:ln w="635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5277263" y="4069080"/>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مراجعة</a:t>
            </a:r>
          </a:p>
        </p:txBody>
      </p:sp>
      <p:sp>
        <p:nvSpPr>
          <p:cNvPr id="87" name="Rectangle 86"/>
          <p:cNvSpPr/>
          <p:nvPr/>
        </p:nvSpPr>
        <p:spPr>
          <a:xfrm>
            <a:off x="3640095" y="4069080"/>
            <a:ext cx="1637167" cy="566928"/>
          </a:xfrm>
          <a:prstGeom prst="rect">
            <a:avLst/>
          </a:prstGeom>
          <a:solidFill>
            <a:srgbClr val="FFFFFF"/>
          </a:solidFill>
          <a:ln w="635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3640095" y="4069080"/>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1">
                <a:solidFill>
                  <a:srgbClr val="0A5A4A"/>
                </a:solidFill>
                <a:latin typeface="Arial"/>
              </a:rPr>
              <a:t>✔</a:t>
            </a:r>
          </a:p>
        </p:txBody>
      </p:sp>
      <p:sp>
        <p:nvSpPr>
          <p:cNvPr id="89" name="Rectangle 88"/>
          <p:cNvSpPr/>
          <p:nvPr/>
        </p:nvSpPr>
        <p:spPr>
          <a:xfrm>
            <a:off x="2002927" y="4069080"/>
            <a:ext cx="1637167" cy="566928"/>
          </a:xfrm>
          <a:prstGeom prst="rect">
            <a:avLst/>
          </a:prstGeom>
          <a:solidFill>
            <a:srgbClr val="FFFFFF"/>
          </a:solidFill>
          <a:ln w="635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2002927" y="4069080"/>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1">
                <a:solidFill>
                  <a:srgbClr val="0A5A4A"/>
                </a:solidFill>
                <a:latin typeface="Arial"/>
              </a:rPr>
              <a:t>✔</a:t>
            </a:r>
          </a:p>
        </p:txBody>
      </p:sp>
      <p:sp>
        <p:nvSpPr>
          <p:cNvPr id="91" name="Rectangle 90"/>
          <p:cNvSpPr/>
          <p:nvPr/>
        </p:nvSpPr>
        <p:spPr>
          <a:xfrm>
            <a:off x="365760" y="4069080"/>
            <a:ext cx="1637167" cy="566928"/>
          </a:xfrm>
          <a:prstGeom prst="rect">
            <a:avLst/>
          </a:prstGeom>
          <a:solidFill>
            <a:srgbClr val="FFFFFF"/>
          </a:solidFill>
          <a:ln w="635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365760" y="4069080"/>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a:t>
            </a:r>
          </a:p>
        </p:txBody>
      </p:sp>
      <p:sp>
        <p:nvSpPr>
          <p:cNvPr id="93" name="Rectangle 92"/>
          <p:cNvSpPr/>
          <p:nvPr/>
        </p:nvSpPr>
        <p:spPr>
          <a:xfrm>
            <a:off x="10188767" y="4636008"/>
            <a:ext cx="1637167" cy="566928"/>
          </a:xfrm>
          <a:prstGeom prst="rect">
            <a:avLst/>
          </a:prstGeom>
          <a:solidFill>
            <a:srgbClr val="F8FAFC"/>
          </a:solidFill>
          <a:ln w="635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0188767" y="4636008"/>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200" b="1">
                <a:solidFill>
                  <a:srgbClr val="0F172A"/>
                </a:solidFill>
                <a:latin typeface="Arial"/>
              </a:rPr>
              <a:t>المأمور</a:t>
            </a:r>
          </a:p>
        </p:txBody>
      </p:sp>
      <p:sp>
        <p:nvSpPr>
          <p:cNvPr id="95" name="Rectangle 94"/>
          <p:cNvSpPr/>
          <p:nvPr/>
        </p:nvSpPr>
        <p:spPr>
          <a:xfrm>
            <a:off x="8551599" y="4636008"/>
            <a:ext cx="1637167" cy="566928"/>
          </a:xfrm>
          <a:prstGeom prst="rect">
            <a:avLst/>
          </a:prstGeom>
          <a:solidFill>
            <a:srgbClr val="F8FAFC"/>
          </a:solidFill>
          <a:ln w="635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8551599" y="4636008"/>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a:t>
            </a:r>
          </a:p>
        </p:txBody>
      </p:sp>
      <p:sp>
        <p:nvSpPr>
          <p:cNvPr id="97" name="Rectangle 96"/>
          <p:cNvSpPr/>
          <p:nvPr/>
        </p:nvSpPr>
        <p:spPr>
          <a:xfrm>
            <a:off x="6914431" y="4636008"/>
            <a:ext cx="1637167" cy="566928"/>
          </a:xfrm>
          <a:prstGeom prst="rect">
            <a:avLst/>
          </a:prstGeom>
          <a:solidFill>
            <a:srgbClr val="F8FAFC"/>
          </a:solidFill>
          <a:ln w="635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6914431" y="4636008"/>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1">
                <a:solidFill>
                  <a:srgbClr val="0A5A4A"/>
                </a:solidFill>
                <a:latin typeface="Arial"/>
              </a:rPr>
              <a:t>✔</a:t>
            </a:r>
          </a:p>
        </p:txBody>
      </p:sp>
      <p:sp>
        <p:nvSpPr>
          <p:cNvPr id="99" name="Rectangle 98"/>
          <p:cNvSpPr/>
          <p:nvPr/>
        </p:nvSpPr>
        <p:spPr>
          <a:xfrm>
            <a:off x="5277263" y="4636008"/>
            <a:ext cx="1637167" cy="566928"/>
          </a:xfrm>
          <a:prstGeom prst="rect">
            <a:avLst/>
          </a:prstGeom>
          <a:solidFill>
            <a:srgbClr val="F8FAFC"/>
          </a:solidFill>
          <a:ln w="635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5277263" y="4636008"/>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a:t>
            </a:r>
          </a:p>
        </p:txBody>
      </p:sp>
      <p:sp>
        <p:nvSpPr>
          <p:cNvPr id="101" name="Rectangle 100"/>
          <p:cNvSpPr/>
          <p:nvPr/>
        </p:nvSpPr>
        <p:spPr>
          <a:xfrm>
            <a:off x="3640095" y="4636008"/>
            <a:ext cx="1637167" cy="566928"/>
          </a:xfrm>
          <a:prstGeom prst="rect">
            <a:avLst/>
          </a:prstGeom>
          <a:solidFill>
            <a:srgbClr val="F8FAFC"/>
          </a:solidFill>
          <a:ln w="635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3640095" y="4636008"/>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1">
                <a:solidFill>
                  <a:srgbClr val="0A5A4A"/>
                </a:solidFill>
                <a:latin typeface="Arial"/>
              </a:rPr>
              <a:t>✔</a:t>
            </a:r>
          </a:p>
        </p:txBody>
      </p:sp>
      <p:sp>
        <p:nvSpPr>
          <p:cNvPr id="103" name="Rectangle 102"/>
          <p:cNvSpPr/>
          <p:nvPr/>
        </p:nvSpPr>
        <p:spPr>
          <a:xfrm>
            <a:off x="2002927" y="4636008"/>
            <a:ext cx="1637167" cy="566928"/>
          </a:xfrm>
          <a:prstGeom prst="rect">
            <a:avLst/>
          </a:prstGeom>
          <a:solidFill>
            <a:srgbClr val="F8FAFC"/>
          </a:solidFill>
          <a:ln w="635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2002927" y="4636008"/>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1">
                <a:solidFill>
                  <a:srgbClr val="0A5A4A"/>
                </a:solidFill>
                <a:latin typeface="Arial"/>
              </a:rPr>
              <a:t>✔</a:t>
            </a:r>
          </a:p>
        </p:txBody>
      </p:sp>
      <p:sp>
        <p:nvSpPr>
          <p:cNvPr id="105" name="Rectangle 104"/>
          <p:cNvSpPr/>
          <p:nvPr/>
        </p:nvSpPr>
        <p:spPr>
          <a:xfrm>
            <a:off x="365760" y="4636008"/>
            <a:ext cx="1637167" cy="566928"/>
          </a:xfrm>
          <a:prstGeom prst="rect">
            <a:avLst/>
          </a:prstGeom>
          <a:solidFill>
            <a:srgbClr val="F8FAFC"/>
          </a:solidFill>
          <a:ln w="635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365760" y="4636008"/>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a:t>
            </a:r>
          </a:p>
        </p:txBody>
      </p:sp>
      <p:sp>
        <p:nvSpPr>
          <p:cNvPr id="107" name="Rectangle 106"/>
          <p:cNvSpPr/>
          <p:nvPr/>
        </p:nvSpPr>
        <p:spPr>
          <a:xfrm>
            <a:off x="10188767" y="5202936"/>
            <a:ext cx="1637167" cy="566928"/>
          </a:xfrm>
          <a:prstGeom prst="rect">
            <a:avLst/>
          </a:prstGeom>
          <a:solidFill>
            <a:srgbClr val="FFFFFF"/>
          </a:solidFill>
          <a:ln w="635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10188767" y="5202936"/>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200" b="1">
                <a:solidFill>
                  <a:srgbClr val="0F172A"/>
                </a:solidFill>
                <a:latin typeface="Arial"/>
              </a:rPr>
              <a:t>الممول</a:t>
            </a:r>
          </a:p>
        </p:txBody>
      </p:sp>
      <p:sp>
        <p:nvSpPr>
          <p:cNvPr id="109" name="Rectangle 108"/>
          <p:cNvSpPr/>
          <p:nvPr/>
        </p:nvSpPr>
        <p:spPr>
          <a:xfrm>
            <a:off x="8551599" y="5202936"/>
            <a:ext cx="1637167" cy="566928"/>
          </a:xfrm>
          <a:prstGeom prst="rect">
            <a:avLst/>
          </a:prstGeom>
          <a:solidFill>
            <a:srgbClr val="FFFFFF"/>
          </a:solidFill>
          <a:ln w="635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8551599" y="5202936"/>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a:t>
            </a:r>
          </a:p>
        </p:txBody>
      </p:sp>
      <p:sp>
        <p:nvSpPr>
          <p:cNvPr id="111" name="Rectangle 110"/>
          <p:cNvSpPr/>
          <p:nvPr/>
        </p:nvSpPr>
        <p:spPr>
          <a:xfrm>
            <a:off x="6914431" y="5202936"/>
            <a:ext cx="1637167" cy="566928"/>
          </a:xfrm>
          <a:prstGeom prst="rect">
            <a:avLst/>
          </a:prstGeom>
          <a:solidFill>
            <a:srgbClr val="FFFFFF"/>
          </a:solidFill>
          <a:ln w="635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6914431" y="5202936"/>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a:t>
            </a:r>
          </a:p>
        </p:txBody>
      </p:sp>
      <p:sp>
        <p:nvSpPr>
          <p:cNvPr id="113" name="Rectangle 112"/>
          <p:cNvSpPr/>
          <p:nvPr/>
        </p:nvSpPr>
        <p:spPr>
          <a:xfrm>
            <a:off x="5277263" y="5202936"/>
            <a:ext cx="1637167" cy="566928"/>
          </a:xfrm>
          <a:prstGeom prst="rect">
            <a:avLst/>
          </a:prstGeom>
          <a:solidFill>
            <a:srgbClr val="FFFFFF"/>
          </a:solidFill>
          <a:ln w="635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5277263" y="5202936"/>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a:t>
            </a:r>
          </a:p>
        </p:txBody>
      </p:sp>
      <p:sp>
        <p:nvSpPr>
          <p:cNvPr id="115" name="Rectangle 114"/>
          <p:cNvSpPr/>
          <p:nvPr/>
        </p:nvSpPr>
        <p:spPr>
          <a:xfrm>
            <a:off x="3640095" y="5202936"/>
            <a:ext cx="1637167" cy="566928"/>
          </a:xfrm>
          <a:prstGeom prst="rect">
            <a:avLst/>
          </a:prstGeom>
          <a:solidFill>
            <a:srgbClr val="FFFFFF"/>
          </a:solidFill>
          <a:ln w="635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3640095" y="5202936"/>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a:t>
            </a:r>
          </a:p>
        </p:txBody>
      </p:sp>
      <p:sp>
        <p:nvSpPr>
          <p:cNvPr id="117" name="Rectangle 116"/>
          <p:cNvSpPr/>
          <p:nvPr/>
        </p:nvSpPr>
        <p:spPr>
          <a:xfrm>
            <a:off x="2002927" y="5202936"/>
            <a:ext cx="1637167" cy="566928"/>
          </a:xfrm>
          <a:prstGeom prst="rect">
            <a:avLst/>
          </a:prstGeom>
          <a:solidFill>
            <a:srgbClr val="FFFFFF"/>
          </a:solidFill>
          <a:ln w="635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2002927" y="5202936"/>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a:t>
            </a:r>
          </a:p>
        </p:txBody>
      </p:sp>
      <p:sp>
        <p:nvSpPr>
          <p:cNvPr id="119" name="Rectangle 118"/>
          <p:cNvSpPr/>
          <p:nvPr/>
        </p:nvSpPr>
        <p:spPr>
          <a:xfrm>
            <a:off x="365760" y="5202936"/>
            <a:ext cx="1637167" cy="566928"/>
          </a:xfrm>
          <a:prstGeom prst="rect">
            <a:avLst/>
          </a:prstGeom>
          <a:solidFill>
            <a:srgbClr val="FFFFFF"/>
          </a:solidFill>
          <a:ln w="635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365760" y="5202936"/>
            <a:ext cx="1637167"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00" b="0">
                <a:solidFill>
                  <a:srgbClr val="64748B"/>
                </a:solidFill>
                <a:latin typeface="Arial"/>
              </a:rPr>
              <a:t>—</a:t>
            </a:r>
          </a:p>
        </p:txBody>
      </p:sp>
      <p:sp>
        <p:nvSpPr>
          <p:cNvPr id="121" name="Rectangle 120"/>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23" name="TextBox 122"/>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السابع</a:t>
            </a:r>
          </a:p>
        </p:txBody>
      </p:sp>
      <p:sp>
        <p:nvSpPr>
          <p:cNvPr id="124" name="TextBox 123"/>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مبدأ الهرم الإداري وتطبيقه تقنياً</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الحوكمة</a:t>
            </a:r>
          </a:p>
        </p:txBody>
      </p:sp>
      <p:sp>
        <p:nvSpPr>
          <p:cNvPr id="9" name="TextBox 8"/>
          <p:cNvSpPr txBox="1"/>
          <p:nvPr/>
        </p:nvSpPr>
        <p:spPr>
          <a:xfrm>
            <a:off x="548640" y="1234440"/>
            <a:ext cx="11094415" cy="5166360"/>
          </a:xfrm>
          <a:prstGeom prst="rect">
            <a:avLst/>
          </a:prstGeom>
          <a:noFill/>
        </p:spPr>
        <p:txBody>
          <a:bodyPr wrap="square" anchor="t" lIns="25400" rIns="25400" tIns="12700" bIns="12700">
            <a:spAutoFit/>
          </a:bodyPr>
          <a:lstStyle/>
          <a:p>
            <a:pPr algn="r" rtl="1">
              <a:lnSpc>
                <a:spcPct val="102000"/>
              </a:lnSpc>
              <a:spcBef>
                <a:spcPts val="0"/>
              </a:spcBef>
              <a:spcAft>
                <a:spcPts val="700"/>
              </a:spcAft>
            </a:pPr>
            <a:r>
              <a:rPr sz="1700" b="1">
                <a:solidFill>
                  <a:srgbClr val="0A5A4A"/>
                </a:solidFill>
                <a:latin typeface="Arial"/>
              </a:rPr>
              <a:t>الصلاحية مفروضة على مستوى الخادم لا الواجهة فقط</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كل حساب مرتبط بدور Role وملف Profile ومأمورية office_id.</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الإنشاء عبر دوال خادم (RPC) تفرض من يُنشئ من (admin_create_employee).</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عزل البيانات: الموظف يرى نطاق مأموريته ودوره فقط.</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الواجهة تُظهر البلاطات المسموحة فقط لكل دور (تجربة نظيفة).</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سجل العمليات يوثّق أي تجاوز أو تصرف حسّاس.</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التغييرات الحسّاسة (كلمة المرور/الإنشاء) عبر RPC آمنة موقّعة.</a:t>
            </a:r>
          </a:p>
        </p:txBody>
      </p:sp>
      <p:sp>
        <p:nvSpPr>
          <p:cNvPr id="10" name="Rectangle 9"/>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2" name="TextBox 11"/>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السابع</a:t>
            </a:r>
          </a:p>
        </p:txBody>
      </p:sp>
      <p:sp>
        <p:nvSpPr>
          <p:cNvPr id="13" name="TextBox 12"/>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56032" y="0"/>
            <a:ext cx="54864" cy="68580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45775" cy="45720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600" b="1">
                <a:solidFill>
                  <a:srgbClr val="0D9488"/>
                </a:solidFill>
                <a:latin typeface="Arial"/>
              </a:rPr>
              <a:t>المحور الثامن</a:t>
            </a:r>
          </a:p>
        </p:txBody>
      </p:sp>
      <p:sp>
        <p:nvSpPr>
          <p:cNvPr id="6" name="TextBox 5"/>
          <p:cNvSpPr txBox="1"/>
          <p:nvPr/>
        </p:nvSpPr>
        <p:spPr>
          <a:xfrm>
            <a:off x="822960" y="2743200"/>
            <a:ext cx="10545775" cy="128016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4000" b="1">
                <a:solidFill>
                  <a:srgbClr val="FFFFFF"/>
                </a:solidFill>
                <a:latin typeface="Arial"/>
              </a:rPr>
              <a:t>الخريطة التفاعلية GIS</a:t>
            </a:r>
          </a:p>
        </p:txBody>
      </p:sp>
      <p:sp>
        <p:nvSpPr>
          <p:cNvPr id="7" name="TextBox 6"/>
          <p:cNvSpPr txBox="1"/>
          <p:nvPr/>
        </p:nvSpPr>
        <p:spPr>
          <a:xfrm>
            <a:off x="822960" y="4114800"/>
            <a:ext cx="10545775" cy="1097280"/>
          </a:xfrm>
          <a:prstGeom prst="rect">
            <a:avLst/>
          </a:prstGeom>
          <a:noFill/>
        </p:spPr>
        <p:txBody>
          <a:bodyPr wrap="square" anchor="t" lIns="25400" rIns="25400" tIns="12700" bIns="12700">
            <a:spAutoFit/>
          </a:bodyPr>
          <a:lstStyle/>
          <a:p>
            <a:pPr algn="r" rtl="1">
              <a:lnSpc>
                <a:spcPct val="115000"/>
              </a:lnSpc>
              <a:spcBef>
                <a:spcPts val="0"/>
              </a:spcBef>
              <a:spcAft>
                <a:spcPts val="400"/>
              </a:spcAft>
            </a:pPr>
            <a:r>
              <a:rPr sz="1700" b="0">
                <a:solidFill>
                  <a:srgbClr val="B8CDDC"/>
                </a:solidFill>
                <a:latin typeface="Arial"/>
              </a:rPr>
              <a:t>التسجيل • العرض • خطوط السير • المتابعة • اكتشاف الأنشطة غير المسجّلة</a:t>
            </a:r>
          </a:p>
        </p:txBody>
      </p:sp>
      <p:sp>
        <p:nvSpPr>
          <p:cNvPr id="8" name="TextBox 7"/>
          <p:cNvSpPr txBox="1"/>
          <p:nvPr/>
        </p:nvSpPr>
        <p:spPr>
          <a:xfrm>
            <a:off x="457200" y="6217920"/>
            <a:ext cx="11277295" cy="36576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100" b="0">
                <a:solidFill>
                  <a:srgbClr val="6E8AA0"/>
                </a:solidFill>
                <a:latin typeface="Arial"/>
              </a:rPr>
              <a:t>GeoTax — منظومة إدارة أعمال مصلحة الضرائب المصرية بنظم المعلومات الجغرافية</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الخريطة التفاعلية — نظام الترميز اللوني</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لغة الخريطة</a:t>
            </a:r>
          </a:p>
        </p:txBody>
      </p:sp>
      <p:sp>
        <p:nvSpPr>
          <p:cNvPr id="9" name="TextBox 8"/>
          <p:cNvSpPr txBox="1"/>
          <p:nvPr/>
        </p:nvSpPr>
        <p:spPr>
          <a:xfrm>
            <a:off x="548640" y="1234440"/>
            <a:ext cx="11094415" cy="5166360"/>
          </a:xfrm>
          <a:prstGeom prst="rect">
            <a:avLst/>
          </a:prstGeom>
          <a:noFill/>
        </p:spPr>
        <p:txBody>
          <a:bodyPr wrap="square" anchor="t" lIns="25400" rIns="25400" tIns="12700" bIns="12700">
            <a:spAutoFit/>
          </a:bodyPr>
          <a:lstStyle/>
          <a:p>
            <a:pPr algn="r" rtl="1">
              <a:lnSpc>
                <a:spcPct val="102000"/>
              </a:lnSpc>
              <a:spcBef>
                <a:spcPts val="0"/>
              </a:spcBef>
              <a:spcAft>
                <a:spcPts val="700"/>
              </a:spcAft>
            </a:pPr>
            <a:r>
              <a:rPr sz="1700" b="1">
                <a:solidFill>
                  <a:srgbClr val="0A5A4A"/>
                </a:solidFill>
                <a:latin typeface="Arial"/>
              </a:rPr>
              <a:t>سبعة ألوان تحكي حالة المنظومة بنظرة واحدة</a:t>
            </a:r>
          </a:p>
          <a:p>
            <a:pPr algn="r" rtl="1">
              <a:lnSpc>
                <a:spcPct val="102000"/>
              </a:lnSpc>
              <a:spcBef>
                <a:spcPts val="0"/>
              </a:spcBef>
              <a:spcAft>
                <a:spcPts val="700"/>
              </a:spcAft>
            </a:pPr>
            <a:r>
              <a:rPr sz="1400" b="0">
                <a:solidFill>
                  <a:srgbClr val="0E7C66"/>
                </a:solidFill>
                <a:latin typeface="Arial"/>
              </a:rPr>
              <a:t/>
            </a:r>
            <a:r>
              <a:rPr sz="1400" b="1">
                <a:solidFill>
                  <a:srgbClr val="0E7C66"/>
                </a:solidFill>
                <a:latin typeface="Arial"/>
              </a:rPr>
              <a:t>▪  </a:t>
            </a:r>
            <a:r>
              <a:rPr sz="1400" b="0">
                <a:solidFill>
                  <a:srgbClr val="0E7C66"/>
                </a:solidFill>
                <a:latin typeface="Arial"/>
              </a:rPr>
              <a:t>أخضر: نشاط قائم ونشط.</a:t>
            </a:r>
          </a:p>
          <a:p>
            <a:pPr algn="r" rtl="1">
              <a:lnSpc>
                <a:spcPct val="102000"/>
              </a:lnSpc>
              <a:spcBef>
                <a:spcPts val="0"/>
              </a:spcBef>
              <a:spcAft>
                <a:spcPts val="700"/>
              </a:spcAft>
            </a:pPr>
            <a:r>
              <a:rPr sz="1400" b="0">
                <a:solidFill>
                  <a:srgbClr val="D97706"/>
                </a:solidFill>
                <a:latin typeface="Arial"/>
              </a:rPr>
              <a:t/>
            </a:r>
            <a:r>
              <a:rPr sz="1400" b="1">
                <a:solidFill>
                  <a:srgbClr val="0E7C66"/>
                </a:solidFill>
                <a:latin typeface="Arial"/>
              </a:rPr>
              <a:t>▪  </a:t>
            </a:r>
            <a:r>
              <a:rPr sz="1400" b="0">
                <a:solidFill>
                  <a:srgbClr val="D97706"/>
                </a:solidFill>
                <a:latin typeface="Arial"/>
              </a:rPr>
              <a:t>أصفر: توقف جزئي.</a:t>
            </a:r>
          </a:p>
          <a:p>
            <a:pPr algn="r" rtl="1">
              <a:lnSpc>
                <a:spcPct val="102000"/>
              </a:lnSpc>
              <a:spcBef>
                <a:spcPts val="0"/>
              </a:spcBef>
              <a:spcAft>
                <a:spcPts val="700"/>
              </a:spcAft>
            </a:pPr>
            <a:r>
              <a:rPr sz="1400" b="0">
                <a:solidFill>
                  <a:srgbClr val="DC2626"/>
                </a:solidFill>
                <a:latin typeface="Arial"/>
              </a:rPr>
              <a:t/>
            </a:r>
            <a:r>
              <a:rPr sz="1400" b="1">
                <a:solidFill>
                  <a:srgbClr val="0E7C66"/>
                </a:solidFill>
                <a:latin typeface="Arial"/>
              </a:rPr>
              <a:t>▪  </a:t>
            </a:r>
            <a:r>
              <a:rPr sz="1400" b="0">
                <a:solidFill>
                  <a:srgbClr val="DC2626"/>
                </a:solidFill>
                <a:latin typeface="Arial"/>
              </a:rPr>
              <a:t>أحمر: توقف نهائي.</a:t>
            </a:r>
          </a:p>
          <a:p>
            <a:pPr algn="r" rtl="1">
              <a:lnSpc>
                <a:spcPct val="102000"/>
              </a:lnSpc>
              <a:spcBef>
                <a:spcPts val="0"/>
              </a:spcBef>
              <a:spcAft>
                <a:spcPts val="700"/>
              </a:spcAft>
            </a:pPr>
            <a:r>
              <a:rPr sz="1400" b="0">
                <a:solidFill>
                  <a:srgbClr val="2563EB"/>
                </a:solidFill>
                <a:latin typeface="Arial"/>
              </a:rPr>
              <a:t/>
            </a:r>
            <a:r>
              <a:rPr sz="1400" b="1">
                <a:solidFill>
                  <a:srgbClr val="0E7C66"/>
                </a:solidFill>
                <a:latin typeface="Arial"/>
              </a:rPr>
              <a:t>▪  </a:t>
            </a:r>
            <a:r>
              <a:rPr sz="1400" b="0">
                <a:solidFill>
                  <a:srgbClr val="2563EB"/>
                </a:solidFill>
                <a:latin typeface="Arial"/>
              </a:rPr>
              <a:t>أزرق: نشاط/طلب جديد.</a:t>
            </a:r>
          </a:p>
          <a:p>
            <a:pPr algn="r" rtl="1">
              <a:lnSpc>
                <a:spcPct val="102000"/>
              </a:lnSpc>
              <a:spcBef>
                <a:spcPts val="0"/>
              </a:spcBef>
              <a:spcAft>
                <a:spcPts val="700"/>
              </a:spcAft>
            </a:pPr>
            <a:r>
              <a:rPr sz="1400" b="0">
                <a:solidFill>
                  <a:srgbClr val="64748B"/>
                </a:solidFill>
                <a:latin typeface="Arial"/>
              </a:rPr>
              <a:t/>
            </a:r>
            <a:r>
              <a:rPr sz="1400" b="1">
                <a:solidFill>
                  <a:srgbClr val="0E7C66"/>
                </a:solidFill>
                <a:latin typeface="Arial"/>
              </a:rPr>
              <a:t>▪  </a:t>
            </a:r>
            <a:r>
              <a:rPr sz="1400" b="0">
                <a:solidFill>
                  <a:srgbClr val="64748B"/>
                </a:solidFill>
                <a:latin typeface="Arial"/>
              </a:rPr>
              <a:t>رمادي: قيد الإجراء / غير مكتمل.</a:t>
            </a:r>
          </a:p>
          <a:p>
            <a:pPr algn="r" rtl="1">
              <a:lnSpc>
                <a:spcPct val="102000"/>
              </a:lnSpc>
              <a:spcBef>
                <a:spcPts val="0"/>
              </a:spcBef>
              <a:spcAft>
                <a:spcPts val="700"/>
              </a:spcAft>
            </a:pPr>
            <a:r>
              <a:rPr sz="1400" b="0">
                <a:solidFill>
                  <a:srgbClr val="7C3AED"/>
                </a:solidFill>
                <a:latin typeface="Arial"/>
              </a:rPr>
              <a:t/>
            </a:r>
            <a:r>
              <a:rPr sz="1400" b="1">
                <a:solidFill>
                  <a:srgbClr val="0E7C66"/>
                </a:solidFill>
                <a:latin typeface="Arial"/>
              </a:rPr>
              <a:t>▪  </a:t>
            </a:r>
            <a:r>
              <a:rPr sz="1400" b="0">
                <a:solidFill>
                  <a:srgbClr val="7C3AED"/>
                </a:solidFill>
                <a:latin typeface="Arial"/>
              </a:rPr>
              <a:t>بنفسجي: فرع.</a:t>
            </a:r>
          </a:p>
          <a:p>
            <a:pPr algn="r" rtl="1">
              <a:lnSpc>
                <a:spcPct val="102000"/>
              </a:lnSpc>
              <a:spcBef>
                <a:spcPts val="0"/>
              </a:spcBef>
              <a:spcAft>
                <a:spcPts val="700"/>
              </a:spcAft>
            </a:pPr>
            <a:r>
              <a:rPr sz="1400" b="0">
                <a:solidFill>
                  <a:srgbClr val="0891B2"/>
                </a:solidFill>
                <a:latin typeface="Arial"/>
              </a:rPr>
              <a:t/>
            </a:r>
            <a:r>
              <a:rPr sz="1400" b="1">
                <a:solidFill>
                  <a:srgbClr val="0E7C66"/>
                </a:solidFill>
                <a:latin typeface="Arial"/>
              </a:rPr>
              <a:t>▪  </a:t>
            </a:r>
            <a:r>
              <a:rPr sz="1400" b="0">
                <a:solidFill>
                  <a:srgbClr val="0891B2"/>
                </a:solidFill>
                <a:latin typeface="Arial"/>
              </a:rPr>
              <a:t>فيروزي: مخزن.</a:t>
            </a:r>
          </a:p>
        </p:txBody>
      </p:sp>
      <p:sp>
        <p:nvSpPr>
          <p:cNvPr id="10" name="Rectangle 9"/>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2" name="TextBox 11"/>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الثامن</a:t>
            </a:r>
          </a:p>
        </p:txBody>
      </p:sp>
      <p:sp>
        <p:nvSpPr>
          <p:cNvPr id="13" name="TextBox 12"/>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كيف يتم تسجيل الموقع الجغرافي</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من الميدان إلى الخريطة</a:t>
            </a:r>
          </a:p>
        </p:txBody>
      </p:sp>
      <p:sp>
        <p:nvSpPr>
          <p:cNvPr id="9" name="TextBox 8"/>
          <p:cNvSpPr txBox="1"/>
          <p:nvPr/>
        </p:nvSpPr>
        <p:spPr>
          <a:xfrm>
            <a:off x="548640" y="1234440"/>
            <a:ext cx="11094415" cy="5166360"/>
          </a:xfrm>
          <a:prstGeom prst="rect">
            <a:avLst/>
          </a:prstGeom>
          <a:noFill/>
        </p:spPr>
        <p:txBody>
          <a:bodyPr wrap="square" anchor="t" lIns="25400" rIns="25400" tIns="12700" bIns="12700">
            <a:spAutoFit/>
          </a:bodyPr>
          <a:lstStyle/>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أثناء المعاينة يضغط المأمور «التقاط الموقع» فيقرأ الجهاز إحداثيات GPS.</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تُحفظ خطوط الطول والعرض مع دقة القراءة (accuracy).</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يُرفق المأمور صوراً للموقع كدليل بصري.</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يُربط الموقع تلقائياً بملف الممول أو الفرع أو المخزن.</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تظهر النقطة فوراً على الخريطة بلون حالتها الصحيح.</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موقع الفحص يُسجَّل مستقلاً عن موقع الحصر عند الحاجة.</a:t>
            </a:r>
          </a:p>
        </p:txBody>
      </p:sp>
      <p:sp>
        <p:nvSpPr>
          <p:cNvPr id="10" name="Rectangle 9"/>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2" name="TextBox 11"/>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الثامن</a:t>
            </a:r>
          </a:p>
        </p:txBody>
      </p:sp>
      <p:sp>
        <p:nvSpPr>
          <p:cNvPr id="13" name="TextBox 12"/>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العرض والبحث والمتابعة على الخريطة</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أدوات التحليل الجغرافي</a:t>
            </a:r>
          </a:p>
        </p:txBody>
      </p:sp>
      <p:sp>
        <p:nvSpPr>
          <p:cNvPr id="9" name="TextBox 8"/>
          <p:cNvSpPr txBox="1"/>
          <p:nvPr/>
        </p:nvSpPr>
        <p:spPr>
          <a:xfrm>
            <a:off x="548640" y="1234440"/>
            <a:ext cx="11094415" cy="5166360"/>
          </a:xfrm>
          <a:prstGeom prst="rect">
            <a:avLst/>
          </a:prstGeom>
          <a:noFill/>
        </p:spPr>
        <p:txBody>
          <a:bodyPr wrap="square" anchor="t" lIns="25400" rIns="25400" tIns="12700" bIns="12700">
            <a:spAutoFit/>
          </a:bodyPr>
          <a:lstStyle/>
          <a:p>
            <a:pPr algn="r" rtl="1">
              <a:lnSpc>
                <a:spcPct val="102000"/>
              </a:lnSpc>
              <a:spcBef>
                <a:spcPts val="0"/>
              </a:spcBef>
              <a:spcAft>
                <a:spcPts val="700"/>
              </a:spcAft>
            </a:pPr>
            <a:r>
              <a:rPr sz="1700" b="1">
                <a:solidFill>
                  <a:srgbClr val="0A5A4A"/>
                </a:solidFill>
                <a:latin typeface="Arial"/>
              </a:rPr>
              <a:t>العرض والبحث</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عرض كل الممولين والفروع والمخازن كعلامات ملوّنة.</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بحث لحظي بالرقم/الاسم/النشاط/العنوان يصفّي العلامات.</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الضغط على علامة يفتح ملف الممول مباشرة.</a:t>
            </a:r>
          </a:p>
          <a:p>
            <a:pPr algn="r" rtl="1">
              <a:lnSpc>
                <a:spcPct val="102000"/>
              </a:lnSpc>
              <a:spcBef>
                <a:spcPts val="0"/>
              </a:spcBef>
              <a:spcAft>
                <a:spcPts val="700"/>
              </a:spcAft>
            </a:pPr>
            <a:r>
              <a:rPr sz="1700" b="1">
                <a:solidFill>
                  <a:srgbClr val="0A5A4A"/>
                </a:solidFill>
                <a:latin typeface="Arial"/>
              </a:rPr>
              <a:t>خطوط السير والمتابعة</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المهام تُبنى كخط سير يربط عدة ملفات في مسار ميداني.</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المراجع/المدير يتابع تقدّم المأمور عبر حالات المهام والمواقع.</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عدّاد «النقاط المعروضة» يعطي مؤشراً كمياً فورياً.</a:t>
            </a:r>
          </a:p>
        </p:txBody>
      </p:sp>
      <p:sp>
        <p:nvSpPr>
          <p:cNvPr id="10" name="Rectangle 9"/>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2" name="TextBox 11"/>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الثامن</a:t>
            </a:r>
          </a:p>
        </p:txBody>
      </p:sp>
      <p:sp>
        <p:nvSpPr>
          <p:cNvPr id="13" name="TextBox 12"/>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اكتشاف الأنشطة غير المسجّلة</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توسيع القاعدة الضريبية</a:t>
            </a:r>
          </a:p>
        </p:txBody>
      </p:sp>
      <p:sp>
        <p:nvSpPr>
          <p:cNvPr id="9" name="TextBox 8"/>
          <p:cNvSpPr txBox="1"/>
          <p:nvPr/>
        </p:nvSpPr>
        <p:spPr>
          <a:xfrm>
            <a:off x="548640" y="1234440"/>
            <a:ext cx="11094415" cy="5166360"/>
          </a:xfrm>
          <a:prstGeom prst="rect">
            <a:avLst/>
          </a:prstGeom>
          <a:noFill/>
        </p:spPr>
        <p:txBody>
          <a:bodyPr wrap="square" anchor="t" lIns="25400" rIns="25400" tIns="12700" bIns="12700">
            <a:spAutoFit/>
          </a:bodyPr>
          <a:lstStyle/>
          <a:p>
            <a:pPr algn="r" rtl="1">
              <a:lnSpc>
                <a:spcPct val="102000"/>
              </a:lnSpc>
              <a:spcBef>
                <a:spcPts val="0"/>
              </a:spcBef>
              <a:spcAft>
                <a:spcPts val="700"/>
              </a:spcAft>
            </a:pPr>
            <a:r>
              <a:rPr sz="1700" b="1">
                <a:solidFill>
                  <a:srgbClr val="0A5A4A"/>
                </a:solidFill>
                <a:latin typeface="Arial"/>
              </a:rPr>
              <a:t>الخريطة تكشف ما لا يظهر في الجداول</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الفجوات المكانية بين الأنشطة المسجّلة تشير لمناطق تحتاج حصراً.</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الشكاوى المكانية تضيف نقاطاً مشبوهة للتحقق الميداني.</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مقارنة الواقع بالخريطة تكشف أنشطة قائمة بلا تسجيل.</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الفروع والمخازن تكشف حجم النشاط الحقيقي خلف المقر الرئيسي.</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النتيجة: ضمّ ممولين جدد وزيادة الحصيلة وتحقيق العدالة.</a:t>
            </a:r>
          </a:p>
        </p:txBody>
      </p:sp>
      <p:sp>
        <p:nvSpPr>
          <p:cNvPr id="10" name="Rectangle 9"/>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2" name="TextBox 11"/>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الثامن</a:t>
            </a:r>
          </a:p>
        </p:txBody>
      </p:sp>
      <p:sp>
        <p:nvSpPr>
          <p:cNvPr id="13" name="TextBox 12"/>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102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56032" y="0"/>
            <a:ext cx="54864" cy="68580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45775" cy="45720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600" b="1">
                <a:solidFill>
                  <a:srgbClr val="0D9488"/>
                </a:solidFill>
                <a:latin typeface="Arial"/>
              </a:rPr>
              <a:t>المحور التاسع</a:t>
            </a:r>
          </a:p>
        </p:txBody>
      </p:sp>
      <p:sp>
        <p:nvSpPr>
          <p:cNvPr id="6" name="TextBox 5"/>
          <p:cNvSpPr txBox="1"/>
          <p:nvPr/>
        </p:nvSpPr>
        <p:spPr>
          <a:xfrm>
            <a:off x="822960" y="2743200"/>
            <a:ext cx="10545775" cy="128016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4000" b="1">
                <a:solidFill>
                  <a:srgbClr val="FFFFFF"/>
                </a:solidFill>
                <a:latin typeface="Arial"/>
              </a:rPr>
              <a:t>البحث المركزي مقابل البحث داخل المأمورية</a:t>
            </a:r>
          </a:p>
        </p:txBody>
      </p:sp>
      <p:sp>
        <p:nvSpPr>
          <p:cNvPr id="7" name="TextBox 6"/>
          <p:cNvSpPr txBox="1"/>
          <p:nvPr/>
        </p:nvSpPr>
        <p:spPr>
          <a:xfrm>
            <a:off x="822960" y="4114800"/>
            <a:ext cx="10545775" cy="1097280"/>
          </a:xfrm>
          <a:prstGeom prst="rect">
            <a:avLst/>
          </a:prstGeom>
          <a:noFill/>
        </p:spPr>
        <p:txBody>
          <a:bodyPr wrap="square" anchor="t" lIns="25400" rIns="25400" tIns="12700" bIns="12700">
            <a:spAutoFit/>
          </a:bodyPr>
          <a:lstStyle/>
          <a:p>
            <a:pPr algn="r" rtl="1">
              <a:lnSpc>
                <a:spcPct val="115000"/>
              </a:lnSpc>
              <a:spcBef>
                <a:spcPts val="0"/>
              </a:spcBef>
              <a:spcAft>
                <a:spcPts val="400"/>
              </a:spcAft>
            </a:pPr>
            <a:r>
              <a:rPr sz="1700" b="0">
                <a:solidFill>
                  <a:srgbClr val="B8CDDC"/>
                </a:solidFill>
                <a:latin typeface="Arial"/>
              </a:rPr>
              <a:t>الفرق والغرض وسيناريو الاستخدام لكل منهما</a:t>
            </a:r>
          </a:p>
        </p:txBody>
      </p:sp>
      <p:sp>
        <p:nvSpPr>
          <p:cNvPr id="8" name="TextBox 7"/>
          <p:cNvSpPr txBox="1"/>
          <p:nvPr/>
        </p:nvSpPr>
        <p:spPr>
          <a:xfrm>
            <a:off x="457200" y="6217920"/>
            <a:ext cx="11277295" cy="36576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100" b="0">
                <a:solidFill>
                  <a:srgbClr val="6E8AA0"/>
                </a:solidFill>
                <a:latin typeface="Arial"/>
              </a:rPr>
              <a:t>GeoTax — منظومة إدارة أعمال مصلحة الضرائب المصرية بنظم المعلومات الجغرافية</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البحث المركزي مقابل البحث المحلي</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مقارنة الوظيفتين</a:t>
            </a:r>
          </a:p>
        </p:txBody>
      </p:sp>
      <p:sp>
        <p:nvSpPr>
          <p:cNvPr id="9" name="Rectangle 8"/>
          <p:cNvSpPr/>
          <p:nvPr/>
        </p:nvSpPr>
        <p:spPr>
          <a:xfrm>
            <a:off x="7960156" y="1280160"/>
            <a:ext cx="3728618" cy="640080"/>
          </a:xfrm>
          <a:prstGeom prst="rect">
            <a:avLst/>
          </a:prstGeom>
          <a:solidFill>
            <a:srgbClr val="0E7C66"/>
          </a:solidFill>
          <a:ln w="762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33308" y="1280160"/>
            <a:ext cx="3582314" cy="64008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00" b="1">
                <a:solidFill>
                  <a:srgbClr val="FFFFFF"/>
                </a:solidFill>
                <a:latin typeface="Arial"/>
              </a:rPr>
              <a:t>وجه المقارنة</a:t>
            </a:r>
          </a:p>
        </p:txBody>
      </p:sp>
      <p:sp>
        <p:nvSpPr>
          <p:cNvPr id="11" name="Rectangle 10"/>
          <p:cNvSpPr/>
          <p:nvPr/>
        </p:nvSpPr>
        <p:spPr>
          <a:xfrm>
            <a:off x="4231538" y="1280160"/>
            <a:ext cx="3728618" cy="640080"/>
          </a:xfrm>
          <a:prstGeom prst="rect">
            <a:avLst/>
          </a:prstGeom>
          <a:solidFill>
            <a:srgbClr val="0E7C66"/>
          </a:solidFill>
          <a:ln w="762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04690" y="1280160"/>
            <a:ext cx="3582314" cy="64008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00" b="1">
                <a:solidFill>
                  <a:srgbClr val="FFFFFF"/>
                </a:solidFill>
                <a:latin typeface="Arial"/>
              </a:rPr>
              <a:t>البحث المركزي</a:t>
            </a:r>
          </a:p>
        </p:txBody>
      </p:sp>
      <p:sp>
        <p:nvSpPr>
          <p:cNvPr id="13" name="Rectangle 12"/>
          <p:cNvSpPr/>
          <p:nvPr/>
        </p:nvSpPr>
        <p:spPr>
          <a:xfrm>
            <a:off x="502920" y="1280160"/>
            <a:ext cx="3728618" cy="640080"/>
          </a:xfrm>
          <a:prstGeom prst="rect">
            <a:avLst/>
          </a:prstGeom>
          <a:solidFill>
            <a:srgbClr val="0E7C66"/>
          </a:solidFill>
          <a:ln w="762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76072" y="1280160"/>
            <a:ext cx="3582314" cy="64008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00" b="1">
                <a:solidFill>
                  <a:srgbClr val="FFFFFF"/>
                </a:solidFill>
                <a:latin typeface="Arial"/>
              </a:rPr>
              <a:t>بحث داخل المأمورية</a:t>
            </a:r>
          </a:p>
        </p:txBody>
      </p:sp>
      <p:sp>
        <p:nvSpPr>
          <p:cNvPr id="15" name="Rectangle 14"/>
          <p:cNvSpPr/>
          <p:nvPr/>
        </p:nvSpPr>
        <p:spPr>
          <a:xfrm>
            <a:off x="7960156" y="1920240"/>
            <a:ext cx="3728618" cy="640080"/>
          </a:xfrm>
          <a:prstGeom prst="rect">
            <a:avLst/>
          </a:prstGeom>
          <a:solidFill>
            <a:srgbClr val="F8FAFC"/>
          </a:solidFill>
          <a:ln w="762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33308" y="1920240"/>
            <a:ext cx="3582314" cy="64008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00" b="1">
                <a:solidFill>
                  <a:srgbClr val="0F172A"/>
                </a:solidFill>
                <a:latin typeface="Arial"/>
              </a:rPr>
              <a:t>النطاق</a:t>
            </a:r>
          </a:p>
        </p:txBody>
      </p:sp>
      <p:sp>
        <p:nvSpPr>
          <p:cNvPr id="17" name="Rectangle 16"/>
          <p:cNvSpPr/>
          <p:nvPr/>
        </p:nvSpPr>
        <p:spPr>
          <a:xfrm>
            <a:off x="4231538" y="1920240"/>
            <a:ext cx="3728618" cy="640080"/>
          </a:xfrm>
          <a:prstGeom prst="rect">
            <a:avLst/>
          </a:prstGeom>
          <a:solidFill>
            <a:srgbClr val="F8FAFC"/>
          </a:solidFill>
          <a:ln w="762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04690" y="1920240"/>
            <a:ext cx="3582314" cy="64008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00" b="0">
                <a:solidFill>
                  <a:srgbClr val="0A5A4A"/>
                </a:solidFill>
                <a:latin typeface="Arial"/>
              </a:rPr>
              <a:t>كل الجمهورية</a:t>
            </a:r>
          </a:p>
        </p:txBody>
      </p:sp>
      <p:sp>
        <p:nvSpPr>
          <p:cNvPr id="19" name="Rectangle 18"/>
          <p:cNvSpPr/>
          <p:nvPr/>
        </p:nvSpPr>
        <p:spPr>
          <a:xfrm>
            <a:off x="502920" y="1920240"/>
            <a:ext cx="3728618" cy="640080"/>
          </a:xfrm>
          <a:prstGeom prst="rect">
            <a:avLst/>
          </a:prstGeom>
          <a:solidFill>
            <a:srgbClr val="F8FAFC"/>
          </a:solidFill>
          <a:ln w="762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6072" y="1920240"/>
            <a:ext cx="3582314" cy="64008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00" b="0">
                <a:solidFill>
                  <a:srgbClr val="0A5A4A"/>
                </a:solidFill>
                <a:latin typeface="Arial"/>
              </a:rPr>
              <a:t>المأمورية الحالية فقط</a:t>
            </a:r>
          </a:p>
        </p:txBody>
      </p:sp>
      <p:sp>
        <p:nvSpPr>
          <p:cNvPr id="21" name="Rectangle 20"/>
          <p:cNvSpPr/>
          <p:nvPr/>
        </p:nvSpPr>
        <p:spPr>
          <a:xfrm>
            <a:off x="7960156" y="2560320"/>
            <a:ext cx="3728618" cy="640080"/>
          </a:xfrm>
          <a:prstGeom prst="rect">
            <a:avLst/>
          </a:prstGeom>
          <a:solidFill>
            <a:srgbClr val="FFFFFF"/>
          </a:solidFill>
          <a:ln w="762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33308" y="2560320"/>
            <a:ext cx="3582314" cy="64008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00" b="1">
                <a:solidFill>
                  <a:srgbClr val="0F172A"/>
                </a:solidFill>
                <a:latin typeface="Arial"/>
              </a:rPr>
              <a:t>البيانات</a:t>
            </a:r>
          </a:p>
        </p:txBody>
      </p:sp>
      <p:sp>
        <p:nvSpPr>
          <p:cNvPr id="23" name="Rectangle 22"/>
          <p:cNvSpPr/>
          <p:nvPr/>
        </p:nvSpPr>
        <p:spPr>
          <a:xfrm>
            <a:off x="4231538" y="2560320"/>
            <a:ext cx="3728618" cy="640080"/>
          </a:xfrm>
          <a:prstGeom prst="rect">
            <a:avLst/>
          </a:prstGeom>
          <a:solidFill>
            <a:srgbClr val="FFFFFF"/>
          </a:solidFill>
          <a:ln w="762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04690" y="2560320"/>
            <a:ext cx="3582314" cy="64008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00" b="0">
                <a:solidFill>
                  <a:srgbClr val="0A5A4A"/>
                </a:solidFill>
                <a:latin typeface="Arial"/>
              </a:rPr>
              <a:t>محدودة (اسم/نشاط/مأمورية مختصة)</a:t>
            </a:r>
          </a:p>
        </p:txBody>
      </p:sp>
      <p:sp>
        <p:nvSpPr>
          <p:cNvPr id="25" name="Rectangle 24"/>
          <p:cNvSpPr/>
          <p:nvPr/>
        </p:nvSpPr>
        <p:spPr>
          <a:xfrm>
            <a:off x="502920" y="2560320"/>
            <a:ext cx="3728618" cy="640080"/>
          </a:xfrm>
          <a:prstGeom prst="rect">
            <a:avLst/>
          </a:prstGeom>
          <a:solidFill>
            <a:srgbClr val="FFFFFF"/>
          </a:solidFill>
          <a:ln w="762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76072" y="2560320"/>
            <a:ext cx="3582314" cy="64008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00" b="0">
                <a:solidFill>
                  <a:srgbClr val="0A5A4A"/>
                </a:solidFill>
                <a:latin typeface="Arial"/>
              </a:rPr>
              <a:t>كاملة ومفصّلة</a:t>
            </a:r>
          </a:p>
        </p:txBody>
      </p:sp>
      <p:sp>
        <p:nvSpPr>
          <p:cNvPr id="27" name="Rectangle 26"/>
          <p:cNvSpPr/>
          <p:nvPr/>
        </p:nvSpPr>
        <p:spPr>
          <a:xfrm>
            <a:off x="7960156" y="3200400"/>
            <a:ext cx="3728618" cy="640080"/>
          </a:xfrm>
          <a:prstGeom prst="rect">
            <a:avLst/>
          </a:prstGeom>
          <a:solidFill>
            <a:srgbClr val="F8FAFC"/>
          </a:solidFill>
          <a:ln w="762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33308" y="3200400"/>
            <a:ext cx="3582314" cy="64008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00" b="1">
                <a:solidFill>
                  <a:srgbClr val="0F172A"/>
                </a:solidFill>
                <a:latin typeface="Arial"/>
              </a:rPr>
              <a:t>الموقع وخط السير</a:t>
            </a:r>
          </a:p>
        </p:txBody>
      </p:sp>
      <p:sp>
        <p:nvSpPr>
          <p:cNvPr id="29" name="Rectangle 28"/>
          <p:cNvSpPr/>
          <p:nvPr/>
        </p:nvSpPr>
        <p:spPr>
          <a:xfrm>
            <a:off x="4231538" y="3200400"/>
            <a:ext cx="3728618" cy="640080"/>
          </a:xfrm>
          <a:prstGeom prst="rect">
            <a:avLst/>
          </a:prstGeom>
          <a:solidFill>
            <a:srgbClr val="F8FAFC"/>
          </a:solidFill>
          <a:ln w="762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04690" y="3200400"/>
            <a:ext cx="3582314" cy="64008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00" b="0">
                <a:solidFill>
                  <a:srgbClr val="0A5A4A"/>
                </a:solidFill>
                <a:latin typeface="Arial"/>
              </a:rPr>
              <a:t>لا يظهر</a:t>
            </a:r>
          </a:p>
        </p:txBody>
      </p:sp>
      <p:sp>
        <p:nvSpPr>
          <p:cNvPr id="31" name="Rectangle 30"/>
          <p:cNvSpPr/>
          <p:nvPr/>
        </p:nvSpPr>
        <p:spPr>
          <a:xfrm>
            <a:off x="502920" y="3200400"/>
            <a:ext cx="3728618" cy="640080"/>
          </a:xfrm>
          <a:prstGeom prst="rect">
            <a:avLst/>
          </a:prstGeom>
          <a:solidFill>
            <a:srgbClr val="F8FAFC"/>
          </a:solidFill>
          <a:ln w="762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76072" y="3200400"/>
            <a:ext cx="3582314" cy="64008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00" b="0">
                <a:solidFill>
                  <a:srgbClr val="0A5A4A"/>
                </a:solidFill>
                <a:latin typeface="Arial"/>
              </a:rPr>
              <a:t>يظهر كاملاً</a:t>
            </a:r>
          </a:p>
        </p:txBody>
      </p:sp>
      <p:sp>
        <p:nvSpPr>
          <p:cNvPr id="33" name="Rectangle 32"/>
          <p:cNvSpPr/>
          <p:nvPr/>
        </p:nvSpPr>
        <p:spPr>
          <a:xfrm>
            <a:off x="7960156" y="3840480"/>
            <a:ext cx="3728618" cy="640080"/>
          </a:xfrm>
          <a:prstGeom prst="rect">
            <a:avLst/>
          </a:prstGeom>
          <a:solidFill>
            <a:srgbClr val="FFFFFF"/>
          </a:solidFill>
          <a:ln w="762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033308" y="3840480"/>
            <a:ext cx="3582314" cy="64008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00" b="1">
                <a:solidFill>
                  <a:srgbClr val="0F172A"/>
                </a:solidFill>
                <a:latin typeface="Arial"/>
              </a:rPr>
              <a:t>التعديل</a:t>
            </a:r>
          </a:p>
        </p:txBody>
      </p:sp>
      <p:sp>
        <p:nvSpPr>
          <p:cNvPr id="35" name="Rectangle 34"/>
          <p:cNvSpPr/>
          <p:nvPr/>
        </p:nvSpPr>
        <p:spPr>
          <a:xfrm>
            <a:off x="4231538" y="3840480"/>
            <a:ext cx="3728618" cy="640080"/>
          </a:xfrm>
          <a:prstGeom prst="rect">
            <a:avLst/>
          </a:prstGeom>
          <a:solidFill>
            <a:srgbClr val="FFFFFF"/>
          </a:solidFill>
          <a:ln w="762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304690" y="3840480"/>
            <a:ext cx="3582314" cy="64008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00" b="0">
                <a:solidFill>
                  <a:srgbClr val="0A5A4A"/>
                </a:solidFill>
                <a:latin typeface="Arial"/>
              </a:rPr>
              <a:t>غير مسموح</a:t>
            </a:r>
          </a:p>
        </p:txBody>
      </p:sp>
      <p:sp>
        <p:nvSpPr>
          <p:cNvPr id="37" name="Rectangle 36"/>
          <p:cNvSpPr/>
          <p:nvPr/>
        </p:nvSpPr>
        <p:spPr>
          <a:xfrm>
            <a:off x="502920" y="3840480"/>
            <a:ext cx="3728618" cy="640080"/>
          </a:xfrm>
          <a:prstGeom prst="rect">
            <a:avLst/>
          </a:prstGeom>
          <a:solidFill>
            <a:srgbClr val="FFFFFF"/>
          </a:solidFill>
          <a:ln w="762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76072" y="3840480"/>
            <a:ext cx="3582314" cy="64008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00" b="0">
                <a:solidFill>
                  <a:srgbClr val="0A5A4A"/>
                </a:solidFill>
                <a:latin typeface="Arial"/>
              </a:rPr>
              <a:t>مسموح (وضع التعديل)</a:t>
            </a:r>
          </a:p>
        </p:txBody>
      </p:sp>
      <p:sp>
        <p:nvSpPr>
          <p:cNvPr id="39" name="Rectangle 38"/>
          <p:cNvSpPr/>
          <p:nvPr/>
        </p:nvSpPr>
        <p:spPr>
          <a:xfrm>
            <a:off x="7960156" y="4480560"/>
            <a:ext cx="3728618" cy="640080"/>
          </a:xfrm>
          <a:prstGeom prst="rect">
            <a:avLst/>
          </a:prstGeom>
          <a:solidFill>
            <a:srgbClr val="F8FAFC"/>
          </a:solidFill>
          <a:ln w="762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33308" y="4480560"/>
            <a:ext cx="3582314" cy="64008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00" b="1">
                <a:solidFill>
                  <a:srgbClr val="0F172A"/>
                </a:solidFill>
                <a:latin typeface="Arial"/>
              </a:rPr>
              <a:t>الهدف</a:t>
            </a:r>
          </a:p>
        </p:txBody>
      </p:sp>
      <p:sp>
        <p:nvSpPr>
          <p:cNvPr id="41" name="Rectangle 40"/>
          <p:cNvSpPr/>
          <p:nvPr/>
        </p:nvSpPr>
        <p:spPr>
          <a:xfrm>
            <a:off x="4231538" y="4480560"/>
            <a:ext cx="3728618" cy="640080"/>
          </a:xfrm>
          <a:prstGeom prst="rect">
            <a:avLst/>
          </a:prstGeom>
          <a:solidFill>
            <a:srgbClr val="F8FAFC"/>
          </a:solidFill>
          <a:ln w="762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304690" y="4480560"/>
            <a:ext cx="3582314" cy="64008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00" b="0">
                <a:solidFill>
                  <a:srgbClr val="0A5A4A"/>
                </a:solidFill>
                <a:latin typeface="Arial"/>
              </a:rPr>
              <a:t>تحديد الاختصاص ومنع الازدواج</a:t>
            </a:r>
          </a:p>
        </p:txBody>
      </p:sp>
      <p:sp>
        <p:nvSpPr>
          <p:cNvPr id="43" name="Rectangle 42"/>
          <p:cNvSpPr/>
          <p:nvPr/>
        </p:nvSpPr>
        <p:spPr>
          <a:xfrm>
            <a:off x="502920" y="4480560"/>
            <a:ext cx="3728618" cy="640080"/>
          </a:xfrm>
          <a:prstGeom prst="rect">
            <a:avLst/>
          </a:prstGeom>
          <a:solidFill>
            <a:srgbClr val="F8FAFC"/>
          </a:solidFill>
          <a:ln w="762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76072" y="4480560"/>
            <a:ext cx="3582314" cy="64008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00" b="0">
                <a:solidFill>
                  <a:srgbClr val="0A5A4A"/>
                </a:solidFill>
                <a:latin typeface="Arial"/>
              </a:rPr>
              <a:t>تنفيذ العمل الميداني والإداري</a:t>
            </a:r>
          </a:p>
        </p:txBody>
      </p:sp>
      <p:sp>
        <p:nvSpPr>
          <p:cNvPr id="45" name="Rectangle 44"/>
          <p:cNvSpPr/>
          <p:nvPr/>
        </p:nvSpPr>
        <p:spPr>
          <a:xfrm>
            <a:off x="7960156" y="5120640"/>
            <a:ext cx="3728618" cy="640080"/>
          </a:xfrm>
          <a:prstGeom prst="rect">
            <a:avLst/>
          </a:prstGeom>
          <a:solidFill>
            <a:srgbClr val="FFFFFF"/>
          </a:solidFill>
          <a:ln w="762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033308" y="5120640"/>
            <a:ext cx="3582314" cy="64008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00" b="1">
                <a:solidFill>
                  <a:srgbClr val="0F172A"/>
                </a:solidFill>
                <a:latin typeface="Arial"/>
              </a:rPr>
              <a:t>مثال</a:t>
            </a:r>
          </a:p>
        </p:txBody>
      </p:sp>
      <p:sp>
        <p:nvSpPr>
          <p:cNvPr id="47" name="Rectangle 46"/>
          <p:cNvSpPr/>
          <p:nvPr/>
        </p:nvSpPr>
        <p:spPr>
          <a:xfrm>
            <a:off x="4231538" y="5120640"/>
            <a:ext cx="3728618" cy="640080"/>
          </a:xfrm>
          <a:prstGeom prst="rect">
            <a:avLst/>
          </a:prstGeom>
          <a:solidFill>
            <a:srgbClr val="FFFFFF"/>
          </a:solidFill>
          <a:ln w="762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304690" y="5120640"/>
            <a:ext cx="3582314" cy="64008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00" b="0">
                <a:solidFill>
                  <a:srgbClr val="0A5A4A"/>
                </a:solidFill>
                <a:latin typeface="Arial"/>
              </a:rPr>
              <a:t>التأكد أن ممولاً مسجّل بمأمورية أخرى</a:t>
            </a:r>
          </a:p>
        </p:txBody>
      </p:sp>
      <p:sp>
        <p:nvSpPr>
          <p:cNvPr id="49" name="Rectangle 48"/>
          <p:cNvSpPr/>
          <p:nvPr/>
        </p:nvSpPr>
        <p:spPr>
          <a:xfrm>
            <a:off x="502920" y="5120640"/>
            <a:ext cx="3728618" cy="640080"/>
          </a:xfrm>
          <a:prstGeom prst="rect">
            <a:avLst/>
          </a:prstGeom>
          <a:solidFill>
            <a:srgbClr val="FFFFFF"/>
          </a:solidFill>
          <a:ln w="762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76072" y="5120640"/>
            <a:ext cx="3582314" cy="64008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00" b="0">
                <a:solidFill>
                  <a:srgbClr val="0A5A4A"/>
                </a:solidFill>
                <a:latin typeface="Arial"/>
              </a:rPr>
              <a:t>فتح ملف ممول وتعديل بياناته</a:t>
            </a:r>
          </a:p>
        </p:txBody>
      </p:sp>
      <p:sp>
        <p:nvSpPr>
          <p:cNvPr id="51" name="Rectangle 50"/>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53" name="TextBox 52"/>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التاسع</a:t>
            </a:r>
          </a:p>
        </p:txBody>
      </p:sp>
      <p:sp>
        <p:nvSpPr>
          <p:cNvPr id="54" name="TextBox 53"/>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104</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56032" y="0"/>
            <a:ext cx="54864" cy="68580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45775" cy="45720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600" b="1">
                <a:solidFill>
                  <a:srgbClr val="0D9488"/>
                </a:solidFill>
                <a:latin typeface="Arial"/>
              </a:rPr>
              <a:t>المحور العاشر</a:t>
            </a:r>
          </a:p>
        </p:txBody>
      </p:sp>
      <p:sp>
        <p:nvSpPr>
          <p:cNvPr id="6" name="TextBox 5"/>
          <p:cNvSpPr txBox="1"/>
          <p:nvPr/>
        </p:nvSpPr>
        <p:spPr>
          <a:xfrm>
            <a:off x="822960" y="2743200"/>
            <a:ext cx="10545775" cy="128016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4000" b="1">
                <a:solidFill>
                  <a:srgbClr val="FFFFFF"/>
                </a:solidFill>
                <a:latin typeface="Arial"/>
              </a:rPr>
              <a:t>قاعدة البيانات ومعمارية النظام</a:t>
            </a:r>
          </a:p>
        </p:txBody>
      </p:sp>
      <p:sp>
        <p:nvSpPr>
          <p:cNvPr id="7" name="TextBox 6"/>
          <p:cNvSpPr txBox="1"/>
          <p:nvPr/>
        </p:nvSpPr>
        <p:spPr>
          <a:xfrm>
            <a:off x="822960" y="4114800"/>
            <a:ext cx="10545775" cy="1097280"/>
          </a:xfrm>
          <a:prstGeom prst="rect">
            <a:avLst/>
          </a:prstGeom>
          <a:noFill/>
        </p:spPr>
        <p:txBody>
          <a:bodyPr wrap="square" anchor="t" lIns="25400" rIns="25400" tIns="12700" bIns="12700">
            <a:spAutoFit/>
          </a:bodyPr>
          <a:lstStyle/>
          <a:p>
            <a:pPr algn="r" rtl="1">
              <a:lnSpc>
                <a:spcPct val="115000"/>
              </a:lnSpc>
              <a:spcBef>
                <a:spcPts val="0"/>
              </a:spcBef>
              <a:spcAft>
                <a:spcPts val="400"/>
              </a:spcAft>
            </a:pPr>
            <a:r>
              <a:rPr sz="1700" b="0">
                <a:solidFill>
                  <a:srgbClr val="B8CDDC"/>
                </a:solidFill>
                <a:latin typeface="Arial"/>
              </a:rPr>
              <a:t>الجداول والعلاقات (ER) والمعمارية التقنية الكاملة</a:t>
            </a:r>
          </a:p>
        </p:txBody>
      </p:sp>
      <p:sp>
        <p:nvSpPr>
          <p:cNvPr id="8" name="TextBox 7"/>
          <p:cNvSpPr txBox="1"/>
          <p:nvPr/>
        </p:nvSpPr>
        <p:spPr>
          <a:xfrm>
            <a:off x="457200" y="6217920"/>
            <a:ext cx="11277295" cy="36576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100" b="0">
                <a:solidFill>
                  <a:srgbClr val="6E8AA0"/>
                </a:solidFill>
                <a:latin typeface="Arial"/>
              </a:rPr>
              <a:t>GeoTax — منظومة إدارة أعمال مصلحة الضرائب المصرية بنظم المعلومات الجغرافية</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مخطط قاعدة البيانات (ER)</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الجداول الرئيسية وعلاقاتها</a:t>
            </a:r>
          </a:p>
        </p:txBody>
      </p:sp>
      <p:sp>
        <p:nvSpPr>
          <p:cNvPr id="9" name="Rounded Rectangle 8"/>
          <p:cNvSpPr/>
          <p:nvPr/>
        </p:nvSpPr>
        <p:spPr>
          <a:xfrm>
            <a:off x="4572000" y="2834640"/>
            <a:ext cx="3017520" cy="1737360"/>
          </a:xfrm>
          <a:prstGeom prst="roundRect">
            <a:avLst/>
          </a:prstGeom>
          <a:solidFill>
            <a:srgbClr val="FFFFFF"/>
          </a:solidFill>
          <a:ln w="19050">
            <a:solidFill>
              <a:srgbClr val="0E7C66"/>
            </a:solidFill>
          </a:ln>
          <a:effectLst/>
          <a:effectLst>
            <a:outerShdw blurRad="90000" dist="40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0" y="2834640"/>
            <a:ext cx="3017520" cy="310896"/>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2834640"/>
            <a:ext cx="301752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50" b="1">
                <a:solidFill>
                  <a:srgbClr val="FFFFFF"/>
                </a:solidFill>
                <a:latin typeface="Arial"/>
              </a:rPr>
              <a:t>taxpayers (الممولون)</a:t>
            </a:r>
          </a:p>
        </p:txBody>
      </p:sp>
      <p:sp>
        <p:nvSpPr>
          <p:cNvPr id="12" name="TextBox 11"/>
          <p:cNvSpPr txBox="1"/>
          <p:nvPr/>
        </p:nvSpPr>
        <p:spPr>
          <a:xfrm>
            <a:off x="4626864" y="3163824"/>
            <a:ext cx="2907792" cy="1371600"/>
          </a:xfrm>
          <a:prstGeom prst="rect">
            <a:avLst/>
          </a:prstGeom>
          <a:noFill/>
        </p:spPr>
        <p:txBody>
          <a:bodyPr wrap="square" anchor="t" lIns="25400" rIns="25400" tIns="12700" bIns="12700">
            <a:spAutoFit/>
          </a:bodyPr>
          <a:lstStyle/>
          <a:p>
            <a:pPr algn="r" rtl="1">
              <a:lnSpc>
                <a:spcPct val="95000"/>
              </a:lnSpc>
              <a:spcBef>
                <a:spcPts val="0"/>
              </a:spcBef>
              <a:spcAft>
                <a:spcPts val="100"/>
              </a:spcAft>
            </a:pPr>
            <a:r>
              <a:rPr sz="900" b="0">
                <a:solidFill>
                  <a:srgbClr val="0F172A"/>
                </a:solidFill>
                <a:latin typeface="Arial"/>
              </a:rPr>
              <a:t>• tax_number, national_id</a:t>
            </a:r>
          </a:p>
          <a:p>
            <a:pPr algn="r" rtl="1">
              <a:lnSpc>
                <a:spcPct val="95000"/>
              </a:lnSpc>
              <a:spcBef>
                <a:spcPts val="0"/>
              </a:spcBef>
              <a:spcAft>
                <a:spcPts val="100"/>
              </a:spcAft>
            </a:pPr>
            <a:r>
              <a:rPr sz="900" b="0">
                <a:solidFill>
                  <a:srgbClr val="0F172A"/>
                </a:solidFill>
                <a:latin typeface="Arial"/>
              </a:rPr>
              <a:t>• name, activity, address</a:t>
            </a:r>
          </a:p>
          <a:p>
            <a:pPr algn="r" rtl="1">
              <a:lnSpc>
                <a:spcPct val="95000"/>
              </a:lnSpc>
              <a:spcBef>
                <a:spcPts val="0"/>
              </a:spcBef>
              <a:spcAft>
                <a:spcPts val="100"/>
              </a:spcAft>
            </a:pPr>
            <a:r>
              <a:rPr sz="900" b="0">
                <a:solidFill>
                  <a:srgbClr val="0F172A"/>
                </a:solidFill>
                <a:latin typeface="Arial"/>
              </a:rPr>
              <a:t>• latitude/longitude, status</a:t>
            </a:r>
          </a:p>
          <a:p>
            <a:pPr algn="r" rtl="1">
              <a:lnSpc>
                <a:spcPct val="95000"/>
              </a:lnSpc>
              <a:spcBef>
                <a:spcPts val="0"/>
              </a:spcBef>
              <a:spcAft>
                <a:spcPts val="100"/>
              </a:spcAft>
            </a:pPr>
            <a:r>
              <a:rPr sz="900" b="0">
                <a:solidFill>
                  <a:srgbClr val="0F172A"/>
                </a:solidFill>
                <a:latin typeface="Arial"/>
              </a:rPr>
              <a:t>• office_id, activity_status</a:t>
            </a:r>
          </a:p>
        </p:txBody>
      </p:sp>
      <p:sp>
        <p:nvSpPr>
          <p:cNvPr id="13" name="Rounded Rectangle 12"/>
          <p:cNvSpPr/>
          <p:nvPr/>
        </p:nvSpPr>
        <p:spPr>
          <a:xfrm>
            <a:off x="502920" y="1188720"/>
            <a:ext cx="2743200" cy="1280160"/>
          </a:xfrm>
          <a:prstGeom prst="roundRect">
            <a:avLst/>
          </a:prstGeom>
          <a:solidFill>
            <a:srgbClr val="FFFFFF"/>
          </a:solidFill>
          <a:ln w="19050">
            <a:solidFill>
              <a:srgbClr val="0F2A4A"/>
            </a:solidFill>
          </a:ln>
          <a:effectLst/>
          <a:effectLst>
            <a:outerShdw blurRad="90000" dist="40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188720"/>
            <a:ext cx="2743200"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188720"/>
            <a:ext cx="274320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50" b="1">
                <a:solidFill>
                  <a:srgbClr val="FFFFFF"/>
                </a:solidFill>
                <a:latin typeface="Arial"/>
              </a:rPr>
              <a:t>offices (المأموريات)</a:t>
            </a:r>
          </a:p>
        </p:txBody>
      </p:sp>
      <p:sp>
        <p:nvSpPr>
          <p:cNvPr id="16" name="TextBox 15"/>
          <p:cNvSpPr txBox="1"/>
          <p:nvPr/>
        </p:nvSpPr>
        <p:spPr>
          <a:xfrm>
            <a:off x="557784" y="1517904"/>
            <a:ext cx="2633472" cy="914400"/>
          </a:xfrm>
          <a:prstGeom prst="rect">
            <a:avLst/>
          </a:prstGeom>
          <a:noFill/>
        </p:spPr>
        <p:txBody>
          <a:bodyPr wrap="square" anchor="t" lIns="25400" rIns="25400" tIns="12700" bIns="12700">
            <a:spAutoFit/>
          </a:bodyPr>
          <a:lstStyle/>
          <a:p>
            <a:pPr algn="r" rtl="1">
              <a:lnSpc>
                <a:spcPct val="95000"/>
              </a:lnSpc>
              <a:spcBef>
                <a:spcPts val="0"/>
              </a:spcBef>
              <a:spcAft>
                <a:spcPts val="100"/>
              </a:spcAft>
            </a:pPr>
            <a:r>
              <a:rPr sz="900" b="0">
                <a:solidFill>
                  <a:srgbClr val="0F172A"/>
                </a:solidFill>
                <a:latin typeface="Arial"/>
              </a:rPr>
              <a:t>• code, name</a:t>
            </a:r>
          </a:p>
          <a:p>
            <a:pPr algn="r" rtl="1">
              <a:lnSpc>
                <a:spcPct val="95000"/>
              </a:lnSpc>
              <a:spcBef>
                <a:spcPts val="0"/>
              </a:spcBef>
              <a:spcAft>
                <a:spcPts val="100"/>
              </a:spcAft>
            </a:pPr>
            <a:r>
              <a:rPr sz="900" b="0">
                <a:solidFill>
                  <a:srgbClr val="0F172A"/>
                </a:solidFill>
                <a:latin typeface="Arial"/>
              </a:rPr>
              <a:t>• governorate, region</a:t>
            </a:r>
          </a:p>
          <a:p>
            <a:pPr algn="r" rtl="1">
              <a:lnSpc>
                <a:spcPct val="95000"/>
              </a:lnSpc>
              <a:spcBef>
                <a:spcPts val="0"/>
              </a:spcBef>
              <a:spcAft>
                <a:spcPts val="100"/>
              </a:spcAft>
            </a:pPr>
            <a:r>
              <a:rPr sz="900" b="0">
                <a:solidFill>
                  <a:srgbClr val="0F172A"/>
                </a:solidFill>
                <a:latin typeface="Arial"/>
              </a:rPr>
              <a:t>• status</a:t>
            </a:r>
          </a:p>
        </p:txBody>
      </p:sp>
      <p:sp>
        <p:nvSpPr>
          <p:cNvPr id="17" name="Rounded Rectangle 16"/>
          <p:cNvSpPr/>
          <p:nvPr/>
        </p:nvSpPr>
        <p:spPr>
          <a:xfrm>
            <a:off x="502920" y="2834640"/>
            <a:ext cx="2743200" cy="1371600"/>
          </a:xfrm>
          <a:prstGeom prst="roundRect">
            <a:avLst/>
          </a:prstGeom>
          <a:solidFill>
            <a:srgbClr val="FFFFFF"/>
          </a:solidFill>
          <a:ln w="19050">
            <a:solidFill>
              <a:srgbClr val="7C3AED"/>
            </a:solidFill>
          </a:ln>
          <a:effectLst/>
          <a:effectLst>
            <a:outerShdw blurRad="90000" dist="40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2834640"/>
            <a:ext cx="2743200"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2834640"/>
            <a:ext cx="274320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50" b="1">
                <a:solidFill>
                  <a:srgbClr val="FFFFFF"/>
                </a:solidFill>
                <a:latin typeface="Arial"/>
              </a:rPr>
              <a:t>profiles (المستخدمون)</a:t>
            </a:r>
          </a:p>
        </p:txBody>
      </p:sp>
      <p:sp>
        <p:nvSpPr>
          <p:cNvPr id="20" name="TextBox 19"/>
          <p:cNvSpPr txBox="1"/>
          <p:nvPr/>
        </p:nvSpPr>
        <p:spPr>
          <a:xfrm>
            <a:off x="557784" y="3163824"/>
            <a:ext cx="2633472" cy="1005840"/>
          </a:xfrm>
          <a:prstGeom prst="rect">
            <a:avLst/>
          </a:prstGeom>
          <a:noFill/>
        </p:spPr>
        <p:txBody>
          <a:bodyPr wrap="square" anchor="t" lIns="25400" rIns="25400" tIns="12700" bIns="12700">
            <a:spAutoFit/>
          </a:bodyPr>
          <a:lstStyle/>
          <a:p>
            <a:pPr algn="r" rtl="1">
              <a:lnSpc>
                <a:spcPct val="95000"/>
              </a:lnSpc>
              <a:spcBef>
                <a:spcPts val="0"/>
              </a:spcBef>
              <a:spcAft>
                <a:spcPts val="100"/>
              </a:spcAft>
            </a:pPr>
            <a:r>
              <a:rPr sz="900" b="0">
                <a:solidFill>
                  <a:srgbClr val="0F172A"/>
                </a:solidFill>
                <a:latin typeface="Arial"/>
              </a:rPr>
              <a:t>• role, full_name</a:t>
            </a:r>
          </a:p>
          <a:p>
            <a:pPr algn="r" rtl="1">
              <a:lnSpc>
                <a:spcPct val="95000"/>
              </a:lnSpc>
              <a:spcBef>
                <a:spcPts val="0"/>
              </a:spcBef>
              <a:spcAft>
                <a:spcPts val="100"/>
              </a:spcAft>
            </a:pPr>
            <a:r>
              <a:rPr sz="900" b="0">
                <a:solidFill>
                  <a:srgbClr val="0F172A"/>
                </a:solidFill>
                <a:latin typeface="Arial"/>
              </a:rPr>
              <a:t>• office_id, employee_number</a:t>
            </a:r>
          </a:p>
          <a:p>
            <a:pPr algn="r" rtl="1">
              <a:lnSpc>
                <a:spcPct val="95000"/>
              </a:lnSpc>
              <a:spcBef>
                <a:spcPts val="0"/>
              </a:spcBef>
              <a:spcAft>
                <a:spcPts val="100"/>
              </a:spcAft>
            </a:pPr>
            <a:r>
              <a:rPr sz="900" b="0">
                <a:solidFill>
                  <a:srgbClr val="0F172A"/>
                </a:solidFill>
                <a:latin typeface="Arial"/>
              </a:rPr>
              <a:t>• must_change_password</a:t>
            </a:r>
          </a:p>
        </p:txBody>
      </p:sp>
      <p:sp>
        <p:nvSpPr>
          <p:cNvPr id="21" name="Rounded Rectangle 20"/>
          <p:cNvSpPr/>
          <p:nvPr/>
        </p:nvSpPr>
        <p:spPr>
          <a:xfrm>
            <a:off x="502920" y="4617720"/>
            <a:ext cx="2743200" cy="1280160"/>
          </a:xfrm>
          <a:prstGeom prst="roundRect">
            <a:avLst/>
          </a:prstGeom>
          <a:solidFill>
            <a:srgbClr val="FFFFFF"/>
          </a:solidFill>
          <a:ln w="19050">
            <a:solidFill>
              <a:srgbClr val="D97706"/>
            </a:solidFill>
          </a:ln>
          <a:effectLst/>
          <a:effectLst>
            <a:outerShdw blurRad="90000" dist="40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2920" y="4617720"/>
            <a:ext cx="2743200" cy="31089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4617720"/>
            <a:ext cx="274320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50" b="1">
                <a:solidFill>
                  <a:srgbClr val="FFFFFF"/>
                </a:solidFill>
                <a:latin typeface="Arial"/>
              </a:rPr>
              <a:t>tasks (المهام)</a:t>
            </a:r>
          </a:p>
        </p:txBody>
      </p:sp>
      <p:sp>
        <p:nvSpPr>
          <p:cNvPr id="24" name="TextBox 23"/>
          <p:cNvSpPr txBox="1"/>
          <p:nvPr/>
        </p:nvSpPr>
        <p:spPr>
          <a:xfrm>
            <a:off x="557784" y="4946904"/>
            <a:ext cx="2633472" cy="914400"/>
          </a:xfrm>
          <a:prstGeom prst="rect">
            <a:avLst/>
          </a:prstGeom>
          <a:noFill/>
        </p:spPr>
        <p:txBody>
          <a:bodyPr wrap="square" anchor="t" lIns="25400" rIns="25400" tIns="12700" bIns="12700">
            <a:spAutoFit/>
          </a:bodyPr>
          <a:lstStyle/>
          <a:p>
            <a:pPr algn="r" rtl="1">
              <a:lnSpc>
                <a:spcPct val="95000"/>
              </a:lnSpc>
              <a:spcBef>
                <a:spcPts val="0"/>
              </a:spcBef>
              <a:spcAft>
                <a:spcPts val="100"/>
              </a:spcAft>
            </a:pPr>
            <a:r>
              <a:rPr sz="900" b="0">
                <a:solidFill>
                  <a:srgbClr val="0F172A"/>
                </a:solidFill>
                <a:latin typeface="Arial"/>
              </a:rPr>
              <a:t>• task_type, assigned_to</a:t>
            </a:r>
          </a:p>
          <a:p>
            <a:pPr algn="r" rtl="1">
              <a:lnSpc>
                <a:spcPct val="95000"/>
              </a:lnSpc>
              <a:spcBef>
                <a:spcPts val="0"/>
              </a:spcBef>
              <a:spcAft>
                <a:spcPts val="100"/>
              </a:spcAft>
            </a:pPr>
            <a:r>
              <a:rPr sz="900" b="0">
                <a:solidFill>
                  <a:srgbClr val="0F172A"/>
                </a:solidFill>
                <a:latin typeface="Arial"/>
              </a:rPr>
              <a:t>• taxpayer_ids[], priority</a:t>
            </a:r>
          </a:p>
          <a:p>
            <a:pPr algn="r" rtl="1">
              <a:lnSpc>
                <a:spcPct val="95000"/>
              </a:lnSpc>
              <a:spcBef>
                <a:spcPts val="0"/>
              </a:spcBef>
              <a:spcAft>
                <a:spcPts val="100"/>
              </a:spcAft>
            </a:pPr>
            <a:r>
              <a:rPr sz="900" b="0">
                <a:solidFill>
                  <a:srgbClr val="0F172A"/>
                </a:solidFill>
                <a:latin typeface="Arial"/>
              </a:rPr>
              <a:t>• status, due_date</a:t>
            </a:r>
          </a:p>
        </p:txBody>
      </p:sp>
      <p:sp>
        <p:nvSpPr>
          <p:cNvPr id="25" name="Rounded Rectangle 24"/>
          <p:cNvSpPr/>
          <p:nvPr/>
        </p:nvSpPr>
        <p:spPr>
          <a:xfrm>
            <a:off x="8732520" y="1188720"/>
            <a:ext cx="2926080" cy="1234440"/>
          </a:xfrm>
          <a:prstGeom prst="roundRect">
            <a:avLst/>
          </a:prstGeom>
          <a:solidFill>
            <a:srgbClr val="FFFFFF"/>
          </a:solidFill>
          <a:ln w="19050">
            <a:solidFill>
              <a:srgbClr val="0891B2"/>
            </a:solidFill>
          </a:ln>
          <a:effectLst/>
          <a:effectLst>
            <a:outerShdw blurRad="90000" dist="40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732520" y="1188720"/>
            <a:ext cx="2926080" cy="310896"/>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32520" y="1188720"/>
            <a:ext cx="292608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50" b="1">
                <a:solidFill>
                  <a:srgbClr val="FFFFFF"/>
                </a:solidFill>
                <a:latin typeface="Arial"/>
              </a:rPr>
              <a:t>branches / warehouses</a:t>
            </a:r>
          </a:p>
        </p:txBody>
      </p:sp>
      <p:sp>
        <p:nvSpPr>
          <p:cNvPr id="28" name="TextBox 27"/>
          <p:cNvSpPr txBox="1"/>
          <p:nvPr/>
        </p:nvSpPr>
        <p:spPr>
          <a:xfrm>
            <a:off x="8787384" y="1517904"/>
            <a:ext cx="2816352" cy="868680"/>
          </a:xfrm>
          <a:prstGeom prst="rect">
            <a:avLst/>
          </a:prstGeom>
          <a:noFill/>
        </p:spPr>
        <p:txBody>
          <a:bodyPr wrap="square" anchor="t" lIns="25400" rIns="25400" tIns="12700" bIns="12700">
            <a:spAutoFit/>
          </a:bodyPr>
          <a:lstStyle/>
          <a:p>
            <a:pPr algn="r" rtl="1">
              <a:lnSpc>
                <a:spcPct val="95000"/>
              </a:lnSpc>
              <a:spcBef>
                <a:spcPts val="0"/>
              </a:spcBef>
              <a:spcAft>
                <a:spcPts val="100"/>
              </a:spcAft>
            </a:pPr>
            <a:r>
              <a:rPr sz="900" b="0">
                <a:solidFill>
                  <a:srgbClr val="0F172A"/>
                </a:solidFill>
                <a:latin typeface="Arial"/>
              </a:rPr>
              <a:t>• taxpayer_id</a:t>
            </a:r>
          </a:p>
          <a:p>
            <a:pPr algn="r" rtl="1">
              <a:lnSpc>
                <a:spcPct val="95000"/>
              </a:lnSpc>
              <a:spcBef>
                <a:spcPts val="0"/>
              </a:spcBef>
              <a:spcAft>
                <a:spcPts val="100"/>
              </a:spcAft>
            </a:pPr>
            <a:r>
              <a:rPr sz="900" b="0">
                <a:solidFill>
                  <a:srgbClr val="0F172A"/>
                </a:solidFill>
                <a:latin typeface="Arial"/>
              </a:rPr>
              <a:t>• lat/lng, address, photos</a:t>
            </a:r>
          </a:p>
        </p:txBody>
      </p:sp>
      <p:sp>
        <p:nvSpPr>
          <p:cNvPr id="29" name="Rounded Rectangle 28"/>
          <p:cNvSpPr/>
          <p:nvPr/>
        </p:nvSpPr>
        <p:spPr>
          <a:xfrm>
            <a:off x="8732520" y="2743200"/>
            <a:ext cx="2926080" cy="1371600"/>
          </a:xfrm>
          <a:prstGeom prst="roundRect">
            <a:avLst/>
          </a:prstGeom>
          <a:solidFill>
            <a:srgbClr val="FFFFFF"/>
          </a:solidFill>
          <a:ln w="19050">
            <a:solidFill>
              <a:srgbClr val="2563EB"/>
            </a:solidFill>
          </a:ln>
          <a:effectLst/>
          <a:effectLst>
            <a:outerShdw blurRad="90000" dist="40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732520" y="2743200"/>
            <a:ext cx="2926080" cy="3108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732520" y="2743200"/>
            <a:ext cx="292608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50" b="1">
                <a:solidFill>
                  <a:srgbClr val="FFFFFF"/>
                </a:solidFill>
                <a:latin typeface="Arial"/>
              </a:rPr>
              <a:t>inspections / stops</a:t>
            </a:r>
          </a:p>
        </p:txBody>
      </p:sp>
      <p:sp>
        <p:nvSpPr>
          <p:cNvPr id="32" name="TextBox 31"/>
          <p:cNvSpPr txBox="1"/>
          <p:nvPr/>
        </p:nvSpPr>
        <p:spPr>
          <a:xfrm>
            <a:off x="8787384" y="3072384"/>
            <a:ext cx="2816352" cy="1005840"/>
          </a:xfrm>
          <a:prstGeom prst="rect">
            <a:avLst/>
          </a:prstGeom>
          <a:noFill/>
        </p:spPr>
        <p:txBody>
          <a:bodyPr wrap="square" anchor="t" lIns="25400" rIns="25400" tIns="12700" bIns="12700">
            <a:spAutoFit/>
          </a:bodyPr>
          <a:lstStyle/>
          <a:p>
            <a:pPr algn="r" rtl="1">
              <a:lnSpc>
                <a:spcPct val="95000"/>
              </a:lnSpc>
              <a:spcBef>
                <a:spcPts val="0"/>
              </a:spcBef>
              <a:spcAft>
                <a:spcPts val="100"/>
              </a:spcAft>
            </a:pPr>
            <a:r>
              <a:rPr sz="900" b="0">
                <a:solidFill>
                  <a:srgbClr val="0F172A"/>
                </a:solidFill>
                <a:latin typeface="Arial"/>
              </a:rPr>
              <a:t>• taxpayer_id, result</a:t>
            </a:r>
          </a:p>
          <a:p>
            <a:pPr algn="r" rtl="1">
              <a:lnSpc>
                <a:spcPct val="95000"/>
              </a:lnSpc>
              <a:spcBef>
                <a:spcPts val="0"/>
              </a:spcBef>
              <a:spcAft>
                <a:spcPts val="100"/>
              </a:spcAft>
            </a:pPr>
            <a:r>
              <a:rPr sz="900" b="0">
                <a:solidFill>
                  <a:srgbClr val="0F172A"/>
                </a:solidFill>
                <a:latin typeface="Arial"/>
              </a:rPr>
              <a:t>• exam lat/lng, photos</a:t>
            </a:r>
          </a:p>
          <a:p>
            <a:pPr algn="r" rtl="1">
              <a:lnSpc>
                <a:spcPct val="95000"/>
              </a:lnSpc>
              <a:spcBef>
                <a:spcPts val="0"/>
              </a:spcBef>
              <a:spcAft>
                <a:spcPts val="100"/>
              </a:spcAft>
            </a:pPr>
            <a:r>
              <a:rPr sz="900" b="0">
                <a:solidFill>
                  <a:srgbClr val="0F172A"/>
                </a:solidFill>
                <a:latin typeface="Arial"/>
              </a:rPr>
              <a:t>• stop_date, reason</a:t>
            </a:r>
          </a:p>
        </p:txBody>
      </p:sp>
      <p:sp>
        <p:nvSpPr>
          <p:cNvPr id="33" name="Rounded Rectangle 32"/>
          <p:cNvSpPr/>
          <p:nvPr/>
        </p:nvSpPr>
        <p:spPr>
          <a:xfrm>
            <a:off x="8732520" y="4434840"/>
            <a:ext cx="2926080" cy="1280160"/>
          </a:xfrm>
          <a:prstGeom prst="roundRect">
            <a:avLst/>
          </a:prstGeom>
          <a:solidFill>
            <a:srgbClr val="FFFFFF"/>
          </a:solidFill>
          <a:ln w="19050">
            <a:solidFill>
              <a:srgbClr val="DC2626"/>
            </a:solidFill>
          </a:ln>
          <a:effectLst/>
          <a:effectLst>
            <a:outerShdw blurRad="90000" dist="40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732520" y="4434840"/>
            <a:ext cx="2926080" cy="310896"/>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732520" y="4434840"/>
            <a:ext cx="292608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50" b="1">
                <a:solidFill>
                  <a:srgbClr val="FFFFFF"/>
                </a:solidFill>
                <a:latin typeface="Arial"/>
              </a:rPr>
              <a:t>requests / complaints</a:t>
            </a:r>
          </a:p>
        </p:txBody>
      </p:sp>
      <p:sp>
        <p:nvSpPr>
          <p:cNvPr id="36" name="TextBox 35"/>
          <p:cNvSpPr txBox="1"/>
          <p:nvPr/>
        </p:nvSpPr>
        <p:spPr>
          <a:xfrm>
            <a:off x="8787384" y="4764024"/>
            <a:ext cx="2816352" cy="914400"/>
          </a:xfrm>
          <a:prstGeom prst="rect">
            <a:avLst/>
          </a:prstGeom>
          <a:noFill/>
        </p:spPr>
        <p:txBody>
          <a:bodyPr wrap="square" anchor="t" lIns="25400" rIns="25400" tIns="12700" bIns="12700">
            <a:spAutoFit/>
          </a:bodyPr>
          <a:lstStyle/>
          <a:p>
            <a:pPr algn="r" rtl="1">
              <a:lnSpc>
                <a:spcPct val="95000"/>
              </a:lnSpc>
              <a:spcBef>
                <a:spcPts val="0"/>
              </a:spcBef>
              <a:spcAft>
                <a:spcPts val="100"/>
              </a:spcAft>
            </a:pPr>
            <a:r>
              <a:rPr sz="900" b="0">
                <a:solidFill>
                  <a:srgbClr val="0F172A"/>
                </a:solidFill>
                <a:latin typeface="Arial"/>
              </a:rPr>
              <a:t>• type, status</a:t>
            </a:r>
          </a:p>
          <a:p>
            <a:pPr algn="r" rtl="1">
              <a:lnSpc>
                <a:spcPct val="95000"/>
              </a:lnSpc>
              <a:spcBef>
                <a:spcPts val="0"/>
              </a:spcBef>
              <a:spcAft>
                <a:spcPts val="100"/>
              </a:spcAft>
            </a:pPr>
            <a:r>
              <a:rPr sz="900" b="0">
                <a:solidFill>
                  <a:srgbClr val="0F172A"/>
                </a:solidFill>
                <a:latin typeface="Arial"/>
              </a:rPr>
              <a:t>• name, address, lat/lng</a:t>
            </a:r>
          </a:p>
        </p:txBody>
      </p:sp>
      <p:sp>
        <p:nvSpPr>
          <p:cNvPr id="37" name="Rounded Rectangle 36"/>
          <p:cNvSpPr/>
          <p:nvPr/>
        </p:nvSpPr>
        <p:spPr>
          <a:xfrm>
            <a:off x="4754880" y="4937760"/>
            <a:ext cx="2743200" cy="1051560"/>
          </a:xfrm>
          <a:prstGeom prst="roundRect">
            <a:avLst/>
          </a:prstGeom>
          <a:solidFill>
            <a:srgbClr val="FFFFFF"/>
          </a:solidFill>
          <a:ln w="19050">
            <a:solidFill>
              <a:srgbClr val="0A5A4A"/>
            </a:solidFill>
          </a:ln>
          <a:effectLst/>
          <a:effectLst>
            <a:outerShdw blurRad="90000" dist="40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754880" y="4937760"/>
            <a:ext cx="2743200" cy="310896"/>
          </a:xfrm>
          <a:prstGeom prst="rect">
            <a:avLst/>
          </a:prstGeom>
          <a:solidFill>
            <a:srgbClr val="0A5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754880" y="4937760"/>
            <a:ext cx="274320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150" b="1">
                <a:solidFill>
                  <a:srgbClr val="FFFFFF"/>
                </a:solidFill>
                <a:latin typeface="Arial"/>
              </a:rPr>
              <a:t>audit_log / news / messages</a:t>
            </a:r>
          </a:p>
        </p:txBody>
      </p:sp>
      <p:sp>
        <p:nvSpPr>
          <p:cNvPr id="40" name="TextBox 39"/>
          <p:cNvSpPr txBox="1"/>
          <p:nvPr/>
        </p:nvSpPr>
        <p:spPr>
          <a:xfrm>
            <a:off x="4809744" y="5266944"/>
            <a:ext cx="2633472" cy="685800"/>
          </a:xfrm>
          <a:prstGeom prst="rect">
            <a:avLst/>
          </a:prstGeom>
          <a:noFill/>
        </p:spPr>
        <p:txBody>
          <a:bodyPr wrap="square" anchor="t" lIns="25400" rIns="25400" tIns="12700" bIns="12700">
            <a:spAutoFit/>
          </a:bodyPr>
          <a:lstStyle/>
          <a:p>
            <a:pPr algn="r" rtl="1">
              <a:lnSpc>
                <a:spcPct val="95000"/>
              </a:lnSpc>
              <a:spcBef>
                <a:spcPts val="0"/>
              </a:spcBef>
              <a:spcAft>
                <a:spcPts val="100"/>
              </a:spcAft>
            </a:pPr>
            <a:r>
              <a:rPr sz="900" b="0">
                <a:solidFill>
                  <a:srgbClr val="0F172A"/>
                </a:solidFill>
                <a:latin typeface="Arial"/>
              </a:rPr>
              <a:t>• operation, user, details</a:t>
            </a:r>
          </a:p>
          <a:p>
            <a:pPr algn="r" rtl="1">
              <a:lnSpc>
                <a:spcPct val="95000"/>
              </a:lnSpc>
              <a:spcBef>
                <a:spcPts val="0"/>
              </a:spcBef>
              <a:spcAft>
                <a:spcPts val="100"/>
              </a:spcAft>
            </a:pPr>
            <a:r>
              <a:rPr sz="900" b="0">
                <a:solidFill>
                  <a:srgbClr val="0F172A"/>
                </a:solidFill>
                <a:latin typeface="Arial"/>
              </a:rPr>
              <a:t>• title, body, audience</a:t>
            </a:r>
          </a:p>
        </p:txBody>
      </p:sp>
      <p:cxnSp>
        <p:nvCxnSpPr>
          <p:cNvPr id="41" name="Connector 40"/>
          <p:cNvCxnSpPr/>
          <p:nvPr/>
        </p:nvCxnSpPr>
        <p:spPr>
          <a:xfrm>
            <a:off x="3246120" y="1828800"/>
            <a:ext cx="1325880" cy="1280160"/>
          </a:xfrm>
          <a:prstGeom prst="bentConnector3">
            <a:avLst/>
          </a:prstGeom>
          <a:ln w="15875">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3246120" y="3474720"/>
            <a:ext cx="1325880" cy="91440"/>
          </a:xfrm>
          <a:prstGeom prst="bentConnector3">
            <a:avLst/>
          </a:prstGeom>
          <a:ln w="15875">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3246120" y="4023360"/>
            <a:ext cx="1325880" cy="1097280"/>
          </a:xfrm>
          <a:prstGeom prst="bentConnector3">
            <a:avLst/>
          </a:prstGeom>
          <a:ln w="15875">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7589520" y="1828800"/>
            <a:ext cx="1143000" cy="1463040"/>
          </a:xfrm>
          <a:prstGeom prst="bentConnector3">
            <a:avLst/>
          </a:prstGeom>
          <a:ln w="15875">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7589520" y="3291840"/>
            <a:ext cx="1143000" cy="274320"/>
          </a:xfrm>
          <a:prstGeom prst="bentConnector3">
            <a:avLst/>
          </a:prstGeom>
          <a:ln w="15875">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7589520" y="3931920"/>
            <a:ext cx="1143000" cy="914400"/>
          </a:xfrm>
          <a:prstGeom prst="bentConnector3">
            <a:avLst/>
          </a:prstGeom>
          <a:ln w="15875">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6035040" y="4572000"/>
            <a:ext cx="0" cy="365760"/>
          </a:xfrm>
          <a:prstGeom prst="bentConnector3">
            <a:avLst/>
          </a:prstGeom>
          <a:ln w="15875">
            <a:solidFill>
              <a:srgbClr val="64748B"/>
            </a:solidFill>
          </a:ln>
        </p:spPr>
        <p:style>
          <a:lnRef idx="2">
            <a:schemeClr val="accent1"/>
          </a:lnRef>
          <a:fillRef idx="0">
            <a:schemeClr val="accent1"/>
          </a:fillRef>
          <a:effectRef idx="1">
            <a:schemeClr val="accent1"/>
          </a:effectRef>
          <a:fontRef idx="minor">
            <a:schemeClr val="tx1"/>
          </a:fontRef>
        </p:style>
      </p:cxnSp>
      <p:sp>
        <p:nvSpPr>
          <p:cNvPr id="48" name="Rectangle 47"/>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50" name="TextBox 49"/>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العاشر</a:t>
            </a:r>
          </a:p>
        </p:txBody>
      </p:sp>
      <p:sp>
        <p:nvSpPr>
          <p:cNvPr id="51" name="TextBox 50"/>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106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جداول قاعدة البيانات والعلاقات</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الوصف</a:t>
            </a:r>
          </a:p>
        </p:txBody>
      </p:sp>
      <p:sp>
        <p:nvSpPr>
          <p:cNvPr id="9" name="TextBox 8"/>
          <p:cNvSpPr txBox="1"/>
          <p:nvPr/>
        </p:nvSpPr>
        <p:spPr>
          <a:xfrm>
            <a:off x="548640" y="1234440"/>
            <a:ext cx="11094415" cy="5166360"/>
          </a:xfrm>
          <a:prstGeom prst="rect">
            <a:avLst/>
          </a:prstGeom>
          <a:noFill/>
        </p:spPr>
        <p:txBody>
          <a:bodyPr wrap="square" anchor="t" lIns="25400" rIns="25400" tIns="12700" bIns="12700">
            <a:spAutoFit/>
          </a:bodyPr>
          <a:lstStyle/>
          <a:p>
            <a:pPr algn="r" rtl="1">
              <a:lnSpc>
                <a:spcPct val="102000"/>
              </a:lnSpc>
              <a:spcBef>
                <a:spcPts val="0"/>
              </a:spcBef>
              <a:spcAft>
                <a:spcPts val="700"/>
              </a:spcAft>
            </a:pPr>
            <a:r>
              <a:rPr sz="1700" b="1">
                <a:solidFill>
                  <a:srgbClr val="0A5A4A"/>
                </a:solidFill>
                <a:latin typeface="Arial"/>
              </a:rPr>
              <a:t>أهم الجداول (Supabase / PostgreSQL)</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offices ↤ profiles: كل مستخدم ينتمي لمأمورية (office_id).</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taxpayers: السجل المركزي؛ يرتبط بالمأمورية والحساب (user_id).</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branches / warehouses / sub_activities → taxpayer_id (واحد لأكثر).</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tasks: تحمل مصفوفة taxpayer_ids[] وتُسنَد من مستخدم لآخر.</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inspections / partial_stops / final_stops → taxpayer_id.</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requests / complaints: مصادر عمل ترتبط بالممول والموقع.</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audit_log / news / messages / notifications: الحوكمة والتواصل.</a:t>
            </a:r>
          </a:p>
        </p:txBody>
      </p:sp>
      <p:sp>
        <p:nvSpPr>
          <p:cNvPr id="10" name="Rectangle 9"/>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2" name="TextBox 11"/>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العاشر</a:t>
            </a:r>
          </a:p>
        </p:txBody>
      </p:sp>
      <p:sp>
        <p:nvSpPr>
          <p:cNvPr id="13" name="TextBox 12"/>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107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معمارية النظام (Architecture)</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من جهاز المستخدم إلى السحابة</a:t>
            </a:r>
          </a:p>
        </p:txBody>
      </p:sp>
      <p:sp>
        <p:nvSpPr>
          <p:cNvPr id="9" name="Rounded Rectangle 8"/>
          <p:cNvSpPr/>
          <p:nvPr/>
        </p:nvSpPr>
        <p:spPr>
          <a:xfrm>
            <a:off x="548640" y="1234440"/>
            <a:ext cx="11094415" cy="1143000"/>
          </a:xfrm>
          <a:prstGeom prst="roundRect">
            <a:avLst/>
          </a:prstGeom>
          <a:solidFill>
            <a:srgbClr val="0E7C66"/>
          </a:solidFill>
          <a:ln>
            <a:noFill/>
          </a:ln>
          <a:effectLst/>
          <a:effectLst>
            <a:outerShdw blurRad="90000" dist="40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307592"/>
            <a:ext cx="10820095" cy="36576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FFFFFF"/>
                </a:solidFill>
                <a:latin typeface="Arial"/>
              </a:rPr>
              <a:t>الواجهة (Frontend) — React Native + Expo</a:t>
            </a:r>
          </a:p>
        </p:txBody>
      </p:sp>
      <p:sp>
        <p:nvSpPr>
          <p:cNvPr id="11" name="TextBox 10"/>
          <p:cNvSpPr txBox="1"/>
          <p:nvPr/>
        </p:nvSpPr>
        <p:spPr>
          <a:xfrm>
            <a:off x="685800" y="1691640"/>
            <a:ext cx="10820095" cy="640080"/>
          </a:xfrm>
          <a:prstGeom prst="rect">
            <a:avLst/>
          </a:prstGeom>
          <a:noFill/>
        </p:spPr>
        <p:txBody>
          <a:bodyPr wrap="square" anchor="t" lIns="25400" rIns="25400" tIns="12700" bIns="12700">
            <a:spAutoFit/>
          </a:bodyPr>
          <a:lstStyle/>
          <a:p>
            <a:pPr algn="r" rtl="1">
              <a:lnSpc>
                <a:spcPct val="100000"/>
              </a:lnSpc>
              <a:spcBef>
                <a:spcPts val="0"/>
              </a:spcBef>
              <a:spcAft>
                <a:spcPts val="200"/>
              </a:spcAft>
            </a:pPr>
            <a:r>
              <a:rPr sz="1150" b="0">
                <a:solidFill>
                  <a:srgbClr val="EAF3F0"/>
                </a:solidFill>
                <a:latin typeface="Arial"/>
              </a:rPr>
              <a:t>• تطبيق محمول iOS/Android من قاعدة كود واحدة</a:t>
            </a:r>
          </a:p>
          <a:p>
            <a:pPr algn="r" rtl="1">
              <a:lnSpc>
                <a:spcPct val="100000"/>
              </a:lnSpc>
              <a:spcBef>
                <a:spcPts val="0"/>
              </a:spcBef>
              <a:spcAft>
                <a:spcPts val="200"/>
              </a:spcAft>
            </a:pPr>
            <a:r>
              <a:rPr sz="1150" b="0">
                <a:solidFill>
                  <a:srgbClr val="EAF3F0"/>
                </a:solidFill>
                <a:latin typeface="Arial"/>
              </a:rPr>
              <a:t>• التنقّل React Navigation • واجهات RTL عربية</a:t>
            </a:r>
          </a:p>
          <a:p>
            <a:pPr algn="r" rtl="1">
              <a:lnSpc>
                <a:spcPct val="100000"/>
              </a:lnSpc>
              <a:spcBef>
                <a:spcPts val="0"/>
              </a:spcBef>
              <a:spcAft>
                <a:spcPts val="200"/>
              </a:spcAft>
            </a:pPr>
            <a:r>
              <a:rPr sz="1150" b="0">
                <a:solidFill>
                  <a:srgbClr val="EAF3F0"/>
                </a:solidFill>
                <a:latin typeface="Arial"/>
              </a:rPr>
              <a:t>• خرائط react-native-maps • كاميرا وموقع وملفات</a:t>
            </a:r>
          </a:p>
        </p:txBody>
      </p:sp>
      <p:sp>
        <p:nvSpPr>
          <p:cNvPr id="12" name="TextBox 11"/>
          <p:cNvSpPr txBox="1"/>
          <p:nvPr/>
        </p:nvSpPr>
        <p:spPr>
          <a:xfrm>
            <a:off x="5821527" y="2395728"/>
            <a:ext cx="548640"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600" b="1">
                <a:solidFill>
                  <a:srgbClr val="64748B"/>
                </a:solidFill>
                <a:latin typeface="Arial"/>
              </a:rPr>
              <a:t>▼</a:t>
            </a:r>
          </a:p>
        </p:txBody>
      </p:sp>
      <p:sp>
        <p:nvSpPr>
          <p:cNvPr id="13" name="Rounded Rectangle 12"/>
          <p:cNvSpPr/>
          <p:nvPr/>
        </p:nvSpPr>
        <p:spPr>
          <a:xfrm>
            <a:off x="548640" y="2697480"/>
            <a:ext cx="11094415" cy="1143000"/>
          </a:xfrm>
          <a:prstGeom prst="roundRect">
            <a:avLst/>
          </a:prstGeom>
          <a:solidFill>
            <a:srgbClr val="0D9488"/>
          </a:solidFill>
          <a:ln>
            <a:noFill/>
          </a:ln>
          <a:effectLst/>
          <a:effectLst>
            <a:outerShdw blurRad="90000" dist="40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770632"/>
            <a:ext cx="10820095" cy="36576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FFFFFF"/>
                </a:solidFill>
                <a:latin typeface="Arial"/>
              </a:rPr>
              <a:t>الاتصال والأمان (API / Auth)</a:t>
            </a:r>
          </a:p>
        </p:txBody>
      </p:sp>
      <p:sp>
        <p:nvSpPr>
          <p:cNvPr id="15" name="TextBox 14"/>
          <p:cNvSpPr txBox="1"/>
          <p:nvPr/>
        </p:nvSpPr>
        <p:spPr>
          <a:xfrm>
            <a:off x="685800" y="3154680"/>
            <a:ext cx="10820095" cy="640080"/>
          </a:xfrm>
          <a:prstGeom prst="rect">
            <a:avLst/>
          </a:prstGeom>
          <a:noFill/>
        </p:spPr>
        <p:txBody>
          <a:bodyPr wrap="square" anchor="t" lIns="25400" rIns="25400" tIns="12700" bIns="12700">
            <a:spAutoFit/>
          </a:bodyPr>
          <a:lstStyle/>
          <a:p>
            <a:pPr algn="r" rtl="1">
              <a:lnSpc>
                <a:spcPct val="100000"/>
              </a:lnSpc>
              <a:spcBef>
                <a:spcPts val="0"/>
              </a:spcBef>
              <a:spcAft>
                <a:spcPts val="200"/>
              </a:spcAft>
            </a:pPr>
            <a:r>
              <a:rPr sz="1150" b="0">
                <a:solidFill>
                  <a:srgbClr val="EAF3F0"/>
                </a:solidFill>
                <a:latin typeface="Arial"/>
              </a:rPr>
              <a:t>• Supabase Auth للمصادقة • جلسات آمنة</a:t>
            </a:r>
          </a:p>
          <a:p>
            <a:pPr algn="r" rtl="1">
              <a:lnSpc>
                <a:spcPct val="100000"/>
              </a:lnSpc>
              <a:spcBef>
                <a:spcPts val="0"/>
              </a:spcBef>
              <a:spcAft>
                <a:spcPts val="200"/>
              </a:spcAft>
            </a:pPr>
            <a:r>
              <a:rPr sz="1150" b="0">
                <a:solidFill>
                  <a:srgbClr val="EAF3F0"/>
                </a:solidFill>
                <a:latin typeface="Arial"/>
              </a:rPr>
              <a:t>• دوال خادم RPC تفرض الهرم والصلاحيات</a:t>
            </a:r>
          </a:p>
          <a:p>
            <a:pPr algn="r" rtl="1">
              <a:lnSpc>
                <a:spcPct val="100000"/>
              </a:lnSpc>
              <a:spcBef>
                <a:spcPts val="0"/>
              </a:spcBef>
              <a:spcAft>
                <a:spcPts val="200"/>
              </a:spcAft>
            </a:pPr>
            <a:r>
              <a:rPr sz="1150" b="0">
                <a:solidFill>
                  <a:srgbClr val="EAF3F0"/>
                </a:solidFill>
                <a:latin typeface="Arial"/>
              </a:rPr>
              <a:t>• سياسات RLS لعزل البيانات لكل مأمورية/دور</a:t>
            </a:r>
          </a:p>
        </p:txBody>
      </p:sp>
      <p:sp>
        <p:nvSpPr>
          <p:cNvPr id="16" name="TextBox 15"/>
          <p:cNvSpPr txBox="1"/>
          <p:nvPr/>
        </p:nvSpPr>
        <p:spPr>
          <a:xfrm>
            <a:off x="5821527" y="3858768"/>
            <a:ext cx="548640" cy="27432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600" b="1">
                <a:solidFill>
                  <a:srgbClr val="64748B"/>
                </a:solidFill>
                <a:latin typeface="Arial"/>
              </a:rPr>
              <a:t>▼</a:t>
            </a:r>
          </a:p>
        </p:txBody>
      </p:sp>
      <p:sp>
        <p:nvSpPr>
          <p:cNvPr id="17" name="Rounded Rectangle 16"/>
          <p:cNvSpPr/>
          <p:nvPr/>
        </p:nvSpPr>
        <p:spPr>
          <a:xfrm>
            <a:off x="548640" y="4160520"/>
            <a:ext cx="11094415" cy="1234440"/>
          </a:xfrm>
          <a:prstGeom prst="roundRect">
            <a:avLst/>
          </a:prstGeom>
          <a:solidFill>
            <a:srgbClr val="0F2A4A"/>
          </a:solidFill>
          <a:ln>
            <a:noFill/>
          </a:ln>
          <a:effectLst/>
          <a:effectLst>
            <a:outerShdw blurRad="90000" dist="40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233672"/>
            <a:ext cx="10820095" cy="36576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500" b="1">
                <a:solidFill>
                  <a:srgbClr val="FFFFFF"/>
                </a:solidFill>
                <a:latin typeface="Arial"/>
              </a:rPr>
              <a:t>الخلفية والتخزين (Backend / Storage) — سحابي</a:t>
            </a:r>
          </a:p>
        </p:txBody>
      </p:sp>
      <p:sp>
        <p:nvSpPr>
          <p:cNvPr id="19" name="TextBox 18"/>
          <p:cNvSpPr txBox="1"/>
          <p:nvPr/>
        </p:nvSpPr>
        <p:spPr>
          <a:xfrm>
            <a:off x="685800" y="4617720"/>
            <a:ext cx="10820095" cy="731520"/>
          </a:xfrm>
          <a:prstGeom prst="rect">
            <a:avLst/>
          </a:prstGeom>
          <a:noFill/>
        </p:spPr>
        <p:txBody>
          <a:bodyPr wrap="square" anchor="t" lIns="25400" rIns="25400" tIns="12700" bIns="12700">
            <a:spAutoFit/>
          </a:bodyPr>
          <a:lstStyle/>
          <a:p>
            <a:pPr algn="r" rtl="1">
              <a:lnSpc>
                <a:spcPct val="100000"/>
              </a:lnSpc>
              <a:spcBef>
                <a:spcPts val="0"/>
              </a:spcBef>
              <a:spcAft>
                <a:spcPts val="200"/>
              </a:spcAft>
            </a:pPr>
            <a:r>
              <a:rPr sz="1150" b="0">
                <a:solidFill>
                  <a:srgbClr val="EAF3F0"/>
                </a:solidFill>
                <a:latin typeface="Arial"/>
              </a:rPr>
              <a:t>• قاعدة بيانات PostgreSQL (Supabase)</a:t>
            </a:r>
          </a:p>
          <a:p>
            <a:pPr algn="r" rtl="1">
              <a:lnSpc>
                <a:spcPct val="100000"/>
              </a:lnSpc>
              <a:spcBef>
                <a:spcPts val="0"/>
              </a:spcBef>
              <a:spcAft>
                <a:spcPts val="200"/>
              </a:spcAft>
            </a:pPr>
            <a:r>
              <a:rPr sz="1150" b="0">
                <a:solidFill>
                  <a:srgbClr val="EAF3F0"/>
                </a:solidFill>
                <a:latin typeface="Arial"/>
              </a:rPr>
              <a:t>• تخزين الصور والمستندات (Storage)</a:t>
            </a:r>
          </a:p>
          <a:p>
            <a:pPr algn="r" rtl="1">
              <a:lnSpc>
                <a:spcPct val="100000"/>
              </a:lnSpc>
              <a:spcBef>
                <a:spcPts val="0"/>
              </a:spcBef>
              <a:spcAft>
                <a:spcPts val="200"/>
              </a:spcAft>
            </a:pPr>
            <a:r>
              <a:rPr sz="1150" b="0">
                <a:solidFill>
                  <a:srgbClr val="EAF3F0"/>
                </a:solidFill>
                <a:latin typeface="Arial"/>
              </a:rPr>
              <a:t>• الإشعارات (Push) • تصدير Excel/PDF</a:t>
            </a:r>
          </a:p>
        </p:txBody>
      </p:sp>
      <p:sp>
        <p:nvSpPr>
          <p:cNvPr id="20" name="Rectangle 19"/>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22" name="TextBox 21"/>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العاشر</a:t>
            </a:r>
          </a:p>
        </p:txBody>
      </p:sp>
      <p:sp>
        <p:nvSpPr>
          <p:cNvPr id="23" name="TextBox 22"/>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108</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المكوّنات التقنية بالتفصيل</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Stack التقني</a:t>
            </a:r>
          </a:p>
        </p:txBody>
      </p:sp>
      <p:sp>
        <p:nvSpPr>
          <p:cNvPr id="9" name="TextBox 8"/>
          <p:cNvSpPr txBox="1"/>
          <p:nvPr/>
        </p:nvSpPr>
        <p:spPr>
          <a:xfrm>
            <a:off x="548640" y="1234440"/>
            <a:ext cx="11094415" cy="5166360"/>
          </a:xfrm>
          <a:prstGeom prst="rect">
            <a:avLst/>
          </a:prstGeom>
          <a:noFill/>
        </p:spPr>
        <p:txBody>
          <a:bodyPr wrap="square" anchor="t" lIns="25400" rIns="25400" tIns="12700" bIns="12700">
            <a:spAutoFit/>
          </a:bodyPr>
          <a:lstStyle/>
          <a:p>
            <a:pPr algn="r" rtl="1">
              <a:lnSpc>
                <a:spcPct val="102000"/>
              </a:lnSpc>
              <a:spcBef>
                <a:spcPts val="0"/>
              </a:spcBef>
              <a:spcAft>
                <a:spcPts val="700"/>
              </a:spcAft>
            </a:pPr>
            <a:r>
              <a:rPr sz="1700" b="1">
                <a:solidFill>
                  <a:srgbClr val="0A5A4A"/>
                </a:solidFill>
                <a:latin typeface="Arial"/>
              </a:rPr>
              <a:t>Frontend</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React Native 0.85 + Expo SDK 56 + TypeScript.</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React Navigation للتنقّل • واجهات عربية RTL كاملة.</a:t>
            </a:r>
          </a:p>
          <a:p>
            <a:pPr algn="r" rtl="1">
              <a:lnSpc>
                <a:spcPct val="102000"/>
              </a:lnSpc>
              <a:spcBef>
                <a:spcPts val="0"/>
              </a:spcBef>
              <a:spcAft>
                <a:spcPts val="700"/>
              </a:spcAft>
            </a:pPr>
            <a:r>
              <a:rPr sz="1700" b="1">
                <a:solidFill>
                  <a:srgbClr val="0A5A4A"/>
                </a:solidFill>
                <a:latin typeface="Arial"/>
              </a:rPr>
              <a:t>GIS والوسائط</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react-native-maps للخرائط • expo-location لالتقاط GPS.</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expo-image-picker للصور • expo-document-picker للمرفقات.</a:t>
            </a:r>
          </a:p>
          <a:p>
            <a:pPr algn="r" rtl="1">
              <a:lnSpc>
                <a:spcPct val="102000"/>
              </a:lnSpc>
              <a:spcBef>
                <a:spcPts val="0"/>
              </a:spcBef>
              <a:spcAft>
                <a:spcPts val="700"/>
              </a:spcAft>
            </a:pPr>
            <a:r>
              <a:rPr sz="1700" b="1">
                <a:solidFill>
                  <a:srgbClr val="0A5A4A"/>
                </a:solidFill>
                <a:latin typeface="Arial"/>
              </a:rPr>
              <a:t>Backend / Auth / Storage</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Supabase: PostgreSQL + Auth + Storage + RPC + RLS.</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تصدير التقارير عبر xlsx (Excel) و expo-print (PDF).</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إشعارات الدفع عبر Expo Push Tokens.</a:t>
            </a:r>
          </a:p>
        </p:txBody>
      </p:sp>
      <p:sp>
        <p:nvSpPr>
          <p:cNvPr id="10" name="Rectangle 9"/>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2" name="TextBox 11"/>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العاشر</a:t>
            </a:r>
          </a:p>
        </p:txBody>
      </p:sp>
      <p:sp>
        <p:nvSpPr>
          <p:cNvPr id="13" name="TextBox 12"/>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109</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56032" y="0"/>
            <a:ext cx="54864" cy="68580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45775" cy="45720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600" b="1">
                <a:solidFill>
                  <a:srgbClr val="0D9488"/>
                </a:solidFill>
                <a:latin typeface="Arial"/>
              </a:rPr>
              <a:t>المحور الحادي عشر</a:t>
            </a:r>
          </a:p>
        </p:txBody>
      </p:sp>
      <p:sp>
        <p:nvSpPr>
          <p:cNvPr id="6" name="TextBox 5"/>
          <p:cNvSpPr txBox="1"/>
          <p:nvPr/>
        </p:nvSpPr>
        <p:spPr>
          <a:xfrm>
            <a:off x="822960" y="2743200"/>
            <a:ext cx="10545775" cy="128016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4000" b="1">
                <a:solidFill>
                  <a:srgbClr val="FFFFFF"/>
                </a:solidFill>
                <a:latin typeface="Arial"/>
              </a:rPr>
              <a:t>رحلة المستخدم (User Flow)</a:t>
            </a:r>
          </a:p>
        </p:txBody>
      </p:sp>
      <p:sp>
        <p:nvSpPr>
          <p:cNvPr id="7" name="TextBox 6"/>
          <p:cNvSpPr txBox="1"/>
          <p:nvPr/>
        </p:nvSpPr>
        <p:spPr>
          <a:xfrm>
            <a:off x="822960" y="4114800"/>
            <a:ext cx="10545775" cy="1097280"/>
          </a:xfrm>
          <a:prstGeom prst="rect">
            <a:avLst/>
          </a:prstGeom>
          <a:noFill/>
        </p:spPr>
        <p:txBody>
          <a:bodyPr wrap="square" anchor="t" lIns="25400" rIns="25400" tIns="12700" bIns="12700">
            <a:spAutoFit/>
          </a:bodyPr>
          <a:lstStyle/>
          <a:p>
            <a:pPr algn="r" rtl="1">
              <a:lnSpc>
                <a:spcPct val="115000"/>
              </a:lnSpc>
              <a:spcBef>
                <a:spcPts val="0"/>
              </a:spcBef>
              <a:spcAft>
                <a:spcPts val="400"/>
              </a:spcAft>
            </a:pPr>
            <a:r>
              <a:rPr sz="1700" b="0">
                <a:solidFill>
                  <a:srgbClr val="B8CDDC"/>
                </a:solidFill>
                <a:latin typeface="Arial"/>
              </a:rPr>
              <a:t>المسار الكامل لكل فئة مستخدم داخل المنظومة</a:t>
            </a:r>
          </a:p>
        </p:txBody>
      </p:sp>
      <p:sp>
        <p:nvSpPr>
          <p:cNvPr id="8" name="TextBox 7"/>
          <p:cNvSpPr txBox="1"/>
          <p:nvPr/>
        </p:nvSpPr>
        <p:spPr>
          <a:xfrm>
            <a:off x="457200" y="6217920"/>
            <a:ext cx="11277295" cy="36576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100" b="0">
                <a:solidFill>
                  <a:srgbClr val="6E8AA0"/>
                </a:solidFill>
                <a:latin typeface="Arial"/>
              </a:rPr>
              <a:t>GeoTax — منظومة إدارة أعمال مصلحة الضرائب المصرية بنظم المعلومات الجغرافية</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رحلة المستخدم لكل فئة</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User Flow</a:t>
            </a:r>
          </a:p>
        </p:txBody>
      </p:sp>
      <p:sp>
        <p:nvSpPr>
          <p:cNvPr id="9" name="TextBox 8"/>
          <p:cNvSpPr txBox="1"/>
          <p:nvPr/>
        </p:nvSpPr>
        <p:spPr>
          <a:xfrm>
            <a:off x="548640" y="1234440"/>
            <a:ext cx="11094415" cy="5166360"/>
          </a:xfrm>
          <a:prstGeom prst="rect">
            <a:avLst/>
          </a:prstGeom>
          <a:noFill/>
        </p:spPr>
        <p:txBody>
          <a:bodyPr wrap="square" anchor="t" lIns="25400" rIns="25400" tIns="12700" bIns="12700">
            <a:spAutoFit/>
          </a:bodyPr>
          <a:lstStyle/>
          <a:p>
            <a:pPr algn="r" rtl="1">
              <a:lnSpc>
                <a:spcPct val="102000"/>
              </a:lnSpc>
              <a:spcBef>
                <a:spcPts val="0"/>
              </a:spcBef>
              <a:spcAft>
                <a:spcPts val="700"/>
              </a:spcAft>
            </a:pPr>
            <a:r>
              <a:rPr sz="1700" b="1">
                <a:solidFill>
                  <a:srgbClr val="0A5A4A"/>
                </a:solidFill>
                <a:latin typeface="Arial"/>
              </a:rPr>
              <a:t>مأمور الحصر</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دخول → بحث عن الممول → أعمال الحصر → حصر ميداني (GPS+صور) → المهام → الخريطة.</a:t>
            </a:r>
          </a:p>
          <a:p>
            <a:pPr algn="r" rtl="1">
              <a:lnSpc>
                <a:spcPct val="102000"/>
              </a:lnSpc>
              <a:spcBef>
                <a:spcPts val="0"/>
              </a:spcBef>
              <a:spcAft>
                <a:spcPts val="700"/>
              </a:spcAft>
            </a:pPr>
            <a:r>
              <a:rPr sz="1700" b="1">
                <a:solidFill>
                  <a:srgbClr val="0A5A4A"/>
                </a:solidFill>
                <a:latin typeface="Arial"/>
              </a:rPr>
              <a:t>مراجع/مدير (حصر أو فحص)</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دخول → خطة → إسناد مهام → متابعة التنفيذ → مراجعة → اعتماد → تقارير.</a:t>
            </a:r>
          </a:p>
          <a:p>
            <a:pPr algn="r" rtl="1">
              <a:lnSpc>
                <a:spcPct val="102000"/>
              </a:lnSpc>
              <a:spcBef>
                <a:spcPts val="0"/>
              </a:spcBef>
              <a:spcAft>
                <a:spcPts val="700"/>
              </a:spcAft>
            </a:pPr>
            <a:r>
              <a:rPr sz="1700" b="1">
                <a:solidFill>
                  <a:srgbClr val="0A5A4A"/>
                </a:solidFill>
                <a:latin typeface="Arial"/>
              </a:rPr>
              <a:t>مأمور الفحص</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دخول → أعمال الفحص → طلب حضور/موعد → معاينة → نتيجة/توقف → اعتماد.</a:t>
            </a:r>
          </a:p>
          <a:p>
            <a:pPr algn="r" rtl="1">
              <a:lnSpc>
                <a:spcPct val="102000"/>
              </a:lnSpc>
              <a:spcBef>
                <a:spcPts val="0"/>
              </a:spcBef>
              <a:spcAft>
                <a:spcPts val="700"/>
              </a:spcAft>
            </a:pPr>
            <a:r>
              <a:rPr sz="1700" b="1">
                <a:solidFill>
                  <a:srgbClr val="0A5A4A"/>
                </a:solidFill>
                <a:latin typeface="Arial"/>
              </a:rPr>
              <a:t>الممول</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دخول/تسجيل → ملفي → تقديم طلب → متابعة الحالة → إشعار → مراسلة.</a:t>
            </a:r>
          </a:p>
          <a:p>
            <a:pPr algn="r" rtl="1">
              <a:lnSpc>
                <a:spcPct val="102000"/>
              </a:lnSpc>
              <a:spcBef>
                <a:spcPts val="0"/>
              </a:spcBef>
              <a:spcAft>
                <a:spcPts val="700"/>
              </a:spcAft>
            </a:pPr>
            <a:r>
              <a:rPr sz="1700" b="1">
                <a:solidFill>
                  <a:srgbClr val="0A5A4A"/>
                </a:solidFill>
                <a:latin typeface="Arial"/>
              </a:rPr>
              <a:t>الإدارة العليا / رئيس المأمورية / مدير الحاسب</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دخول → إدارة المأموريات/المستخدمين → الخريطة → التقارير → سجل العمليات.</a:t>
            </a:r>
          </a:p>
        </p:txBody>
      </p:sp>
      <p:sp>
        <p:nvSpPr>
          <p:cNvPr id="10" name="Rectangle 9"/>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2" name="TextBox 11"/>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الحادي عشر</a:t>
            </a:r>
          </a:p>
        </p:txBody>
      </p:sp>
      <p:sp>
        <p:nvSpPr>
          <p:cNvPr id="13" name="TextBox 12"/>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111</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56032" y="0"/>
            <a:ext cx="54864" cy="68580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45775" cy="45720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600" b="1">
                <a:solidFill>
                  <a:srgbClr val="0D9488"/>
                </a:solidFill>
                <a:latin typeface="Arial"/>
              </a:rPr>
              <a:t>المحور الثاني عشر</a:t>
            </a:r>
          </a:p>
        </p:txBody>
      </p:sp>
      <p:sp>
        <p:nvSpPr>
          <p:cNvPr id="6" name="TextBox 5"/>
          <p:cNvSpPr txBox="1"/>
          <p:nvPr/>
        </p:nvSpPr>
        <p:spPr>
          <a:xfrm>
            <a:off x="822960" y="2743200"/>
            <a:ext cx="10545775" cy="128016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4000" b="1">
                <a:solidFill>
                  <a:srgbClr val="FFFFFF"/>
                </a:solidFill>
                <a:latin typeface="Arial"/>
              </a:rPr>
              <a:t>التقارير القابلة للاستخراج</a:t>
            </a:r>
          </a:p>
        </p:txBody>
      </p:sp>
      <p:sp>
        <p:nvSpPr>
          <p:cNvPr id="7" name="TextBox 6"/>
          <p:cNvSpPr txBox="1"/>
          <p:nvPr/>
        </p:nvSpPr>
        <p:spPr>
          <a:xfrm>
            <a:off x="822960" y="4114800"/>
            <a:ext cx="10545775" cy="1097280"/>
          </a:xfrm>
          <a:prstGeom prst="rect">
            <a:avLst/>
          </a:prstGeom>
          <a:noFill/>
        </p:spPr>
        <p:txBody>
          <a:bodyPr wrap="square" anchor="t" lIns="25400" rIns="25400" tIns="12700" bIns="12700">
            <a:spAutoFit/>
          </a:bodyPr>
          <a:lstStyle/>
          <a:p>
            <a:pPr algn="r" rtl="1">
              <a:lnSpc>
                <a:spcPct val="115000"/>
              </a:lnSpc>
              <a:spcBef>
                <a:spcPts val="0"/>
              </a:spcBef>
              <a:spcAft>
                <a:spcPts val="400"/>
              </a:spcAft>
            </a:pPr>
            <a:r>
              <a:rPr sz="1700" b="0">
                <a:solidFill>
                  <a:srgbClr val="B8CDDC"/>
                </a:solidFill>
                <a:latin typeface="Arial"/>
              </a:rPr>
              <a:t>أحد عشر نوعاً من التقارير قابلة للتصفية والتصدير</a:t>
            </a:r>
          </a:p>
        </p:txBody>
      </p:sp>
      <p:sp>
        <p:nvSpPr>
          <p:cNvPr id="8" name="TextBox 7"/>
          <p:cNvSpPr txBox="1"/>
          <p:nvPr/>
        </p:nvSpPr>
        <p:spPr>
          <a:xfrm>
            <a:off x="457200" y="6217920"/>
            <a:ext cx="11277295" cy="36576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100" b="0">
                <a:solidFill>
                  <a:srgbClr val="6E8AA0"/>
                </a:solidFill>
                <a:latin typeface="Arial"/>
              </a:rPr>
              <a:t>GeoTax — منظومة إدارة أعمال مصلحة الضرائب المصرية بنظم المعلومات الجغرافية</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التقارير التي يمكن استخراجها</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دعم القرار</a:t>
            </a:r>
          </a:p>
        </p:txBody>
      </p:sp>
      <p:sp>
        <p:nvSpPr>
          <p:cNvPr id="9" name="TextBox 8"/>
          <p:cNvSpPr txBox="1"/>
          <p:nvPr/>
        </p:nvSpPr>
        <p:spPr>
          <a:xfrm>
            <a:off x="548640" y="1234440"/>
            <a:ext cx="11094415" cy="5166360"/>
          </a:xfrm>
          <a:prstGeom prst="rect">
            <a:avLst/>
          </a:prstGeom>
          <a:noFill/>
        </p:spPr>
        <p:txBody>
          <a:bodyPr wrap="square" anchor="t" lIns="25400" rIns="25400" tIns="12700" bIns="12700">
            <a:spAutoFit/>
          </a:bodyPr>
          <a:lstStyle/>
          <a:p>
            <a:pPr algn="r" rtl="1">
              <a:lnSpc>
                <a:spcPct val="102000"/>
              </a:lnSpc>
              <a:spcBef>
                <a:spcPts val="0"/>
              </a:spcBef>
              <a:spcAft>
                <a:spcPts val="700"/>
              </a:spcAft>
            </a:pPr>
            <a:r>
              <a:rPr sz="1700" b="1">
                <a:solidFill>
                  <a:srgbClr val="0A5A4A"/>
                </a:solidFill>
                <a:latin typeface="Arial"/>
              </a:rPr>
              <a:t>11 نوع تقرير — تصفية بالفترة + تصدير Excel / PDF</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تقرير الممولين (بيانات كاملة + الحالة + المصدر).</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الحصر على الطبيعة والحصر المكتبي (الطلبات).</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المعاينات والتوقفات (الجزئي والنهائي).</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المهام (النوع/الأولوية/الحالة/الإنجاز).</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الطلبات (الكل) والشكاوى.</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الفروع والمخازن.</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كل تقرير يُصدَّر بضغطة زر بصيغة Excel أو PDF قابلة للأرشفة والمشاركة.</a:t>
            </a:r>
          </a:p>
        </p:txBody>
      </p:sp>
      <p:sp>
        <p:nvSpPr>
          <p:cNvPr id="10" name="Rectangle 9"/>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2" name="TextBox 11"/>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الثاني عشر</a:t>
            </a:r>
          </a:p>
        </p:txBody>
      </p:sp>
      <p:sp>
        <p:nvSpPr>
          <p:cNvPr id="13" name="TextBox 12"/>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113</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56032" y="0"/>
            <a:ext cx="54864" cy="68580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45775" cy="45720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1600" b="1">
                <a:solidFill>
                  <a:srgbClr val="0D9488"/>
                </a:solidFill>
                <a:latin typeface="Arial"/>
              </a:rPr>
              <a:t>المحور الثالث عشر</a:t>
            </a:r>
          </a:p>
        </p:txBody>
      </p:sp>
      <p:sp>
        <p:nvSpPr>
          <p:cNvPr id="6" name="TextBox 5"/>
          <p:cNvSpPr txBox="1"/>
          <p:nvPr/>
        </p:nvSpPr>
        <p:spPr>
          <a:xfrm>
            <a:off x="822960" y="2743200"/>
            <a:ext cx="10545775" cy="128016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4000" b="1">
                <a:solidFill>
                  <a:srgbClr val="FFFFFF"/>
                </a:solidFill>
                <a:latin typeface="Arial"/>
              </a:rPr>
              <a:t>الفوائد ومؤشرات الأداء والتوصيات</a:t>
            </a:r>
          </a:p>
        </p:txBody>
      </p:sp>
      <p:sp>
        <p:nvSpPr>
          <p:cNvPr id="7" name="TextBox 6"/>
          <p:cNvSpPr txBox="1"/>
          <p:nvPr/>
        </p:nvSpPr>
        <p:spPr>
          <a:xfrm>
            <a:off x="822960" y="4114800"/>
            <a:ext cx="10545775" cy="1097280"/>
          </a:xfrm>
          <a:prstGeom prst="rect">
            <a:avLst/>
          </a:prstGeom>
          <a:noFill/>
        </p:spPr>
        <p:txBody>
          <a:bodyPr wrap="square" anchor="t" lIns="25400" rIns="25400" tIns="12700" bIns="12700">
            <a:spAutoFit/>
          </a:bodyPr>
          <a:lstStyle/>
          <a:p>
            <a:pPr algn="r" rtl="1">
              <a:lnSpc>
                <a:spcPct val="115000"/>
              </a:lnSpc>
              <a:spcBef>
                <a:spcPts val="0"/>
              </a:spcBef>
              <a:spcAft>
                <a:spcPts val="400"/>
              </a:spcAft>
            </a:pPr>
            <a:r>
              <a:rPr sz="1700" b="0">
                <a:solidFill>
                  <a:srgbClr val="B8CDDC"/>
                </a:solidFill>
                <a:latin typeface="Arial"/>
              </a:rPr>
              <a:t>القيمة لكل طرف • مؤشرات KPI • الميزات المستقبلية • التوصيات</a:t>
            </a:r>
          </a:p>
        </p:txBody>
      </p:sp>
      <p:sp>
        <p:nvSpPr>
          <p:cNvPr id="8" name="TextBox 7"/>
          <p:cNvSpPr txBox="1"/>
          <p:nvPr/>
        </p:nvSpPr>
        <p:spPr>
          <a:xfrm>
            <a:off x="457200" y="6217920"/>
            <a:ext cx="11277295" cy="365760"/>
          </a:xfrm>
          <a:prstGeom prst="rect">
            <a:avLst/>
          </a:prstGeom>
          <a:noFill/>
        </p:spPr>
        <p:txBody>
          <a:bodyPr wrap="square" anchor="t" lIns="25400" rIns="25400" tIns="12700" bIns="12700">
            <a:spAutoFit/>
          </a:bodyPr>
          <a:lstStyle/>
          <a:p>
            <a:pPr algn="ctr" rtl="1">
              <a:lnSpc>
                <a:spcPct val="100000"/>
              </a:lnSpc>
              <a:spcBef>
                <a:spcPts val="0"/>
              </a:spcBef>
              <a:spcAft>
                <a:spcPts val="400"/>
              </a:spcAft>
            </a:pPr>
            <a:r>
              <a:rPr sz="1100" b="0">
                <a:solidFill>
                  <a:srgbClr val="6E8AA0"/>
                </a:solidFill>
                <a:latin typeface="Arial"/>
              </a:rPr>
              <a:t>GeoTax — منظومة إدارة أعمال مصلحة الضرائب المصرية بنظم المعلومات الجغرافية</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فوائد المشروع لكل طرف</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القيمة المضافة</a:t>
            </a:r>
          </a:p>
        </p:txBody>
      </p:sp>
      <p:sp>
        <p:nvSpPr>
          <p:cNvPr id="9" name="TextBox 8"/>
          <p:cNvSpPr txBox="1"/>
          <p:nvPr/>
        </p:nvSpPr>
        <p:spPr>
          <a:xfrm>
            <a:off x="548640" y="1234440"/>
            <a:ext cx="11094415" cy="5166360"/>
          </a:xfrm>
          <a:prstGeom prst="rect">
            <a:avLst/>
          </a:prstGeom>
          <a:noFill/>
        </p:spPr>
        <p:txBody>
          <a:bodyPr wrap="square" anchor="t" lIns="25400" rIns="25400" tIns="12700" bIns="12700">
            <a:spAutoFit/>
          </a:bodyPr>
          <a:lstStyle/>
          <a:p>
            <a:pPr algn="r" rtl="1">
              <a:lnSpc>
                <a:spcPct val="102000"/>
              </a:lnSpc>
              <a:spcBef>
                <a:spcPts val="0"/>
              </a:spcBef>
              <a:spcAft>
                <a:spcPts val="700"/>
              </a:spcAft>
            </a:pPr>
            <a:r>
              <a:rPr sz="1700" b="1">
                <a:solidFill>
                  <a:srgbClr val="0A5A4A"/>
                </a:solidFill>
                <a:latin typeface="Arial"/>
              </a:rPr>
              <a:t>لكل مستفيد قيمة ملموسة</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موظف الضرائب: أدوات ميدانية ذكية تختصر الورق والوقت والتنقّل.</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رئيس المأمورية: رؤية كاملة ورقابة لحظية على الأداء.</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الإدارة العليا: لوحة مركزية وتقارير ومقارنة بين المأموريات.</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الممول: خدمة ذاتية شفافة وتواصل مباشر وتقليل الزيارات.</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وزارة المالية: زيادة الحصيلة وضبط التهرّب وبيانات موثوقة.</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الدولة المصرية: عدالة ضريبية وتحوّل رقمي ضمن رؤية 2030.</a:t>
            </a:r>
          </a:p>
        </p:txBody>
      </p:sp>
      <p:sp>
        <p:nvSpPr>
          <p:cNvPr id="10" name="Rectangle 9"/>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2" name="TextBox 11"/>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الثالث عشر</a:t>
            </a:r>
          </a:p>
        </p:txBody>
      </p:sp>
      <p:sp>
        <p:nvSpPr>
          <p:cNvPr id="13" name="TextBox 12"/>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115</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مؤشرات الأداء (KPIs)</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قياس الأثر</a:t>
            </a:r>
          </a:p>
        </p:txBody>
      </p:sp>
      <p:sp>
        <p:nvSpPr>
          <p:cNvPr id="9" name="TextBox 8"/>
          <p:cNvSpPr txBox="1"/>
          <p:nvPr/>
        </p:nvSpPr>
        <p:spPr>
          <a:xfrm>
            <a:off x="548640" y="1234440"/>
            <a:ext cx="11094415" cy="5166360"/>
          </a:xfrm>
          <a:prstGeom prst="rect">
            <a:avLst/>
          </a:prstGeom>
          <a:noFill/>
        </p:spPr>
        <p:txBody>
          <a:bodyPr wrap="square" anchor="t" lIns="25400" rIns="25400" tIns="12700" bIns="12700">
            <a:spAutoFit/>
          </a:bodyPr>
          <a:lstStyle/>
          <a:p>
            <a:pPr algn="r" rtl="1">
              <a:lnSpc>
                <a:spcPct val="102000"/>
              </a:lnSpc>
              <a:spcBef>
                <a:spcPts val="0"/>
              </a:spcBef>
              <a:spcAft>
                <a:spcPts val="700"/>
              </a:spcAft>
            </a:pPr>
            <a:r>
              <a:rPr sz="1700" b="1">
                <a:solidFill>
                  <a:srgbClr val="0A5A4A"/>
                </a:solidFill>
                <a:latin typeface="Arial"/>
              </a:rPr>
              <a:t>مؤشرات قابلة للقياس من بيانات المنظومة</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عدد الأنشطة المحصورة حديثاً (توسيع القاعدة الضريبية).</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نسبة إنجاز المهام في الوقت المحدد ومتوسط زمن الإنجاز.</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عدد المعاينات المنفّذة والمعتمدة شهرياً لكل مأمورية.</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زمن معالجة الطلب من التقديم حتى الاعتماد.</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عدد الأنشطة المتوقفة (جزئي/نهائي) المرصودة.</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نسبة الممولين المسجّلين رقمياً والمتفاعلين مع المنظومة.</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عدد الشكاوى المعالجة ونسبة تحوّلها لحصر فعلي.</a:t>
            </a:r>
          </a:p>
        </p:txBody>
      </p:sp>
      <p:sp>
        <p:nvSpPr>
          <p:cNvPr id="10" name="Rectangle 9"/>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2" name="TextBox 11"/>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الثالث عشر</a:t>
            </a:r>
          </a:p>
        </p:txBody>
      </p:sp>
      <p:sp>
        <p:nvSpPr>
          <p:cNvPr id="13" name="TextBox 12"/>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116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الميزات المستقبلية</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خارطة الطريق</a:t>
            </a:r>
          </a:p>
        </p:txBody>
      </p:sp>
      <p:sp>
        <p:nvSpPr>
          <p:cNvPr id="9" name="TextBox 8"/>
          <p:cNvSpPr txBox="1"/>
          <p:nvPr/>
        </p:nvSpPr>
        <p:spPr>
          <a:xfrm>
            <a:off x="548640" y="1234440"/>
            <a:ext cx="11094415" cy="5166360"/>
          </a:xfrm>
          <a:prstGeom prst="rect">
            <a:avLst/>
          </a:prstGeom>
          <a:noFill/>
        </p:spPr>
        <p:txBody>
          <a:bodyPr wrap="square" anchor="t" lIns="25400" rIns="25400" tIns="12700" bIns="12700">
            <a:spAutoFit/>
          </a:bodyPr>
          <a:lstStyle/>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تفعيل إدارة الحجز (البنية والجداول جاهزة بالفعل).</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لوحة مؤشرات Dashboard رسومية تفاعلية للقيادات.</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الربط مع منظومة الفاتورة الإلكترونية والرقم الضريبي الموحّد.</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تحليلات ذكية وكشف الأنماط المشبوهة (AI) لاستهداف الفحص.</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خرائط حرارية (Heatmaps) لكثافة الأنشطة والحصيلة.</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العمل دون اتصال (Offline) ثم المزامنة عند توفّر الشبكة.</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تطبيق ويب مكمّل لمكاتب المأموريات.</a:t>
            </a:r>
          </a:p>
        </p:txBody>
      </p:sp>
      <p:sp>
        <p:nvSpPr>
          <p:cNvPr id="10" name="Rectangle 9"/>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2" name="TextBox 11"/>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الثالث عشر</a:t>
            </a:r>
          </a:p>
        </p:txBody>
      </p:sp>
      <p:sp>
        <p:nvSpPr>
          <p:cNvPr id="13" name="TextBox 12"/>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117</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7255" y="201168"/>
            <a:ext cx="566928" cy="566928"/>
          </a:xfrm>
          <a:prstGeom prst="round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7255" y="182880"/>
            <a:ext cx="566928" cy="566928"/>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200" b="1">
                <a:solidFill>
                  <a:srgbClr val="FFFFFF"/>
                </a:solidFill>
                <a:latin typeface="Arial"/>
              </a:rPr>
              <a:t>✅</a:t>
            </a:r>
          </a:p>
        </p:txBody>
      </p:sp>
      <p:sp>
        <p:nvSpPr>
          <p:cNvPr id="7" name="TextBox 6"/>
          <p:cNvSpPr txBox="1"/>
          <p:nvPr/>
        </p:nvSpPr>
        <p:spPr>
          <a:xfrm>
            <a:off x="457200" y="128016"/>
            <a:ext cx="10317175" cy="502920"/>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2500" b="1">
                <a:solidFill>
                  <a:srgbClr val="FFFFFF"/>
                </a:solidFill>
                <a:latin typeface="Arial"/>
              </a:rPr>
              <a:t>التوصيات</a:t>
            </a:r>
          </a:p>
        </p:txBody>
      </p:sp>
      <p:sp>
        <p:nvSpPr>
          <p:cNvPr id="8" name="TextBox 7"/>
          <p:cNvSpPr txBox="1"/>
          <p:nvPr/>
        </p:nvSpPr>
        <p:spPr>
          <a:xfrm>
            <a:off x="457200" y="603504"/>
            <a:ext cx="10317175" cy="292608"/>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1250" b="0">
                <a:solidFill>
                  <a:srgbClr val="9FC4D6"/>
                </a:solidFill>
                <a:latin typeface="Arial"/>
              </a:rPr>
              <a:t>للانتقال إلى الإنتاج</a:t>
            </a:r>
          </a:p>
        </p:txBody>
      </p:sp>
      <p:sp>
        <p:nvSpPr>
          <p:cNvPr id="9" name="TextBox 8"/>
          <p:cNvSpPr txBox="1"/>
          <p:nvPr/>
        </p:nvSpPr>
        <p:spPr>
          <a:xfrm>
            <a:off x="548640" y="1234440"/>
            <a:ext cx="11094415" cy="5166360"/>
          </a:xfrm>
          <a:prstGeom prst="rect">
            <a:avLst/>
          </a:prstGeom>
          <a:noFill/>
        </p:spPr>
        <p:txBody>
          <a:bodyPr wrap="square" anchor="t" lIns="25400" rIns="25400" tIns="12700" bIns="12700">
            <a:spAutoFit/>
          </a:bodyPr>
          <a:lstStyle/>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تبنّي المنظومة كمشروع تجريبي (Pilot) في مأمورية نموذجية.</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تدريب الموظفين على الأدوات الميدانية والخريطة.</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ترحيل البيانات الورقية تدريجياً إلى السجل المركزي.</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إجراء مراجعة أمنية واختبار حِمل قبل التوسّع.</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وضع حوكمة واضحة للصلاحيات ومراجعة دورية لسجل العمليات.</a:t>
            </a:r>
          </a:p>
          <a:p>
            <a:pPr algn="r" rtl="1">
              <a:lnSpc>
                <a:spcPct val="102000"/>
              </a:lnSpc>
              <a:spcBef>
                <a:spcPts val="0"/>
              </a:spcBef>
              <a:spcAft>
                <a:spcPts val="700"/>
              </a:spcAft>
            </a:pPr>
            <a:r>
              <a:rPr sz="1500" b="0">
                <a:solidFill>
                  <a:srgbClr val="0F172A"/>
                </a:solidFill>
                <a:latin typeface="Arial"/>
              </a:rPr>
              <a:t/>
            </a:r>
            <a:r>
              <a:rPr sz="1500" b="1">
                <a:solidFill>
                  <a:srgbClr val="0E7C66"/>
                </a:solidFill>
                <a:latin typeface="Arial"/>
              </a:rPr>
              <a:t>▪  </a:t>
            </a:r>
            <a:r>
              <a:rPr sz="1500" b="0">
                <a:solidFill>
                  <a:srgbClr val="0F172A"/>
                </a:solidFill>
                <a:latin typeface="Arial"/>
              </a:rPr>
              <a:t>التوسّع التدريجي مأمورية تلو الأخرى مع قياس مؤشرات الأداء.</a:t>
            </a:r>
          </a:p>
        </p:txBody>
      </p:sp>
      <p:sp>
        <p:nvSpPr>
          <p:cNvPr id="10" name="Rectangle 9"/>
          <p:cNvSpPr/>
          <p:nvPr/>
        </p:nvSpPr>
        <p:spPr>
          <a:xfrm>
            <a:off x="0" y="6547104"/>
            <a:ext cx="12191695" cy="310896"/>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6547104"/>
            <a:ext cx="1828800" cy="310896"/>
          </a:xfrm>
          <a:prstGeom prst="rect">
            <a:avLst/>
          </a:prstGeom>
          <a:noFill/>
        </p:spPr>
        <p:txBody>
          <a:bodyPr wrap="square" anchor="ctr" lIns="25400" rIns="25400" tIns="12700" bIns="12700">
            <a:spAutoFit/>
          </a:bodyPr>
          <a:lstStyle/>
          <a:p>
            <a:pPr algn="l" rtl="1">
              <a:lnSpc>
                <a:spcPct val="100000"/>
              </a:lnSpc>
              <a:spcBef>
                <a:spcPts val="0"/>
              </a:spcBef>
              <a:spcAft>
                <a:spcPts val="400"/>
              </a:spcAft>
            </a:pPr>
            <a:r>
              <a:rPr sz="1000" b="1">
                <a:solidFill>
                  <a:srgbClr val="BFDBE8"/>
                </a:solidFill>
                <a:latin typeface="Arial"/>
              </a:rPr>
              <a:t>GeoTax</a:t>
            </a:r>
          </a:p>
        </p:txBody>
      </p:sp>
      <p:sp>
        <p:nvSpPr>
          <p:cNvPr id="12" name="TextBox 11"/>
          <p:cNvSpPr txBox="1"/>
          <p:nvPr/>
        </p:nvSpPr>
        <p:spPr>
          <a:xfrm>
            <a:off x="10088575" y="6547104"/>
            <a:ext cx="1828800" cy="310896"/>
          </a:xfrm>
          <a:prstGeom prst="rect">
            <a:avLst/>
          </a:prstGeom>
          <a:noFill/>
        </p:spPr>
        <p:txBody>
          <a:bodyPr wrap="square" anchor="ctr" lIns="25400" rIns="25400" tIns="12700" bIns="12700">
            <a:spAutoFit/>
          </a:bodyPr>
          <a:lstStyle/>
          <a:p>
            <a:pPr algn="r" rtl="1">
              <a:lnSpc>
                <a:spcPct val="100000"/>
              </a:lnSpc>
              <a:spcBef>
                <a:spcPts val="0"/>
              </a:spcBef>
              <a:spcAft>
                <a:spcPts val="400"/>
              </a:spcAft>
            </a:pPr>
            <a:r>
              <a:rPr sz="900" b="0">
                <a:solidFill>
                  <a:srgbClr val="BFDBE8"/>
                </a:solidFill>
                <a:latin typeface="Arial"/>
              </a:rPr>
              <a:t>المحور الثالث عشر</a:t>
            </a:r>
          </a:p>
        </p:txBody>
      </p:sp>
      <p:sp>
        <p:nvSpPr>
          <p:cNvPr id="13" name="TextBox 12"/>
          <p:cNvSpPr txBox="1"/>
          <p:nvPr/>
        </p:nvSpPr>
        <p:spPr>
          <a:xfrm>
            <a:off x="5852160" y="6547104"/>
            <a:ext cx="548640" cy="310896"/>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1000" b="1">
                <a:solidFill>
                  <a:srgbClr val="FFFFFF"/>
                </a:solidFill>
                <a:latin typeface="Arial"/>
              </a:rPr>
              <a:t>118</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93408"/>
            <a:ext cx="12191695" cy="16459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05840"/>
            <a:ext cx="10728655" cy="822960"/>
          </a:xfrm>
          <a:prstGeom prst="rect">
            <a:avLst/>
          </a:prstGeom>
          <a:noFill/>
        </p:spPr>
        <p:txBody>
          <a:bodyPr wrap="square" anchor="t" lIns="25400" rIns="25400" tIns="12700" bIns="12700">
            <a:spAutoFit/>
          </a:bodyPr>
          <a:lstStyle/>
          <a:p>
            <a:pPr algn="r" rtl="1">
              <a:lnSpc>
                <a:spcPct val="100000"/>
              </a:lnSpc>
              <a:spcBef>
                <a:spcPts val="0"/>
              </a:spcBef>
              <a:spcAft>
                <a:spcPts val="400"/>
              </a:spcAft>
            </a:pPr>
            <a:r>
              <a:rPr sz="4000" b="1">
                <a:solidFill>
                  <a:srgbClr val="FFFFFF"/>
                </a:solidFill>
                <a:latin typeface="Arial"/>
              </a:rPr>
              <a:t>الخاتمة</a:t>
            </a:r>
          </a:p>
        </p:txBody>
      </p:sp>
      <p:sp>
        <p:nvSpPr>
          <p:cNvPr id="6" name="TextBox 5"/>
          <p:cNvSpPr txBox="1"/>
          <p:nvPr/>
        </p:nvSpPr>
        <p:spPr>
          <a:xfrm>
            <a:off x="731520" y="2011680"/>
            <a:ext cx="10728655" cy="3108960"/>
          </a:xfrm>
          <a:prstGeom prst="rect">
            <a:avLst/>
          </a:prstGeom>
          <a:noFill/>
        </p:spPr>
        <p:txBody>
          <a:bodyPr wrap="square" anchor="t" lIns="25400" rIns="25400" tIns="12700" bIns="12700">
            <a:spAutoFit/>
          </a:bodyPr>
          <a:lstStyle/>
          <a:p>
            <a:pPr algn="r" rtl="1">
              <a:lnSpc>
                <a:spcPct val="125000"/>
              </a:lnSpc>
              <a:spcBef>
                <a:spcPts val="0"/>
              </a:spcBef>
              <a:spcAft>
                <a:spcPts val="1400"/>
              </a:spcAft>
            </a:pPr>
            <a:r>
              <a:rPr sz="1800" b="1">
                <a:solidFill>
                  <a:srgbClr val="FFFFFF"/>
                </a:solidFill>
                <a:latin typeface="Arial"/>
              </a:rPr>
              <a:t>GeoTax ليست مجرد تطبيق، بل نموذج متكامل للتحول الرقمي في الإدارة الضريبية المصرية.</a:t>
            </a:r>
          </a:p>
          <a:p>
            <a:pPr algn="r" rtl="1">
              <a:lnSpc>
                <a:spcPct val="125000"/>
              </a:lnSpc>
              <a:spcBef>
                <a:spcPts val="0"/>
              </a:spcBef>
              <a:spcAft>
                <a:spcPts val="1400"/>
              </a:spcAft>
            </a:pPr>
            <a:r>
              <a:rPr sz="1500" b="0">
                <a:solidFill>
                  <a:srgbClr val="C8DAE6"/>
                </a:solidFill>
                <a:latin typeface="Arial"/>
              </a:rPr>
              <a:t>جمعت المنظومة بين </a:t>
            </a:r>
            <a:r>
              <a:rPr sz="1500" b="1">
                <a:solidFill>
                  <a:srgbClr val="0D9488"/>
                </a:solidFill>
                <a:latin typeface="Arial"/>
              </a:rPr>
              <a:t>السجل المركزي الموحّد</a:t>
            </a:r>
            <a:r>
              <a:rPr sz="1500" b="0">
                <a:solidFill>
                  <a:srgbClr val="C8DAE6"/>
                </a:solidFill>
                <a:latin typeface="Arial"/>
              </a:rPr>
              <a:t> و</a:t>
            </a:r>
            <a:r>
              <a:rPr sz="1500" b="1">
                <a:solidFill>
                  <a:srgbClr val="0D9488"/>
                </a:solidFill>
                <a:latin typeface="Arial"/>
              </a:rPr>
              <a:t>البعد الجغرافي GIS</a:t>
            </a:r>
            <a:r>
              <a:rPr sz="1500" b="0">
                <a:solidFill>
                  <a:srgbClr val="C8DAE6"/>
                </a:solidFill>
                <a:latin typeface="Arial"/>
              </a:rPr>
              <a:t> و</a:t>
            </a:r>
            <a:r>
              <a:rPr sz="1500" b="1">
                <a:solidFill>
                  <a:srgbClr val="0D9488"/>
                </a:solidFill>
                <a:latin typeface="Arial"/>
              </a:rPr>
              <a:t>هرم صلاحيات محكم</a:t>
            </a:r>
            <a:r>
              <a:rPr sz="1500" b="0">
                <a:solidFill>
                  <a:srgbClr val="C8DAE6"/>
                </a:solidFill>
                <a:latin typeface="Arial"/>
              </a:rPr>
              <a:t> وأتمتة كاملة لدورة الحصر والفحص.</a:t>
            </a:r>
          </a:p>
          <a:p>
            <a:pPr algn="r" rtl="1">
              <a:lnSpc>
                <a:spcPct val="125000"/>
              </a:lnSpc>
              <a:spcBef>
                <a:spcPts val="0"/>
              </a:spcBef>
              <a:spcAft>
                <a:spcPts val="1400"/>
              </a:spcAft>
            </a:pPr>
            <a:r>
              <a:rPr sz="1500" b="0">
                <a:solidFill>
                  <a:srgbClr val="C8DAE6"/>
                </a:solidFill>
                <a:latin typeface="Arial"/>
              </a:rPr>
              <a:t>النتيجة: توسيع القاعدة الضريبية، ضبط التهرّب، عدالة أكبر، وشفافية كاملة موثّقة بالكامل.</a:t>
            </a:r>
          </a:p>
          <a:p>
            <a:pPr algn="r" rtl="1">
              <a:lnSpc>
                <a:spcPct val="125000"/>
              </a:lnSpc>
              <a:spcBef>
                <a:spcPts val="0"/>
              </a:spcBef>
              <a:spcAft>
                <a:spcPts val="1400"/>
              </a:spcAft>
            </a:pPr>
            <a:r>
              <a:rPr sz="1500" b="0">
                <a:solidFill>
                  <a:srgbClr val="C8DAE6"/>
                </a:solidFill>
                <a:latin typeface="Arial"/>
              </a:rPr>
              <a:t>مشروع جاهز للانتقال من فكرة تخرّج إلى أداة تشغيلية تخدم مصلحة الضرائب ووزارة المالية.</a:t>
            </a:r>
          </a:p>
        </p:txBody>
      </p:sp>
      <p:sp>
        <p:nvSpPr>
          <p:cNvPr id="7" name="TextBox 6"/>
          <p:cNvSpPr txBox="1"/>
          <p:nvPr/>
        </p:nvSpPr>
        <p:spPr>
          <a:xfrm>
            <a:off x="731520" y="5486400"/>
            <a:ext cx="10728655" cy="822960"/>
          </a:xfrm>
          <a:prstGeom prst="rect">
            <a:avLst/>
          </a:prstGeom>
          <a:noFill/>
        </p:spPr>
        <p:txBody>
          <a:bodyPr wrap="square" anchor="ctr" lIns="25400" rIns="25400" tIns="12700" bIns="12700">
            <a:spAutoFit/>
          </a:bodyPr>
          <a:lstStyle/>
          <a:p>
            <a:pPr algn="ctr" rtl="1">
              <a:lnSpc>
                <a:spcPct val="100000"/>
              </a:lnSpc>
              <a:spcBef>
                <a:spcPts val="0"/>
              </a:spcBef>
              <a:spcAft>
                <a:spcPts val="400"/>
              </a:spcAft>
            </a:pPr>
            <a:r>
              <a:rPr sz="2000" b="1">
                <a:solidFill>
                  <a:srgbClr val="FFFFFF"/>
                </a:solidFill>
                <a:latin typeface="Arial"/>
              </a:rPr>
              <a:t>شكراً لحسن استماعكم  —  </a:t>
            </a:r>
            <a:r>
              <a:rPr sz="2000" b="1">
                <a:solidFill>
                  <a:srgbClr val="0D9488"/>
                </a:solidFill>
                <a:latin typeface="Arial"/>
              </a:rPr>
              <a:t>Geo</a:t>
            </a:r>
            <a:r>
              <a:rPr sz="2000" b="1">
                <a:solidFill>
                  <a:srgbClr val="FFFFFF"/>
                </a:solidFill>
                <a:latin typeface="Arial"/>
              </a:rPr>
              <a:t>Tax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