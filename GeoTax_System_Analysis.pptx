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شريحة الافتتاح: رحّب بالحضور وقدّم نفسك، ثم عرّف GeoTax بأنه منظومة رقمية متكاملة للمعاينات الميدانية والربط الجغرافي للممولين على مستوى الجمهورية، طوّرت لخدمة مصلحة الضرائب المصرية.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عرّف الحضور بالمشروع: تطبيق موبايل موحد يرقمن أعمال الحصر والفحص ويربط كل ممول بموقع جغرافي حقيقي على الخريطة. أكد أن العرض يسير بترتيب الاستخدام الفعلي للنظام من شاشة الدخول حتى الإدارة العليا.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اشرح الوضع الحالي: عمل ورقي، غياب الربط الجغرافي، ضعف الرقابة على الأداء الميداني، وبطء خدمة الممول. هذه هي الفجوات التي صمم GeoTax لسدها.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اعرض الحل في محورين: أتمتة العمل الميداني بربط جغرافي موثق، وتحويل العلاقة مع الممول إلى خدمة رقمية شفافة، مع حوكمة كاملة عبر سجل العمليات والتقارير.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اشرح التسلسل الهرمي: الإدارة العليا ← رئيس المأمورية ← مدير الحاسب الآلي ← مديرو الحصر والفحص ← المراجعون ← المأمورون، ثم الممول والجمهور. كل مستوى يرى فقط ما يخص صلاحياته.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أهم شريحة لفهم النظام كوحدة واحدة: الإعداد ثم التخطيط ثم التنفيذ الميداني ثم الطلبات ثم المراجعة والاعتماد ثم الفحص ثم الرقابة. اربطها بالشاشات التي ستأتي تباعًا.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ابدأ بشرح أن النظام يفرق منذ اللحظة الأولى بين ثلاث فئات: الموظف بصلاحيات كاملة، الممول بملفه فقط، والجمهور لتقديم الشكاوى بدون تسجيل.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وضح أن التصميم يفصل الأدوار من أول شاشة: الموظف بصلاحيات كاملة حسب وظيفته، الممول يرى ملفه فقط، والشكاوى متاحة للجمهور بدون أي تسجيل — وهذه ميزة حوكمة مهمة.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أكد على نقطة الأمان: كلمة مرور افتراضية تُغيَّر إجباريًا عند أول دخول، وكل موظف مرتبط بمأمورية محددة فلا يرى بيانات غيرها.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اربط هذه الشاشة بشاشة الإدارة العليا الأخيرة: القائمة هنا تُدار مركزيًا، وأي مأمورية جديدة تضاف بكودها تظهر فورًا لكل المستخدمين — قابلية توسع حقيقية على مستوى الجمهورية.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ابدأ القسم بتوضيح أن رئيس المأمورية يملك أوسع صلاحيات داخل مأموريته: يعين مديري الحاسب الآلي، يشرف على الملفات بما فيها سجل الحذف، ويملك كل أدوات الرقابة.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قارن بصريًا بين هذه اللوحة ولوحات الأدوار الأخرى لاحقًا: عدد البطاقات ونوعها يعكس حجم الصلاحية — الرئيس وحده يرى إدارة الملفات وسجل العمليات والشكاوى معًا.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أكد فكرة «سلسلة الثقة»: الحسابات لا تُنشأ عشوائيًا؛ الرئيس ينشئ مديري الحاسب الآلي فقط، وهم بدورهم ينشئون بقية الأدوار — وكل ذلك مسجل في سجل العمليات.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اذكر أن حالة «نشط» تعني إمكانية إيقاف الحسابات عند النقل أو الندب — وهو ما يظهر أثره فورًا في منع الدخول، مع بقاء كل أعمال الموظف السابقة موثقة باسمه.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أبرز خاصية «المصدر»: النظام يميز الملفات المرحّلة من الداتا القديمة (imported) عن المنشأة من التطبيق (request) — مفيد جدًا في مرحلة التحول الرقمي وتنقية القاعدة.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ركز على الرسالة الحوكمية: الحذف في النظام «حذف ناعم» موثق يمكن مراجعته، وهذا يحمي المصلحة من العبث بالملفات ويحمي الموظف الأمين بإثبات إجراءاته.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الشاشة هي قلب المشروع وأقوى لقطة في العرض: كل نشاط له نقطة حقيقية على الأرض بلون حالته الضريبية، ويمكن البحث والوصول إليه فورًا — اعرضها بتأنٍ.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اذكر مثالًا عمليًا: «تقرير الحصر على الطبيعة لشهر يونيو Excel في ثوانٍ» — وقارنه بالأسلوب اليدوي الذي كان يستغرق أيامًا.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لاحظ أن القائمة تعرض كل الأدوار الوظيفية بالمأمورية — وهي فرصة لتعريف الحضور بفريق العمل الكامل قبل الانتقال لشاشات كل دور.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مدير الحاسب الآلي هو المشغل التقني للمأمورية: ينشئ حسابات جميع الموظفين بصلاحاتهم، يدير الأخبار، ويتابع سجل العمليات.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الشاشة حجة النظام أمام أي مراجعة: كل حذف أو اعتماد أو إسناد مسجل بالتوقيت. أكد أن السجل يُكتب آليًا ولا يمكن التلاعب به من المستخدمين.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قارن مع لوحة الرئيس: اختفت إدارة الملفات والشكاوى وظهرت «توزيع الاختصاصات» — النظام يمنح كل دور أدواته فقط.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اضرب مثال «انتهاء موعد الاقرارات»: رسالة واحدة تصل لكل الموظفين والممولين في لحظتها — بديل رقمي عن النشرات الورقية ومجموعات الواتساب.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اعرض أزرار الصلاحيات الست وقل: هذه هي خريطة الأدوار التنفيذية كاملة — وسنشاهد الآن لوحة كل دور منها بالترتيب الهرمي: مدير الحصر ثم مراجعه ثم مأموره، ثم شعبة الفحص.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مدير الحصر يقود شعبة الحصر: يوزع المهام على المأمورين، يراجع ويعتمد أعمالهم، ويتابع ممولي المأمورية وطلباتهم.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وضح مبدأ «صانع القرار ليس منفذ العمل»: المأمور يجمع البيانات ميدانيًا، والمدير يراجع ويعتمد — فصل يضمن الجودة ويمنع التلاعب.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اشرح مفهوم «خط السير»: المدير يرفق مجموعة ملفات بمواقعها فيتسلم المأمور مسار عمل يومي منظم على الخريطة بدلًا من التحرك العشوائي.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بيّن أن الطلبات الموجهة «لهذه الإدارة» تعني توجيهًا ذكيًا: طلبات الحصر تصل لإدارة الحصر وطلبات الفحص لإدارة الفحص تلقائيًا.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مراجع الحصر هو مخطط الشعبة: يضع الخطط اليومية والأسبوعية والشهرية، يسند الملفات بخطوط سير، ويتابع تنفيذ المهام.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عرّف الدور: المراجع يخطط ويسند ويتابع، بينما يظل الاعتماد النهائي لمدير الحصر — تدرج صلاحيات سليم.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اربط المستويات الثلاثة بلغة الإدارة: اليومي للتشغيل، الأسبوعي للتوزيع، الشهري للمستهدفات — وكلها تنعكس آليًا في التقارير.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لاحظ أن حالة «لم يتم اختيار ملفات بعد» تتغير مع كل إضافة — والمهمة لا تُرسل إلا بعناصرها كاملة، ما يضمن جدية التكليف.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اعرض دورة حياة المهمة: جديدة عند الإسناد ← يتسلمها المأمور ← تُنجز ← يراجعها المدير — وكل مرحلة مرئية هنا لحظيًا.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مأمور الحصر هو القوة الميدانية للنظام وأكثر الأدوار شاشاتٍ: يفتح ملفات الحصر على الطبيعة بالموقع والصور، يعالج طلبات الممولين، وينفذ المهام بخطوط السير.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قدّم البطل الميداني للنظام: هذا الدور هو من يملأ الخريطة بالنقاط — لاحظ بساطة اللوحة وتركيزها على أدوات التنفيذ.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لاحظ خبر تكريم «محمد حلمي» نفسه صاحب هذه اللوحة — الأخبار تُستخدم أيضًا للتحفيز وتقدير الملتزمين موظفين وممولين.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نقطة أمن معلومات ذكية: خارج مأموريتك ترى البيانات الأساسية فقط بلا مواقع ولا تعديل — توازن مثالي بين تكامل البيانات وحمايتها.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اشرح الشارات المزدوجة: حالة التسجيل بالتطبيق وحالة الملف معًا — النظام يميز الممول المتفاعل رقميًا عن غيره لتحفيز التسجيل الذاتي.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فهرس عمل المأمور: سنفتح الآن كل بند فيها بالترتيب — ابدأ بأهمها: فتح ملف الحصر على الطبيعة.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أهم شاشة تشغيلية: أكد أن التقاط الموقع يتم في عين المكان، فتتحول «المعاينة على الطبيعة» من ادعاء ورقي إلى حقيقة موثقة بإحداثيات وصور.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اربط مع رحلة الممول القادمة: الطلب الذي سيقدمه الممول من بيته سيظهر هنا في نفس اللحظة — هذه هي الخدمة الحكومية الرقمية الحقيقية.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أغلق الدائرة أمام الحضور: المهمة #1 التي أسندها سعيد أبو الحسن ظهرت فورًا عند محمد حلمي بنفس الرقم والأولوية — تتبع كامل بلا ورق.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اذكر السيناريو: أثناء المرور اكتشف المأمور مخزنًا جديدًا لممول قائم — بدل تقرير ورقي، بحث بالرقم وأضاف المخزن بموقعه في دقيقة.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ركز على زر خط السير: الملف ليس بيانات صماء بل بوابة وصول فعلي — أي مأمور جديد يصل للنشاط بدون معرفة سابقة بالمنطقة.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هنا يكتمل وعد «الربط الجغرافي»: من شاشة الملف إلى باب المصنع بمسار GPS — قيمة عملية يلمسها كل موظف ميداني.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اختم قسم المأمور: أدوات الرئيس نفسها في يد المنفذ بحدود صلاحياته — عدالة أدوات ترفع الإنتاجية وتُبسط المساءلة.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أطول رحلة في العرض: الممول يسجل بنفسه، يقدم طلبه، يتابع حالته، ويُدمج ملفه بالنظام — خدمة حكومية رقمية كاملة من الهاتف.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ابدأ رحلة الممول: مواطن يريد فتح نشاط — يسجل من هاتفه في دقيقتين ويصل طلبه لمأمور الحصر المختص مباشرة. لاحظ التبويبات الثلاثة لكل حالات الممولين.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لاحظ ذكاء الواجهة: «ملفي» معطلة لأن الملف لم يُفتح بعد، والتنبيه الأحمر يوجه الممول مباشرة للخطوة المطلوبة.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عدّد الأنواع الأحد عشر ببطء — هذه قائمة خدمات مكتملة. وأبرز أن الممول يرسل موقع نشاطه الحقيقي بدقة GPS، فيصل المأمور لاحقًا بلا عناء.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لاحظ تبويبي الحصر والفحص في طلبات الممول: النظام يفصل طلبات كل شعبة حتى في واجهة الممول — اتساق كامل مع الهيكل الإداري.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اشرح دورة حياة الطلب عبر الشارات: جديد ← تحت المراجعة ← معتمد/مرفوض/مطلوب استيفاء ← منتهي — وكل تغيير يصل إشعارًا للممول.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هذه أهم شاشات الدورة الإدارية: أبرز الأزرار الستة للحالة وزر «فتح ملف ودمجه بالممولين» الذي يحول الطلب لملف ضريبي حقيقي بضغطة واحدة.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اقرأ نص الرد كما هو: النظام ينقل التعليمات الرسمية للممول حرفيًا وبطابع زمني — لا مجال لسوء الفهم أو الإنكار لاحقًا.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قارن مع الشاشة 39: نفس القائمة قبل وبعد — تغيّرت الشارة وحدها. هذه هي الشفافية اللحظية التي يفتقدها العمل الورقي.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اشرح فلسفة المرحلتين: الميدان يجمع البيانات أولًا، والرقم الضريبي يُضاف بعد التحقق — لا رقم ضريبي بلا معاينة حقيقية موثقة.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توقف هنا ولخص الرحلة أمام الحضور: مواطن سجّل 20:40، عولج طلبه وعوين ودُمج 20:44 في بيئة الاختبار — الدورة المستندية كلها داخل النظام.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أبرز خبر شكر الممول الملتزم: النظام لا يلاحق المتهربين فقط بل يكرم الملتزمين علنًا — أداة بناء ثقة بين المصلحة والمجتمع الضريبي.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ركّز على مبدأ «مصدر حقيقة واحد»: ما يراه الممول هو ذاته ما يراه الموظف — وأي تعديل يمر بطلب موثق فيظهر في سجل التعديلات.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لاحظ تغيّر قائمة الأنواع تلقائيًا: الممول المسجل يرى طلبات مرحلة التشغيل (توقف/محاسبة/مقابلة فحص) بدلًا من طلبات التأسيس — ذكاء سياقي في الواجهة.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ميزة مجتمعية فارقة: أي مواطن يبلغ عن نشاط متهرب بشكوى موثقة بالموقع والصور، وتتحول الشكوى الجادة إلى ملف ضريبي.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أكد نقطة «بدون تسجيل دخول»: أزيلت كل حواجز الإبلاغ، مع طلب بيانات المبلغ للجدية — توازن بين سهولة الوصول ومنع الكيدية.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أبرز جودة التوثيق: المبلغ يرسل الموقع بدقة ±43م وصورة للنشاط — المأمورية تستلم بلاغًا قابلًا للتنفيذ فورًا لا مجرد كلام.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اعرضها كنموذج مكتمل: كل أركان البلاغ الجاد موجودة — من، ضد من، ماذا، أين بالإحداثيات، والدليل المصور.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رسالة بسيطة لكنها مهمة نفسيًا: المواطن يشعر أن بلاغه وصل جهة جادة — عامل حاسم في استمرار تدفق البلاغات.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ذروة قصة الشكاوى: زر «فتح ملف ضريبي من الشكوى» يحول البلاغ الشعبي مباشرة إلى إجراء حصر رسمي — اربطها بأهداف توسيع القاعدة وتحقيق العدالة.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شعبة الفحص تعمل بنفس نموذج الحصر (مدير/مراجع/مأمور) مع أدوات متخصصة: المعاينات، طلب الحضور، مواعيد المعاينة، وإخطارات التوقف الجزئي والنهائي.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أشر لتطابق البنية مع لوحة مدير الحصر: نموذج إداري واحد (مدير/مراجع/مأمور) يتكرر — سهولة تدريب وتوسع لأي إدارة مستقبلية.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مرة أخرى نفس النموذج: خطة/إسناد/متابعة — رسّخ لدى الحضور أن GeoTax منظومة قوالب إدارية موحدة قابلة للتعميم.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اربط الألوان: علامة صفراء توقف جزئي وحمراء توقف نهائي — هي ذاتها فلاتر الخريطة التفاعلية. القرار الإجرائي يتحول للحظة بصرية على الخريطة.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بهذه اللوحة اكتملت أدوار المأمورية العشرة — انتقل الآن لقمة الهرم: الإدارة العليا المركزية.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قمة النظام: الإدارة العليا تدير المأموريات نفسها ككيانات، وتملك رؤية رقابية شاملة عبر كل الوحدات.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أكد الفرق الجوهري: كل ما سبق كان بنطاق مأمورية واحدة — هنا نفس الأدوات لكن بنطاق الجمهورية كلها، وهي القيمة الاستراتيجية للقيادات.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اربط بالبداية: قائمة الدخول التي رآها الحضور أول العرض تُدار من هنا — دورة النظام أغلقت من القاع للقمة.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اختم جولة الشاشات برسالة التوسع: 4 حقول تكفي لضم مأمورية جديدة كاملة للمنظومة — الجاهزية للتعميم القومي مدمجة في التصميم.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لخص دور الخريطة كمنتج نهائي لكل عمليات النظام: كل شاشة رأيناها تغذيها، وهي بدورها تغذي القرار الرقابي والتشغيلي.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اجمع خيوط المنظومات الثلاث المساندة وأكد أن كلًا منها موصول بدورة العمل الأساسية وليس وحدة معزولة.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اربط التقارير بسجل العمليات كوجهي عملة الحوكمة: الأول يجيب «ماذا أنجزنا؟» والثاني «من فعل ماذا؟».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قدم النتائج بلغة القيادات: إيرادات، عدالة، رقابة، رضا متعاملين — ثم المميزات التقنية كعوامل تمكين.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اعرضها كخارطة طريق واقعية مبنية على أساس قائم بالفعل — وليست وعودًا من فراغ؛ البنية المركزية تسمح بكل هذه الإضافات.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اختم بحزم: النظام ليس فكرة بل منتج عامل بالأدلة المصورة — واطلب بوضوح قرار التشغيل التجريبي الموسع، ثم افتح باب الأسئلة.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اختم بالشكر، وأكد الاستعداد للإجابة عن الأسئلة وتنفيذ عرض حي للتطبيق أمام الحضور.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6400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58968" y="822960"/>
            <a:ext cx="1280160" cy="128016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327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5400" b="1" lang="ar-EG">
                <a:solidFill>
                  <a:srgbClr val="FFFFFF"/>
                </a:solidFill>
                <a:latin typeface="Arial"/>
                <a:cs typeface="Arial"/>
              </a:rPr>
              <a:t>GeoTax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2600" b="1" lang="ar-EG">
                <a:solidFill>
                  <a:srgbClr val="9FD4C2"/>
                </a:solidFill>
                <a:latin typeface="Arial"/>
                <a:cs typeface="Arial"/>
              </a:rPr>
              <a:t>منظومة المعاينات والربط الجغرافي الضريبي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17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600" b="0" lang="ar-EG">
                <a:solidFill>
                  <a:srgbClr val="CFDDE8"/>
                </a:solidFill>
                <a:latin typeface="Arial"/>
                <a:cs typeface="Arial"/>
              </a:rPr>
              <a:t>وثيقة تحليل نظام شاملة وعرض تقديمي رسمي — مصلحة الضرائب المصرية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500" b="1" lang="ar-EG">
                <a:solidFill>
                  <a:srgbClr val="FFFFFF"/>
                </a:solidFill>
                <a:latin typeface="Arial"/>
                <a:cs typeface="Arial"/>
              </a:rPr>
              <a:t>إعداد: محمد جمال محمد عبدالعزيز — مأمور حصر</a:t>
            </a:r>
          </a:p>
          <a:p>
            <a:pPr algn="ctr" rtl="1">
              <a:spcAft>
                <a:spcPts val="400"/>
              </a:spcAft>
            </a:pPr>
            <a:r>
              <a:rPr sz="1200" b="0" lang="ar-EG">
                <a:solidFill>
                  <a:srgbClr val="A9C6B9"/>
                </a:solidFill>
                <a:latin typeface="Arial"/>
                <a:cs typeface="Arial"/>
              </a:rPr>
              <a:t>m.masloh17824@gmail.com — 01066878903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مقدمة المشروع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8428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10835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اسم المشروع: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التقنية: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تطبيق موبايل مطوَّر بتقنية React Native يعمل على أجهزة Android و iOS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نطاق العمل: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إدارة أعمال الحصر والفحص والمعاينات الميدانية وربط الممولين جغرافيًا على الخريطة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المستفيدون: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موظفو المأموريات بجميع درجاتهم، الإدارة العليا بالمصلحة، الممولون، والجمهور العام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التغطية: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نظام مركزي واحد يخدم جميع المأموريات على مستوى الجمهورية بأكواد موحدة (101 مغاغة، 102 بني مزار، ...)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طبيعة الوثيقة: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هذا العرض وثيقة تحليل نظام رسمية: تشرح كل شاشة، صلاحياتها، مدخلاتها ومخرجاتها، وعلاقتها بدورة العمل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مشكلة العمل الحالية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8428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10835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الاعتماد على الأوراق والدفاتر في أعمال الحصر الميداني، مما يؤدي إلى فقدان البيانات وصعوبة استرجاعها.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عدم وجود ربط جغرافي للممولين: لا يمكن التحقق من الموقع الفعلي للنشاط أو الوصول إليه بسهولة.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صعوبة متابعة أداء المأمورين في الميدان والتحقق من تنفيذ المعاينات فعليًا على الطبيعة.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بطء تداول الطلبات بين الممول والمأمورية (فتح ملف، تغيير عنوان، بطاقة ضريبية...) وغياب الشفافية في حالتها.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تشتت المراسلات الداخلية وعدم توثيقها، وغياب سجل عمليات موحد يحفظ المسؤولية.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صعوبة استخراج تقارير وإحصاءات فورية لدعم اتخاذ القرار على مستوى المأمورية أو المصلحة.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عدم وجود قناة رسمية سهلة للجمهور للإبلاغ عن الأنشطة المتهربة ضريبيًا.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الحل الذي يقدمه GeoTax وأهداف المشروع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51560"/>
            <a:ext cx="553212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5166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رقمنة الحصر: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فتح ملفات الحصر على الطبيعة بموقع جغرافي وصور ومرفقات موثقة</a:t>
            </a:r>
          </a:p>
          <a:p>
            <a:pPr algn="r" rtl="1">
              <a:spcAft>
                <a:spcPts val="8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الربط الجغرافي: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خريطة تفاعلية تعرض جميع الأنشطة بحالاتها الملونة على مستوى المأمورية</a:t>
            </a:r>
          </a:p>
          <a:p>
            <a:pPr algn="r" rtl="1">
              <a:spcAft>
                <a:spcPts val="8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إدارة المهام: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إسناد المهام بخطوط سير وأولويات ومواعيد تنفيذ ومتابعة إنجازها</a:t>
            </a:r>
          </a:p>
          <a:p>
            <a:pPr algn="r" rtl="1">
              <a:spcAft>
                <a:spcPts val="8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خدمة الممول: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بوابة ذاتية للممول لتقديم الطلبات ومتابعتها لحظيًا</a:t>
            </a:r>
          </a:p>
          <a:p>
            <a:pPr algn="r" rtl="1">
              <a:spcAft>
                <a:spcPts val="8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الشكاوى العامة: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قناة مفتوحة للجمهور بدون تسجيل دخول للإبلاغ عن التهرب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051560"/>
            <a:ext cx="553212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234440"/>
            <a:ext cx="5166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الرقابة والحوكمة: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سجل عمليات Audit Log يوثق كل إجراء باسم منفذه ووقته</a:t>
            </a:r>
          </a:p>
          <a:p>
            <a:pPr algn="r" rtl="1">
              <a:spcAft>
                <a:spcPts val="8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التقارير: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تصدير تقارير Excel وPDF لكل نوع من الأعمال خلال أي فترة</a:t>
            </a:r>
          </a:p>
          <a:p>
            <a:pPr algn="r" rtl="1">
              <a:spcAft>
                <a:spcPts val="8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التواصل: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مراسلات داخلية موثقة بين جميع موظفي المأمورية</a:t>
            </a:r>
          </a:p>
          <a:p>
            <a:pPr algn="r" rtl="1">
              <a:spcAft>
                <a:spcPts val="8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الأخبار: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نشر التعليمات والأخبار الرسمية لجميع المستخدمين</a:t>
            </a:r>
          </a:p>
          <a:p>
            <a:pPr algn="r" rtl="1">
              <a:spcAft>
                <a:spcPts val="8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مركزية البيانات: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بحث مركزي على مستوى الجمهورية برقم التسجيل الضريبي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الهيكل الإداري وصلاحيات المستخدمين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51560"/>
            <a:ext cx="553212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5166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الإدارة العليا (مركزي):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إدارة المأموريات على مستوى الجمهورية، المستخدمون، التقارير، سجل العمليات، الخريطة، الشكاوى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رئيس المأمورية: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قمة الهرم بالمأمورية: إضافة مديري الحاسب الآلي، إدارة الملفات وسجل الحذف، الاعتماد والإشراف الكامل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مدير الحاسب الآلي: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إنشاء حسابات موظفي المأمورية بجميع الصلاحيات، إدارة الأخبار، توزيع الاختصاصات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مدير الحصر: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توزيع مهام الحصر، المراجعة والاعتماد، متابعة مأموري الحصر وطلبات الإدارة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مراجع الحصر: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خطط الحصر (يومية/أسبوعية/شهرية)، إسناد الملفات بخطوط سير، متابعة المهام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مأمور الحصر: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التنفيذ الميداني: فتح ملفات على الطبيعة، معالجة الطلبات، المهام الواردة، أعمال الحصر الأخرى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051560"/>
            <a:ext cx="553212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234440"/>
            <a:ext cx="5166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مدير الفحص: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توزيع مهام الفحص، المراجعة والاعتماد، متابعة مأموري الفحص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مراجع الفحص: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خطة الفحص، إسناد المهام لمأموري الفحص ومتابعتها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مأمور الفحص: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المعاينات، طلبات الحضور، تحديد مواعيد المعاينة، إخطارات التوقف الجزئي والنهائي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الممول: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ملفه الضريبي، تقديم الطلبات ومتابعتها، المراسلات والإشعارات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الجمهور: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تقديم شكاوى ضد الأنشطة المتهربة بدون تسجيل دخول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دورة العمل ورحلة المستخدم (User Flow)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8428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10835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1. الإعداد: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الإدارة العليا تنشئ المأموريات بأكوادها — رئيس المأمورية يضيف مدير الحاسب الآلي — مدير الحاسب يضيف باقي الموظفين بصلاحياتهم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2. التخطيط: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مراجع الحصر يضع الخطط (يومية/أسبوعية/شهرية) ويسند المهام للمأمورين بخط سير وأولوية وموعد تنفيذ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3. التنفيذ الميداني: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مأمور الحصر يفتح ملفات الحصر على الطبيعة: التقاط الموقع الجغرافي + بيانات النشاط + صور ومرفقات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4. الطلبات: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الممول يقدم طلبه من هاتفه — يظهر لمأمور الحصر لمعالجته: تحديد الحالة، موعد المعاينة، الرد، ثم فتح الملف ودمجه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5. المراجعة والاعتماد: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مدير الحصر/الفحص يراجع أعمال المأمورين والمراجعين ويعتمد الأرقام الضريبية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6. الفحص: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شعبة الفحص تنفذ المعاينات وطلبات الحضور وإخطارات التوقف الجزئي والنهائي بعلامات ملونة على الخريطة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7. الرقابة والتقارير: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كل إجراء يسجل في سجل العمليات، والتقارير تصدر Excel/PDF، والخريطة التفاعلية تعرض الصورة الكاملة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أولًا: بوابة الدخول للنظام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ثلاث بوابات: موظف — ممول — جمهور عام (شكاوى) | 3 شاشات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1) شاشة الدخول الرئيسية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الدخول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نقطة الانطلاق الوحيدة للنظام وتوجيه كل فئة مستخدمين إلى مسارها الصحيح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شعار GeoTax مع الاسم الرسمي «منظومة المعاينات والربط الجغرافي الضريبي» وثلاث بطاقات اختيار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 والقوائم: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بطاقة «موظف» — بطاقة «ممول» — بطاقة «تقديم شكوى»، وكل بطاقة بسهم انتقال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درع أخضر بعلامة صح = الموظف الموثق، شخص أخضر = الممول، تعجب أحمر = الشكاوى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التطبيق ثم اضغط البطاقة المناسبة لصفتك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شاشة عامة متاحة للجميع بدون تسجيل دخول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المستخدم: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جميع الفئات: موظفون، ممولون، جمهور عام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لا توجد — اختيار مسار فقط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الانتقال إلى شاشة الدخول أو الخدمة المطلوبة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«موظف» → دخول بالبريد وكلمة المرور | «ممول» → دخول بالرقم القومي والهاتف | «تقديم شكوى» → نموذج شكوى مباشر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البوابة الأم لكل الشاشات التالية وتحدد الصلاحيات منذ البداية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فصل واضح للأدوار يمنع الوصول غير المصرح ويُسهّل الخدمة على الجمهور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2) شاشة دخول الموظف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الدخول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توثيق دخول موظفي المصلحة كلٌّ على مأموريته وبصلاحياته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نموذج دخول يتكون من قائمة المأمورية وحقلي البريد الإلكتروني وكلمة المرور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زر «دخول» الأخضر، وسهم أعلى الشاشة للرجوع للشاشة الرئيسية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القوائم: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منسدلة «المأمورية» لاختيار جهة العمل (الإدارة العليا مركزي أو إحدى المأموريات)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المأمورية ← أدخل البريد الإلكتروني ← أدخل كلمة المرور ← اضغط دخول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موظفو المصلحة المسجلون فقط؛ الحساب يُنشأ من رئيس المأمورية أو مدير الحاسب الآلي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المأمورية + البريد الإلكتروني + كلمة المرور (الافتراضية 12345 لأول دخول)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جلسة عمل موثقة تفتح اللوحة الرئيسية حسب الدور الوظيفي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التحقق من البيانات ثم التوجيه للوحة المستخدم؛ وعند أول دخول يُطلب إجباريًا تغيير كلمة المرور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الأمان: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رسالة توضح أن النظام يفرض تغيير كلمة المرور عند أول دخول — حماية إضافية للحسابات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تحدد هوية الموظف ومأموريته فتُبنى عليها كل الصلاحيات والبيانات المعروضة لاحقًا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دخول آمن ومنضبط يربط كل إجراء لاحق بموظف محدد داخل مأمورية محددة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3) اختيار المأمورية (قائمة مأموريات الجمهورية)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الدخول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ربط الموظف بمأموريته من قائمة موحدة على مستوى الجمهورية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نافذة منبثقة بعنوان «اختر المأمورية» تعرض المأموريات بأكوادها الرسمية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القوائم: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الإدارة العليا (مركزي) — 101 مغاغة/المنيا — 102 بني مزار — 103 سمالوط — 104 المنيا أول — 105 ملوي — 200 العدوة — 201 بندر الفيوم — 202 سنورس — 203 طامية — 301 بندر بني سويف — 302 الواسطى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اسم كل مأمورية قابل للضغط + زر «إغلاق» أسفل القائمة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حقل المأمورية ← مرّر بالقائمة ← اختر مأموريتك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متاحة في شاشة الدخول لكل موظف قبل التوثيق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اختيار واحد من القائمة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تثبيت المأمورية في نموذج الدخول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تُغلق النافذة ويُستكمل الدخول على قاعدة بيانات المأمورية المختارة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نظام الأكواد الموحد يجعل GeoTax قابلًا للتوسع بأي مأمورية جديدة تضيفها الإدارة العليا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بنية مركزية واحدة تخدم الجمهورية كلها مع عزل بيانات كل مأمورية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ثانيًا: رئيس المأمورية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قمة الهرم الإداري داخل المأمورية — 8 شاشات: اللوحة، المستخدمون، الملف الشخصي، إدارة الملفات، الخريطة، التقارير، المراسلات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4) اللوحة الرئيسية لرئيس المأمورية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رئيس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مركز تحكم شامل لكل أعمال المأمورية من شاشة واحدة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ترويسة باسم المستخدم «أحمد ممدوح حسن حجازي — رئيس المأمورية — مغاغة/المنيا» وتسع بطاقات وظيفية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 (القوائم):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آخر الأخبار — إدارة المستخدمين — إدارة الملفات — الخريطة التفاعلية — التقارير — المراسلات — الشكاوى — سجل العمليات — الملف الشخصي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لكل بطاقة أيقونة بلون مميز: صحيفة للأخبار، أشخاص للمستخدمين، مجلد للملفات، خريطة، رسم بياني للتقارير، فقاعة حوار للمراسلات، تعجب للشكاوى، مستند لسجل العمليات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بعد الدخول تظهر اللوحة تلقائيًا ← اضغط أي بطاقة للانتقال لوظيفتها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رئيس المأمورية فقط — أوسع لوحة صلاحيات داخل المأمورية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لا توجد — شاشة 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الشاشة الوظيفية المختارة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كل بطاقة تفتح شاشتها: المستخدمون لإضافة مديري الحاسب، الملفات للإشراف والحذف، سجل العمليات للرقابة الكاملة...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المدخل لكل الشاشات الإشرافية التالية (5 حتى 11)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رؤية فورية شاملة وسلطة مركزية منظمة داخل المأمورية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5) إدارة المستخدمين — إضافة مدير الحاسب الآلي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رئيس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تمكين رئيس المأمورية من تعيين مديري الحاسب الآلي — أول حلقة في سلسلة إنشاء الحسابات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شاشة «الموظفون» تعرض قائمة مديري الحاسب الآلي الحاليين بأرقام حواسبهم، مع نافذة «إضافة مدير الحاسب الآلي جديد»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«إنشاء» الأخضر لاعتماد الحساب — «إلغاء» للتراجع — سهم رجوع أعلى الشاشة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القوائم: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الموظفين: أحمد ممدوح (رئيس المأمورية — 1998507)، احمد خلف (1998508)، أماني سلطان (1998509)، سعيد ابو الحسن...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إدارة المستخدمين ← زر الإضافة ← أدخل الاسم بالكامل ورقم الحاسب وكلمة المرور ← اضغط إنشاء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من صلاحيات رئيس المأمورية حصريًا إضافة مدير الحاسب الآلي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الاسم بالكامل — رقم الحاسب — كلمة مرور مبدئية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حساب مدير حاسب آلي جديد نشط يظهر في القائمة فورًا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«إنشاء» يحفظ الحساب ويستطيع صاحبه الدخول فورًا (مع فرض تغيير كلمة المرور) — «إلغاء» يغلق النافذة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مدير الحاسب المُنشأ هنا هو من سينشئ باقي موظفي المأمورية في القسم التالي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تسلسل تعيينات موثق يحفظ المسؤولية: الرئيس يعين مدير الحاسب، ومدير الحاسب يعين الباقين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6) الملف الشخصي لرئيس المأمورية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رئيس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عرض بيانات الحساب الرسمية وتمكين الموظف من تحديث بياناته وكلمة مروره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بطاقة تعريف: الاسم، الوظيفة، رقم الحاسب 1998507، المأمورية مغاغة (101)، المحافظة المنيا، الحالة «نشط»، يليها قسم تعديل البيانات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«حفظ البيانات» الأخضر — وقسم «تغيير كلمة المرور» أسفل الشاشة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الاسم بالكامل — رقم الهاتف — الوظيفة (قابلة للتحديث)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الملف الشخصي ← عدّل ما يلزم ← اضغط حفظ البيانات ← أو غيّر كلمة المرور من القسم الأسفل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كل موظف يرى ويعدّل ملفه الشخصي فقط؛ البيانات السيادية (رقم الحاسب، المأمورية) للعرض فقط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الاسم/الهاتف/الوظيفة الجديدة أو كلمة المرور الجديدة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بيانات محدثة في قاعدة البيانات تنعكس في كل الشاشات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حفظ فوري مع رسالة تأكيد؛ تغيير كلمة المرور يسري من الدخول التالي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نفس نموذج الملف الشخصي متاح لكل الأدوار من لوحاتهم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بيانات موظفين دقيقة ومحدثة دائمًا مع تحكم ذاتي آمن في كلمة المرور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7) إدارة الملفات — ملفات الممولين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رئيس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إشراف رئيس المأمورية على جميع ملفات الممولين بالمأمورية مع سلطة الحذف الموثق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تبويبان أعلى الشاشة: «الملفات» (نشط) و«سجل الحذف»، وتحتهما بطاقات الممولين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محتوى البطاقة: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اسم الممول — رقم التسجيل — النشاط — المصدر: imported (مُرحَّل من الداتا القديمة) أو request (منشأ من طلب داخل التطبيق)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«عرض» بأيقونة عين خضراء لفتح الملف كاملًا — «حذف» بأيقونة سلة حمراء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القوائم: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أمثلة: يونس محمد جمال (111222332 — مصنع ملابس — request)، مصطفى فتحي (111222331 — مقهى — imported)، طارق علي شاكر (تجارة أخشاب)...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إدارة الملفات ← تصفح أو ابحث ← اضغط عرض للاطلاع أو حذف عند الضرورة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رئيس المأمورية — الحذف صلاحية عليا لا تُمنح للمأمورين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أوامر عرض/حذف على الملفات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الملف أو نقله إلى سجل الحذف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«حذف» لا يمحو البيانات نهائيًا بل ينقلها لسجل الحذف الموثق ويُسجّل الإجراء في سجل العمليات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الملفات هنا هي نفسها التي أنشأها مأمورو الحصر ميدانيًا أو نتجت عن طلبات الممولين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رقابة عليا كاملة على الحصيلة الأهم للنظام (ملفات الممولين) مع ضمان عدم فقدان أي بيانات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8) إدارة الملفات — الإشراف وسجل الحذف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رئيس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استكمال أدوات الإشراف: التنقل بين الملفات النشطة وسجل الحذف للمراجعة والاسترجاع الرقابي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نفس شاشة إدارة الملفات مع إبراز التبويب «سجل الحذف» الذي يحفظ كل ملف حُذف ومن حذفه ومتى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تبويب «الملفات» — تبويب «سجل الحذف» — أزرار عرض/حذف على كل بطاقة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العين الخضراء = عرض آمن للبيانات، السلة الحمراء = إجراء حساس بلون تحذيري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بدّل بين التبويبين لمراجعة الملفات الحية والمحذوفة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رئيس المأمورية — سجل الحذف أداة رقابية عليا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تنقل واستعلام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قوائم الملفات بحالتيها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تفاصيل أي ملف محذوف لمعرفة ملابسات الحذف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يتكامل مع سجل العمليات: كل حذف يظهر في الاثنين معًا بتوقيت واسم منفّذ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لا يوجد حذف صامت في GeoTax — كل إجراء على ملف ممول قابل للمراجعة والمساءلة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9) الخريطة التفاعلية (GIS)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رئيس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عرض جميع الأنشطة الاقتصادية بالمأمورية على خريطة حقيقية بحالاتها الضريبية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شريط بحث + فلاتر حالة ملونة + خريطة Leaflet/OpenStreetMap عليها دبابيس الأنشطة وعدّاد النقاط المعروضة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البحث: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بحث برقم التسجيل / الاسم / النشاط / العنوان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فلاتر الحالة: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توقف نهائي (أحمر) — جديد (أزرق) — قيد الإجراء (رمادي) — فرع (بنفسجي) — مخزن (تركواز)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الخريطة ← فعّل الفلاتر المطلوبة أو ابحث ← اضغط الدبوس لعرض بطاقة النشاط (الاسم، الرقم، النشاط)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متاحة لمعظم الأدوار، والنطاق المعروض بحسب المأمورية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كلمة بحث أو اختيار فلاتر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نقاط جغرافية تفاعلية + عداد «1 نقطة معروضة» أسفل الخريطة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الدبوس يعرض بيانات النشاط: يونس محمد جمال — 111222332 — مصنع ملابس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تتغذى تلقائيًا من الإحداثيات الملتقطة في الحصر الميداني والطلبات والشكاوى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جوهر «الربط الجغرافي»: تحويل قاعدة البيانات إلى خريطة عمل حية للرقابة واتخاذ القرار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10) التقارير — مركز تصدير البيانات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رئيس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استخراج تقارير رسمية عن أي نشاط بالنظام خلال أي فترة زمنية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شاشة اختيار نوع التقرير مع مدى زمني (من/إلى) وزرّي تصدير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أنواع التقارير (11 نوعًا):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الممولين — الحصر على الطبيعة — الحصر المكتبي — المعاينات — التوقف الجزئي — التوقف النهائي — المهام — الطلبات (كل) — الشكاوى — الفروع — المخازن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«تصدير Excel» أخضر — «تصدير PDF» أحمر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من تاريخ / إلى تاريخ بصيغة YYYY-MM-DD، مع ملاحظة «اترك الحقول فارغة لتصدير كل البيانات»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نوع التقرير ← حدد الفترة (اختياري) ← اضغط تصدير بالصيغة المطلوبة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متاحة للأدوار الإشرافية والتنفيذية كلٌّ في نطاق مأموريته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نوع التقرير + المدى الزمني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ملف Excel قابل للتحليل أو PDF جاهز للطباعة والاعتماد الرسمي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يولَّد الملف فورًا من بيانات النظام الحية ويُحفظ/يُشارك من الجهاز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يجمع مخرجات كل الشاشات: الحصر، الطلبات، الشكاوى، المهام، الفحص...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إحصاءات دقيقة فورية تدعم القرار وتغني عن الحصر اليدوي للدفاتر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11) المراسلات الداخلية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رئيس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قناة تواصل رسمية موثقة بين رئيس المأمورية وجميع موظفيه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محادثات بكل موظفي المأمورية مع وظيفة كل منهم وآخر رسالة («لا توجد رسائل بعد»)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القوائم: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احمد خلف وأماني سلطان (مديرا الحاسب الآلي) — مخلوف رجب (مدير الحصر) — سعيد ابو الحسن (مراجع الحصر) — محمد حلمي (مأمور حصر) — نصر السعدي (مدير الفحص) — شريف عثمان (مراجع الفحص) — مصطفي شعبان (مأمور فحص)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صورة رمزية خضراء لكل موظف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المراسلات ← اختر الموظف ← اكتب رسالتك وأرسل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كل موظف يراسل زملاءه داخل مأموريته حسب دوره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نصوص الرسائل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محادثات محفوظة وموثقة داخل النظام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نافذة المحادثة الثنائية مع الموظف المختار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تغني عن تطبيقات التواصل الخارجية وتحفظ التعليمات الرسمية داخل بيئة المصلحة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توثيق التوجيهات والاستفسارات وسرعة التنسيق بين الشُعب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ثالثًا: مدير الحاسب الآلي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إدارة الحسابات والأخبار وتوزيع الاختصاصات — 4 شاشات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12) سجل العمليات (Audit Log)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مدير الحاسب الآلي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توثيق كل إجراء يتم على النظام: من فعل ماذا ومتى وعلى أي كيان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سجل زمني تنازلي لبطاقات العمليات، كل بطاقة بنوع العملية وتاريخها وتفاصيلها التقنية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أمثلة موثقة: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إسناد مهمة (task #1 بأولوية عاجلة) — حذف ملف ممول (يونس محمد جمال) — إرسال طلب (تغيير عنوان لإدارة الحصر) — اعتماد رقم ضريبي (111222332) — فتح ملف ممول — تحديث طلب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البحث: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شريط بحث بالاسم / رقم الحاسب / نوع العملية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سجل العمليات ← ابحث أو مرّر ← راجع تفاصيل أي عملية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رئيس المأمورية ومدير الحاسب الآلي والإدارة العليا (كلٌّ في نطاقه)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كلمات بحث فقط — السجل يُكتب تلقائيًا ولا يُعدّل يدويًا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مسار تدقيق كامل قابل للمراجعة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عرض تفاصيل العملية كما سُجلت لحظة تنفيذها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يلتقط تلقائيًا أحداث كل الشاشات: الملفات، الطلبات، المهام، الاعتمادات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حوكمة كاملة: مساءلة عادلة، وحماية للموظف الملتزم بإثبات ما قام به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13) اللوحة الرئيسية لمدير الحاسب الآلي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مدير الحاسب الآلي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مركز عمليات المشغل التقني للمأمورية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ترويسة «أماني سلطان — مدير الحاسب الآلي — مغاغة» وثماني بطاقات وظيفية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آخر الأخبار — إدارة المستخدمين — توزيع الاختصاصات — الخريطة التفاعلية — التقارير — المراسلات — سجل العمليات — الملف الشخصي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أبرز اختلاف: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بطاقة «توزيع الاختصاصات» البرتقالية الخاصة بهذا الدور لتنظيم نطاقات عمل الموظفين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البطاقة المطلوبة للانتقال إلى وظيفتها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مدير الحاسب الآلي — لا يملك إدارة الملفات ولا الشكاوى (من اختصاص الرئيس)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 فقط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الشاشات الوظيفية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إدارة المستخدمين تفتح إنشاء حسابات جميع الأدوار — الأخبار تفتح النشر والتحرير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حلقة الوصل بين تعيين الرئيس له وبين تشغيل باقي الفريق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فصل مهام التشغيل التقني عن الإشراف الرقابي وفق أفضل الممارسات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14) إدارة الأخبار — النشر والتحرير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مدير الحاسب الآلي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نشر الأخبار والتعليمات الرسمية لكل مستخدمي المأمورية أو على مستوى أعم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أخبار ببطاقات تحمل العنوان والنص وتاريخ النشر، مع وسم النطاق (مأمورية)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أمثلة منشورة: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انتهاء موعد الاقرارات (آخر موعد 31/3/2026) — دعوة فرح لزميل — حزمة التسهيلات الجديدة — تكريم الموظف المثالي (محمد حلمي)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«+ إضافة خبر» أخضر عائم — أيقونة تعديل خضراء وأيقونة حذف حمراء على كل خبر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إضافة خبر ← اكتب العنوان والنص ← انشر؛ أو عدّل/احذف خبرًا قائمًا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النشر والتحرير لمدير الحاسب الآلي؛ باقي الأدوار والممولون قراءة فقط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عنوان الخبر ونصه ونطاقه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خبر يظهر فورًا في «آخر الأخبار» لدى كل المستخدمين المستهدفين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الحفظ ينشر مباشرة بطابع زمني؛ الحذف يزيل الخبر من كل الواجهات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قناة التوعية الرسمية التي تصل حتى الممولين (شاشة أخبارهم لاحقًا)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توحيد مصدر التعليمات وضمان وصول المواعيد الحرجة (كالإقرارات) للجميع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15) إضافة موظفي المأمورية بجميع الصلاحيات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مدير الحاسب الآلي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إنشاء حسابات كل الأدوار الوظيفية بالمأمورية من نافذة واحدة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«موظفو المأمورية» + نافذة «إضافة مدير الحصر جديد» بحقول البيانات ومصفوفة أزرار الصلاحية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الاسم بالكامل — رقم الحاسب — كلمة المرور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أزرار الصلاحية (6 أدوار):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مدير الحصر — مراجع حصر — مأمور حصر — مدير الفحص — مراجع فحص — مأمور 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«إنشاء» أخضر — «إلغاء»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الصلاحية ← أدخل الاسم ورقم الحاسب وكلمة المرور ← اضغط إنشاء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مدير الحاسب الآلي — يكمل سلسلة التعيينات التي بدأها رئيس المأمورية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بيانات الموظف + الدور الوظيفي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حساب جديد بصلاحيات دوره يظهر في قائمة الموظفين والمراسلات فورًا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يُفعَّل الحساب ويستطيع صاحبه الدخول بمأموريته (مع تغيير إجباري لكلمة المرور)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الأدوار الستة هنا هي أصحاب اللوحات التي سنعرضها في الأقسام التالية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ضبط كامل لمصفوفة الصلاحيات: كل موظف يُنشأ بدور محدد لا يتجاوزه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رابعًا: مدير الحصر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توزيع مهام الحصر والمراجعة والاعتماد — 3 شاشات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16) اللوحة الرئيسية لمدير الحصر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مدير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مركز قيادة شعبة الحصر بالمأمورية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ترويسة «مخلوف رجب — مدير الحصر — مغاغة» وثماني بطاقات وظيفية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آخر الأخبار — توزيع مهام الحصر — المراجعة والاعتماد — الخريطة التفاعلية — التقارير — مأمورو الحصر — المراسلات — الملف الشخصي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أبرز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«المراجعة والاعتماد» البنفسجية لاعتماد أعمال المأمورين، و«مأمورو الحصر» البرتقالية لمتابعة الفريق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البطاقة المطلوبة للانتقال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مدير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شاشات إدارة الشعبة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توزيع المهام يفتح نموذج الإسناد — المراجعة تفتح قائمة الأعمال المنتظرة للاعتماد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يستقبل مخرجات مأموري الحصر ويعتمدها لتصبح بيانات رسمية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طبقة مراجعة تضمن جودة بيانات الحصر قبل اعتمادها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17) إسناد مهمة — اختيار المأمور المختص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مدير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توزيع أعمال الحصر على المأمورين بأولوية وموعد تنفيذ محددين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نموذج إسناد مهمة مع نافذة سفلية «اختر المأمور» تعرض المتاحين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الحقول والقوائم: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«المأمور المختص» (محمد حلمي — رقم 1985012 — مأمور حصر) — أزرار الأولوية: عاجلة/مرتفعة/عادية/منخفضة — تاريخ التنفيذ المطلوب — «الملفات المسندة + خط السير» مع زر «+ اختيار ملفات»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اختيار المأمور من القائمة — «إغلاق» — زر الإسناد النهائي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المأمور ← حدد الأولوية ← حدد تاريخ التنفيذ ← أرفق الملفات وخط السير ← أرسل المهمة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مدير الحصر (ومراجع الحصر من شاشته المماثلة)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المأمور + الأولوية + التاريخ + الملفات المستهدفة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مهمة مرقمة تصل فورًا لشاشة «المهام الواردة» عند المأمور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تُسجل المهمة في سجل العمليات وتظهر للمتابعة في «متابعة المهام»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بداية دورة العمل الميداني: من هنا تتحول الخطة إلى تكليف فعلي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تكليفات موثقة بأولويات واضحة بدلًا من التوجيهات الشفهية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18) إدارة الحصر — الوظائف المجمعة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مدير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تجميع كل أدوات إدارة الحصر في قائمة واحدة منظمة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ست بطاقات صفّية ملونة بعناوين ووصف مختصر لكل وظيفة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الممولون (جميع الممولين + بحث + موقع) — المهام قيد المراجعة (مراجعة أعمال المأمورين والمراجعين) — الطلبات (طلبات الممولين الواردة لهذه الإدارة) — التقارير (سحب تقرير وتصديره Excel) — الخريطة (مواقع الممولين) — المراسلات (التواصل مع الممولين والزملاء)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أشخاص، علامة اعتماد، حافظة، رسم بياني، خريطة، فقاعة حوار — بألوان مميزة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البطاقة للدخول إلى الوظيفة المطلوبة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مدير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الوظيفة المختارة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«المهام قيد المراجعة» تعرض أعمال المأمورين المنتظرة قراره بالاعتماد أو الإعادة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واجهة الاستقبال الإداري لكل ما ينتجه الميدان والممولون في نطاق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دورة حصر مكتملة من التكليف حتى الاعتماد في مكان واحد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خامسًا: مراجع الحصر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التخطيط وإسناد الملفات ومتابعة المهام — 4 شاشات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19) اللوحة الرئيسية لمراجع الحصر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مراجع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مركز عمل المخطط والمتابع لأعمال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ترويسة «سعيد ابو الحسن — مراجع الحصر — مغاغة» وثماني بطاقات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آخر الأخبار — خطة الحصر — إسناد الملفات — متابعة المهام — الخريطة التفاعلية — التقارير — المراسلات — الملف الشخصي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أبرز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«خطة الحصر» الزرقاء للتخطيط الزمني و«إسناد الملفات» البنفسجية للتكليف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البطاقة المطلوبة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مراجع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شاشات التخطيط والإسناد والمتابعة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خطة الحصر تفتح مستويات التخطيط الثلاثة — إسناد الملفات يفتح نموذج المهمة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همزة الوصل بين توجيهات مدير الحصر وتنفيذ المأمورين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طبقة تخطيط متخصصة ترفع كفاءة توزيع العمل الميداني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20) خطة الحصر — يومية / أسبوعية / شهرية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مراجع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تنظيم أعمال الحصر على ثلاثة مستويات زمنية واضحة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ثلاث بطاقات: خطة يومية (تحديد الملفات والأولويات وعدد الملفات) — خطة أسبوعية (توزيع الأعمال على المأمورين + المستهدف) — خطة شهرية (تحديد المستهدف الشهري ومتابعة الإنجاز)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تقويم أخضر لليومية، أزرق للأسبوعية، بنفسجي للشهرية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تنبيه 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شريط معلومات أخضر: «يمكنك من خلال إسناد الملفات تحديد الفترة الزمنية للخطة (يومية/أسبوعية/شهرية)»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مستوى الخطة ← حدد الملفات والمستهدفات ← تابع نسب الإنجاز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مراجع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الملفات المستهدفة والأولويات والمستهدفات الرقمية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خطط موثقة تتحول لمهام مسندة ويقاس الإنجاز عليها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كل بطاقة تفتح مستواها الزمني لإدارة عناصره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تتكامل مع إسناد الملفات ومتابعة المهام وتغذي تقارير الإنجاز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إدارة بالأهداف: مستهدفات قابلة للقياس بدلًا من العمل غير المخطط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21) إسناد مهمة وإرسالها (نموذج كامل)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مراجع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تكليف مأمور حصر بملفات محددة وخط سير خلال موعد محدد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نموذج الإسناد كاملًا: المأمور المختص، الأولوية، تاريخ التنفيذ، الملفات، وزر الإرسال النهائي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«اختر مأمورًا» — أولوية: عاجلة/مرتفعة/عادية(محددة)/منخفضة — تاريخ التنفيذ 2026-06-15 — الملفات المسندة + خط السير (0)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«+ اختيار ملفات» أخضر — «إسناد المهمة وإرسالها» أخضر عريض أسفل الشاشة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المأمور ← الأولوية ← التاريخ ← أضف الملفات ← اضغط إسناد المهمة وإرسالها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مراجع الحصر ومدير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+ أولوية + تاريخ + ملفات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مهمة جديدة برقم تسلسلي تصل للمأمور فورًا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تظهر لدى المأمور في «المهام الواردة» وتُسجل في سجل العمليات ويبدأ عدّها الزمني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الملفات المرفقة تحمل مواقعها الجغرافية فيتكون خط سير على الخريطة تلقائيًا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تكليف دقيق موثق بمسار عمل جاهز يوفر وقت المأمور ويضبط المتابعة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22) متابعة المهام المسندة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مراجع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متابعة حالة كل مهمة أسندها المراجع حتى إتمامها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بطاقات المهام: «مهمة #1» بحالة «جديدة» زرقاء، الأولوية عاجلة، عدد الملفات 1، موعد التنفيذ 2/7/2026، وتاريخ الإسناد 08/07/2026 - 19:06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«+ إسناد مهمة» أخضر أسفل الشاشة لإنشاء تكليف جديد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شارات الحالة: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جديدة — قيد التنفيذ — منتهية (تتغير مع تقدم المأمور في العمل)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متابعة المهام ← راجع الحالات ← اضغط أي مهمة للتفاصيل أو أنشئ مهمة جديدة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مراجع الحصر (ولمدير الحصر شاشة مراجعة واعتماد موازية)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استعلام ومتابعة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صورة حية لتقدم العمل الميداني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تفاصيل المهمة: ملفاتها وخط سيرها وحالة كل عنصر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المرآة المقابلة لشاشة «المهام الواردة» عند المأمور — نفس البيانات من منظور المتابعة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لا مهمة تضيع: كل تكليف له رقم وحالة وتاريخ ومسؤول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سادسًا: مأمور الحصر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التنفيذ الميداني: الحصر على الطبيعة والطلبات والمهام — 12 شاشة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23) اللوحة الرئيسية لمأمور الحصر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مركز أدوات العمل الميداني اليومي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ترويسة «محمد حلمي — مأمور الحصر — مغاغة/المنيا» وثماني بطاقات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آخر الأخبار — البحث المركزي — بحث داخل المأمورية — أعمال الحصر — الخريطة التفاعلية — التقارير — المراسلات — الملف الشخصي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أبرز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«أعمال الحصر» التركوازية (قلب العمل الميداني) وبحثان منفصلان: مركزي وداخلي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البطاقة المطلوبة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شاشات التنفيذ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أعمال الحصر تفتح 4 وظائف ميدانية — البحث المركزي يستعلم على مستوى الجمهورية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منفّذ المهام المسندة من المراجع ومصدر بيانات الحصر التي يعتمدها المدير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كل أدوات الميدان في جيب المأمور على هاتفه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24) آخر الأخبار (عرض لدى المأمور)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اطلاع المأمور على التعليمات والأخبار الرسمية فور نشرها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الأخبار نفسها المنشورة من مدير الحاسب الآلي لكن بوضع القراءة فقط (بدون أزرار تعديل/حذف)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الأخبار الظاهرة: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انتهاء موعد الاقرارات 31/3/2026 — دعوة فرح (مأمورية) — حزمة التسهيلات الجديدة — تكريم الموظف المثالي: مأمور الحصر محمد حلمي — شكر وتقدير للممول الملتزم يونس محمد جمال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بطاقات نظيفة بطابع زمني لكل خبر ووسم النطاق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آخر الأخبار ← مرّر واقرأ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قراءة فقط لجميع الأدوار غير المحررة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لا توجد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اطلاع موثق بطوابع زمنية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الخبر لقراءة نصه كاملًا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نفس مصدر البيانات لشاشة النشر — عرض بحسب الصلاحية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وصول موحد وفوري للتعليمات يقطع الطريق على الشائعات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25) البحث المركزي (على مستوى الجمهورية)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الاستعلام عن أي ممول في الجمهورية برقم تسجيله الضريبي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شاشة بحث بسيطة بحقل «رقم التسجيل الضريبي» وزر بحث، مع شريط تنبيه أخضر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التنبيه المهم: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«البحث على مستوى الجمهورية. لا يظهر الموقع الجغرافي ولا خط السير ولا يُسمح بالتعديل»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زر «بحث» الأخضر بأيقونة عدسة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أدخل الرقم الضريبي (مثال 123456789) ← اضغط بحث ← اطلع على البيانات الأساسية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 وما فوق — بصلاحية قراءة مقيدة خارج المأمورية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رقم التسجيل الضريبي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البيانات الأساسية للممول أيًا كانت مأموريته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عرض نتيجة البحث للاطلاع فقط دون موقع أو تعديل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يستفيد من مركزية قاعدة البيانات الموحدة لكل المأموريات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كشف الازدواج والتحقق من التسجيل السابق مع حماية خصوصية بيانات المأموريات الأخرى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26) الممولون — بحث داخل المأمورية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استعراض وفلترة كل ممولي المأمورية بحالاتهم التفصيلية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تبويبات علوية: الكل — المرفوعة — الحصر — طلبات، وشريط بحث، وبطاقات ممولين غنية بالشارات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شارات البطاقة: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غير مسجل / مسجل بالتطبيق — طلب فتح / مرفوع — رقم التسجيل — النشاط — الإحداثيات أو «لم يُسجّل موقع»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أمثلة: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يونس محمد جمال (غير مسجل — طلب فتح — 111222332 — مصنع ملابس — بإحداثيات) — مصطفى فتحي (مسجل بالتطبيق — مرفوع — مقهى) — طارق علي شاكر (تجارة أخشاب)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البحث: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برقم التسجيل / الاسم / الرقم القومي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التبويب ← ابحث ← اضغط بطاقة الممول لفتح ملفه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 داخل مأموريته بصلاحيات كاملة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كلمات بحث وفلاتر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قوائم مصنفة بحالة كل ممول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ملف الممول الكامل (شاشة 32)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قاعدة الانطلاق لأعمال الحصر والتحديث الميداني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رؤية فورية لمن سُجّل ومن ينتظر ومن بلا موقع — فتُوجَّه الجهود بدقة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27) أعمال شعبة الحصر — القائمة الرئيسية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بوابة الوظائف الميدانية الأربع لمأمور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أربع بطاقات صفّية ملونة بوصف دقيق لكل وظيفة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ملف حصر على الطبيعة (معاينة ميدانية + موقع جغرافي + صور ومرفقات) — الطلبات (طلبات الممولين الواردة: إضافة فرع، تغيير عنوان، بطاقة...) — المهام الواردة (المهام المرسلة من مراجع الحصر مع خطوط السير) — أعمال الحصر الأخرى (إضافة نشاط فرعي / مخزن / فرع / تغيير عنوان)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زائد أخضر — حافظة بنفسجية — تفرع برتقالي — طبقات زرقاء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الوظيفة المطلوبة حسب طبيعة العمل اليومي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الوظيفة الميدانية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كل بطاقة تفتح شاشتها التفصيلية (الشاشات 28-31)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تلخص دورة عمل المأمور كاملة في أربع مهام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تنظيم واضح يفصل الحصر الجديد عن الطلبات عن المهام عن التعديلات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28) حصر ميداني — تسجيل نشاط (المرحلة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0429" y="1152143"/>
            <a:ext cx="1768181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437" y="1216151"/>
            <a:ext cx="1640165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توثيق نشاط اقتصادي جديد من الميدان مباشرة بموقعه الحقيقي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نموذج المرحلة الأولى «بيانات النشاط (الرقم الضريبي يُضاف لاحقًا)» ببطاقة موقع خضراء وحقول البيانات والصور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بطاقة الموقع: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«الموقع الجغرافي: لم يُسجّل بعد» + زر «التقاط الموقع» يلتقط إحداثيات GPS لحظيًا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اسم النشاط/صاحب النشاط (إلزامي) — الرقم القومي — النشاط — العنوان — بداية النشاط — ملخص المعاينة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الصور: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زرا «كاميرا» و«من المعرض» لإرفاق صور النشاط (لا توجد صور بعد)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«حفظ النشاط» الأخضر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قف أمام النشاط ← التقط الموقع ← أدخل البيانات ← صوّر ← احفظ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مأمور الحصر ميدانيًا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إحداثيات GPS + بيانات النشاط + صور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ملف حصر جديد بحالة أولية ونقطة على الخريطة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يُحفظ الملف ويظهر في الممولين والخريطة، وينتظر المرحلة 2 (الرقم الضريبي) والاعتماد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المصدر الأول لبيانات GeoTax الميدانية — منه تتغذى الخريطة والتقارير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حصر موثق بالدليل: موقع وصور وتوقيت — يستحيل تسجيله من المكتب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28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29) الطلبات الواردة لمأمور الحصر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استقبال طلبات الممولين الموجهة لشعبة الحصر ومتابعة حالتها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بطاقات طلبات بشارة حالة ملونة واسم مقدم الطلب وتاريخه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الأمثلة: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«تغيير عنوان» بحالة جديد (يونس محمد جمال — 111222332 — 18:45) — «فتح ملف ضريبي» بحالة منتهي (18:39)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شارات الحالة: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جديد (أزرق) — تحت المراجعة — مطلوب استيفاء — معتمد — مرفوض — منتهي (رمادي)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الطلبات ← اضغط الطلب ← انتقل لشاشة المعالجة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 لطلبات إدارته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اختيار الطلب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شاشة معالجة الطلب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تظهر بيانات الطلب كاملة مع أدوات تغيير الحالة والرد (شاشة 40-41)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الوجه المقابل لشاشة طلبات الممول — نفس الطلب يُرى من الجانبين بحالته اللحظية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زمن استجابة قياسي للممول وأرشفة تلقائية لكل الطلبات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29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30) المهام الواردة من مراجع الحصر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تسلّم المأمور للمهام المسندة إليه مع كامل تفاصيلها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بطاقة «مهمة #1» بشارة «جديدة» وشارة أولوية «عاجلة» حمراء وعدد الملفات وموعد التنفيذ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محتوى البطاقة: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مهمة #1 — عاجلة — 1 ملف — موعد التنفيذ 2/7/2026 — أُسندت 08/07/2026 - 19:06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شارة زرقاء للحالة وشارة حمراء للأولوية وأيقونة تقويم للموعد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المهام الواردة ← اضغط المهمة ← اطلع على الملفات وخط السير ← نفّذ ميدانيًا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 — يرى مهامه هو فقط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استلام وتنفيذ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تحديث حالة المهمة مع التقدم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عرض ملفات المهمة ومواقعها وخط السير المقترح على الخريطة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الطرف المنفذ لما أسنده المراجع في الشاشة 21 — نفس المهمة برقمها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وضوح كامل: ماذا أعمل اليوم؟ أين؟ وبأي أولوية وموعد؟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31) أعمال الحصر الأخرى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تنفيذ التعديلات الميدانية على ملفات قائمة دون فتح ملف جديد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حقل بحث برقم التسجيل الضريبي + شبكة «اختر نوع العمل» بأربع عمليات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أنواع العمل: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إضافة نشاط فرعي — إضافة مخزن — إضافة فرع — تغيير عنوان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زر بحث أخضر بأيقونة عدسة — أربع بطاقات عمليات (تتفعل بعد تحديد الممول)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ابحث عن الممول بالرقم ← اختر نوع العمل ← أكمل بيانات العملية ← احفظ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رقم التسجيل + بيانات الإضافة/التعديل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تحديث موثق بملف الممول (فرع/مخزن/نشاط فرعي/عنوان جديد)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تُسجل العملية بملف الممول وتظهر على الخريطة بلون فئتها (فرع بنفسجي، مخزن تركواز)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مصدر بيانات فلاتر الفروع والمخازن في الخريطة والتقارير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الملف الضريبي يتوسع مع الواقع: كل فرع أو مخزن جديد يُلتقط فور رصده ميدانيًا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31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32) ملف الممول — التفاصيل وخط السير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عرض الملف الكامل للممول مع أدوات الوصول الميداني والتحديث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بطاقات بيانات متتابعة: العنوان (ش السمسطاوي مغاغه المنيا) — الهاتف 01066878900 — بداية النشاط 1/1/2023 — ملخص المعاينة («اريد فتح نشاط مصنع ملابس جاهزه») — الموقع بإحداثياته — تاريخ التسجيل 08/07/2026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«خط السير إلى موقع النشاط» الأزرق — «تحديث الموقع» داخل بطاقة الموقع الجغرافي الخضراء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دبوس للعنوان، سماعة للهاتف، تقويم للبداية، مستند للملخص، سهم ملاحة للموقع، ساعة للتسجيل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الملف من قائمة الممولين ← راجع البيانات ← اضغط خط السير للتوجه أو حدّث الموقع من عين المكان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 داخل مأموريته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أوامر ملاحة أو تحديث إحداثيات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ملاحة فعلية للموقع أو إحداثيات محدثة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«خط السير» يفتح تطبيق الخرائط بمسار فعلي للنشاط (الشاشة التالية)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نقطة الالتقاء بين بيانات الحصر والاستخدام الميداني اليومي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الوصول لأي نشاط بضغطة واحدة — نهاية عصر «العنوان غير واضح»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33) خط السير — الملاحة إلى موقع النشاط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توجيه المأمور ملاحيًا حتى باب النشاط باستخدام خرائط Google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خريطة ملاحة ليلية عليها دبوس الوجهة (مدينة مغاغة، مركز مغاغة، محافظة المنيا) مع إحداثيات دقيقة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إعادة التشغيل (بدء الملاحة) — المشي — حفظ موقف السيارة — إغلاق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دبوس أحمر للوجهة ودائرة زرقاء لموقع المأمور الحالي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من ملف الممول اضغط خط السير ← يفتح Google Maps بالوجهة ← ابدأ الملاحة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متاح لكل من يملك عرض الملف داخل المأمورية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لا شيء — الإحداثيات تنتقل تلقائيًا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مسار ملاحي فعلي بالزمن والمسافة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توجيه صوتي ومرئي حتى الوصول للنشاط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ثمرة التقاط الموقع في الحصر الميداني: الإحداثية المخزنة تتحول لمسار حقيقي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توفير وقت الانتقالات ورفع عدد المعاينات اليومية لكل مأمور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33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34) التقارير (لدى مأمور الحصر)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مأمور الحصر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تمكين المأمور من استخراج تقارير أعماله ونطاق عمله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نفس مركز التقارير الموحد: 11 نوع تقرير + مدى زمني + تصدير Excel/PDF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أنواع التقارير: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الممولين — الحصر على الطبيعة — الحصر المكتبي — المعاينات — التوقف الجزئي/النهائي — المهام — الطلبات — الشكاوى — الفروع — المخازن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تصدير Excel (أخضر) — تصدير PDF (أحمر)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النوع ← حدد الفترة أو اتركها فارغة للكل ← صدّر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 في نطاق بياناته ومأموريته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نوع التقرير والمدى الزمني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ملفات رسمية جاهزة للتسليم والفحص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توليد فوري من البيانات الحية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نفس محرك تقارير الأدوار العليا — بنطاق صلاحية المأمور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المأمور يوثق إنتاجه بنفسه: تقرير حصر اليوم في نهاية الدوام بضغطة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سابعًا: بوابة الممول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الخدمة الذاتية: التسجيل والطلبات والمتابعة — 13 شاشة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35) طلب فتح ملف جديد — بوابة الممول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تمكين المواطن من طلب فتح ملف ضريبي ذاتيًا دون زيارة المأمورية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ثلاثة تبويبات: دخول — ممول مسجّل — ملف جديد (نشط)، ونموذج تسجيل مبسط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المأمورية المختصة — الاسم بالكامل — الرقم القومي — رقم الهاتف — كلمة المرور (6 أحرف على الأقل)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«إرسال الطلب» الأخضر العريض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رسالة 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«طلبك سيُعرض على مأمور الحصر في المأمورية المختارة»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تبويب ملف جديد ← حدد المأمورية ← أدخل بياناتك ← أرسل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متاح لأي مواطن — إنشاء حساب ممول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بيانات الهوية والتواصل وكلمة مرور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حساب ممول + طلب فتح ملف يصل للمأمورية المختصة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يُنشأ الحساب ويظهر الطلب فورًا في شاشة طلبات مأمور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بداية رحلة الممول الرقمية وأول مصدر «request» في إدارة الملفات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توسيع القاعدة الضريبية بتسهيل التسجيل الطوعي إلى أقصى حد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36) اللوحة الرئيسية للممول (قبل فتح الملف)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لوحة خدمات الممول الجديد قبل اكتمال ملفه الضريبي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ترحيب «مرحبًا عمر جمال عبدالعزيز» مع تنبيه أحمر «لا يوجد ملف ضريبي بعد — اطلب فتح ملف» وست بطاقات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آخر الأخبار — ملفي (معطلة بلون باهت) — الطلبات — المراسلات — الإشعارات — طلب فتح ملف ضريبي (حمراء بارزة)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زر خروج أحمر أعلى الشاشة — جرس برتقالي للإشعارات — زائد أحمر لطلب الفتح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سجّل الدخول ← لاحظ التنبيه ← اضغط طلب فتح ملف ضريبي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الممول صاحب الحساب فقط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خدمات الممول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«طلب فتح ملف ضريبي» يفتح نموذج الطلب التفصيلي (الشاشة التالية)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بطاقة «ملفي» ستتفعل تلقائيًا بعد اعتماد المأمورية ودمج الملف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وضوح تام لحالة الممول وخطوته التالية — لا حيرة ولا طوابير استعلام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37) طلب جديد — أنواع الطلبات ونموذج فتح الملف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9248" y="1152143"/>
            <a:ext cx="1710542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256" y="1216151"/>
            <a:ext cx="1582526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تقديم أي طلب ضريبي إلكترونيًا بنموذج موحد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شبكة «نوع الطلب» بأحد عشر نوعًا ونموذج تفصيلي بموقع جغرافي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أنواع الطلبات (11):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إضافة نشاط فرعي — إضافة فرع — إضافة مخزن — تغيير عنوان — طباعة بطاقة ضريبية — تجديد بطاقة ضريبية — بدل فاقد بطاقة — طباعة مركز ضريبي — وثيقة بيانات — مقابلة مأمور الحصر — فتح ملف ضريبي (محدد)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تفاصيل الطلب («اتقدم بطلب بفتح ملف ضريبي») — اسم النشاط/صاحبه (عمر جمال عبدالعزيز) — النشاط (تعبئه وتغليف) — العنوان (قرية حميدة الجندي مغاغه المنيا) — بداية النشاط 1/1/2023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الموقع الجغرافي: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بطاقة خضراء بالإحداثيات 28.647960, 30.847468 ودقة ±64م وزر «تحديث الموقع»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«إرسال الطلب» الأخضر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اختر النوع ← املأ التفاصيل ← حدّث موقعك من مكان النشاط ← أرسل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الممول المسجل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نوع الطلب + بياناته + إحداثيات GPS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طلب موثق بالموقع يصل للإدارة المختصة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رسالة نجاح ويظهر الطلب بحالة «جديد» لدى الممول والمأمور معًا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يغذي شاشات الطلبات والمعالجة والخريطة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11 خدمة ضريبية بلا زيارة واحدة — والموقع المرفق يمنع أخطاء العناوين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37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38) تأكيد إرسال الطلب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طمأنة الممول بوصول طلبه وتوجيهه لقناة المتابعة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شاشة الطلبات بتبويبي «الحصر» و«الفحص» وفوقها نافذة تأكيد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نص الرسالة: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«تم — تم إرسال طلبك. ستصلك المعالجة في شاشة الطلبات.» مع زر OK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محتوى الخلفية: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بطاقة «فتح ملف ضريبي» بحالة «جديد» بتاريخ 10/07/2026 - 20:40 وزر «+ طلب جديد»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بعد الإرسال اضغط OK ← تابع حالة الطلب من نفس الشاشة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الممول صاحب الطلب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تأكيد فقط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طلب مسجل بحالة «جديد»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OK يغلق الرسالة وتبقى بطاقة الطلب لحظية التحديث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لحظة التزامن: نفس البطاقة ظهرت الآن عند مأمور الحصر للمعالجة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شفافية منذ الثانية الأولى: الممول يعرف أين طلبه دائمًا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39) قائمة الطلبات ومتابعة الحالات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متابعة جميع الطلبات وحالاتها من شاشة واحدة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بطاقات بشارات حالة ملونة واسم صاحب الطلب وتاريخه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الأمثلة: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ملف ضريبي (جديد) — عمر جمال عبدالعزيز 20:40 | تغيير عنوان (جديد) — يونس محمد جمال 111222332 | فتح ملف ضريبي (منتهي) — يونس محمد جمال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شارات الحالة: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جديد أزرق — تحت المراجعة برتقالي — منتهي رمادي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الطلبات ← راجع الشارات ← اضغط أي طلب للتفاصيل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كل طرف يرى طلباته: الممول طلباته والمأمور طلبات إدارته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استعلام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حالة لحظية لكل طلب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تفاصيل الطلب أو شاشة معالجته حسب الصلاحية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سجل حي يجمع دورة حياة كل طلب من الإنشاء للإنهاء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صفر مكالمات استعلام: الحالة أمام الجميع بتحديث لحظي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39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40) معالجة الطلب (شاشة المأمور) — البيانات والقرار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 ← معالجة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75609" y="1152143"/>
            <a:ext cx="1397821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617" y="1216151"/>
            <a:ext cx="1269805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تمكين مأمور الحصر من دراسة الطلب واتخاذ القرار والرد رسميًا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عرض كامل لبيانات الطلب: الاسم، الرقم القومي 29508172402156، الهاتف، النشاط تعبئه وتغليف، العنوان، بداية النشاط، الموقع، التفاصيل، التاريخ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أزرار الحالة (6):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جديد — تحت المراجعة — مطلوب استيفاء — معتمد — مرفوض — مغلق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موعد المعاينة/الزيارة/الحضور (مثال: 2026/06/10 الساعة 10ص) — «الرد على الممول» نص حر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أزرار الإجراء: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«خط السير للموقع» الأزرق — «فتح ملف ودمجه بالممولين» الأخضر — «حفظ وإرسال للممول»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افتح الطلب ← راجع البيانات ← غيّر الحالة ← حدد موعد المعاينة واكتب الرد ← احفظ وأرسل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مأمور الحصر المختص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الحالة + الموعد + نص الرد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قرار موثق يصل للممول فورًا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«فتح ملف ودمجه» ينشئ الملف الضريبي مباشرة من بيانات الطلب — «خط السير» يقود للموقع للمعاينة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مركز القرار في دورة الطلبات ونقطة تحول الطلب إلى ملف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معالجة كاملة من الهاتف: قرار وموعد ورد وربما ملف جديد في جلسة واحدة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41) معالجة الطلب — تحديد الموعد والرد الرسمي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 ← معالجة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استكمال المعالجة: حالة «تحت المراجعة» مع موعد ورد فعليين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الحالة مضبوطة على «تحت المراجعة» (برتقالي)، الموعد «اليوم الساعه 12 ظهرا»، والرد نص رسمي كامل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نص الرد الفعلي: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«برجاء التواجد بالمكان بالوقت المحدد مع ضرورة وجود اصل عقد الإيجار والبطاقة الشخصية»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خط السير للموقع — فتح ملف ودمجه بالممولين — حفظ وإرسال للممول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اضبط الحالة ← اكتب الموعد والمستندات المطلوبة ← اضغط حفظ وإرسال للممول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 المختص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موعد المعاينة ومتطلبات الحضور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إخطار رسمي موثق يصل للممول بالتطبيق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تتحدث حالة الطلب عند الطرفين ويصل الرد للممول كإشعار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يوثق الاشتراطات (عقد الإيجار، البطاقة) داخل النظام بدل التفاهمات الشفهية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موعد محدد ومستندات محددة = معاينة ناجحة من أول زيارة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41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42) الطلبات بعد المعالجة — تحديث الحالة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إظهار أثر المعالجة فورًا في قائمة الطلبات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نفس القائمة وقد تحولت شارة طلب عمر جمال من «جديد» إلى «تحت المراجعة» البرتقالية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الحالات الظاهرة: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ملف ضريبي — تحت المراجعة (عمر) | تغيير عنوان — جديد (يونس) | فتح ملف ضريبي — منتهي (يونس)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القائمة ← لاحظ تحديث الشارة لحظيًا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الممول والمأمور كلٌّ من واجهته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استعلام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حالة محدثة أمام الطرفين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الطلب لقراءة رد المأمورية وموعد المعاينة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الدليل الحي على تزامن الواجهات من قاعدة بيانات واحدة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ثقة الممول في المنظومة: كل خطوة مرئية بلا وسطاء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43) ملف الممول — استكمال التسجيل (المرحلة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 ← معالجة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إدخال الرقم الضريبي لدمج الممول رسميًا في المنظومة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بطاقة صفراء «استكمال التسجيل (المرحلة 2): أدخل الرقم الضريبي لدمج الممول بالنظام» مع الحقل وزر الإنهاء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«إنهاء التسجيل» الأخضر — «خط السير إلى موقع النشاط» — «تحديث الموقع» — «حفظ الموقع» — كاميرا/من المعرض للصور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الرقم الضريبي — الموقع الجغرافي (28.647960, 30.847468) — الصور والمرفقات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بعد المعاينة والتحقق ← أدخل الرقم الضريبي الصادر ← اضغط إنهاء التسجيل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 بعد المعاينة الفعلية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الرقم الضريبي الرسمي + تحديث الموقع والصور إن لزم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ملف مكتمل التسجيل مرتبط بالرقم الضريبي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يُعتمد الرقم ويُدمج الممول (رسالة النجاح في الشاشة التالية) ويُسجل الاعتماد في سجل العمليات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مرحلة 2 المكملة للحصر الميداني (مرحلة 1) — اكتمال دورة فتح الملف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فصل الجمع الميداني عن الاعتماد الرسمي يضمن رقابة مزدوجة على كل ملف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44) إتمام الدمج — رسالة النجاح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 ← معالجة المأمورية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تأكيد اكتمال دمج الممول رسميًا بالمنظومة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نافذة «تم — تم استكمال التسجيل ودمج الممول بالنظام.» فوق ملف الممول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محتوى الخلفية: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تاريخ التسجيل 10/07/2026 - 20:44 — خط السير — الموقع الجغرافي — قسم «التعديلات والإضافات (0)» بزر «+ إضافة» — زر «حذف الملف» الأحمر (للصلاحيات الأعلى)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OK للإغلاق — إضافة تعديلات — حذف الملف (مقيد)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OK ← الملف الآن مكتمل ونشط بالمنظومة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الحصر؛ الحذف لرئيس المأمورية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تأكيد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ممول نشط بملف كامل يظهر في كل الوحدات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تتفعل بطاقة «ملفي» عند الممول ويظهر على الخريطة وفي التقارير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لحظة اكتمال أول دورة عمل كاملة: من طلب المواطن إلى ملف معتمد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دورة فتح ملف كاملة أُنجزت رقميًا في يوم واحد بدل أسابيع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45) آخر الأخبار (لدى الممول)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إيصال الأخبار والمواعيد الرسمية للممولين مباشرة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قائمة قراءة فقط بنفس أخبار المأمورية المصرح بها للجمهور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الأخبار: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انتهاء موعد الاقرارات 31/3/2026 — حزمة التسهيلات الجديدة — تكريم الموظف المثالي — شكر وتقدير للسيد يونس محمد جمال على التزامه الضريبي وسداده جميع مستحقاته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آخر الأخبار من لوحتك ← اقرأ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الممول — قراءة فقط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لا توجد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وعي ضريبي والتزام بالمواعيد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نص الخبر كاملًا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نفس منصة أخبار الموظفين بواجهة الممول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خبر «شكر وتقدير» علنًا للملتزمين = تحفيز إيجابي على السداد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46) ملفي — الملف الضريبي الكامل للممول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اطلاع الممول على ملفه الضريبي الرسمي كاملًا في أي وقت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قسم «البيانات الأساسية» ببطاقة شاملة يليه أقسام الفروع والأنشطة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البيانات الأساسية: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رقم التسجيل الضريبي 111222334 — الاسم طارق علي شاكر غنيم — الرقم القومي 28501062338012 — النشاط الرئيسي تجارة أخشاب — بداية النشاط 2023-05-08 — العنوان شارع الرئيسي بني مزار المنيا — المأمورية المختصة بني مزار (102) — حالة النشاط: نشط (شارة خضراء)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الأقسام: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الأنشطة الفرعية (0) — الفروع (0) — المخازن (0) — سجل التعديلات (0)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افتح «ملفي» من اللوحة ← راجع بياناتك وأقسامك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الممول قراءة فقط — التعديل عبر الطلبات حصريًا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لا توجد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نسخة حية من الملف الرسمي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استعراض تفاصيل كل قسم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نفس الملف الذي يديره الموظفون — رؤية موحدة للحقيقة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شفافية كاملة: الممول يعرف بالضبط ما تعرفه المصلحة عنه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47) طلب جديد لممول مسجَّل (توقف/محاسبة/مقابلة)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بوابة الممول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خدمات ما بعد التسجيل للممول النشط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نموذج طلب مبسط بأنواع تخص الملفات القائمة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أنواع الطلب: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توقف جزئي (محدد) — توقف نهائي — طلب محاسبة — مقابلة مأمور 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تفاصيل الطلب («اكتب تفاصيل طلبك»)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«إرسال الطلب» الأخضر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النوع ← اكتب التفاصيل ← أرسل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الممول المسجل بملف نشط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نوع الطلب وتفاصيله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طلب يوجه تلقائيًا للشعبة المختصة (الفحص هنا)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يظهر في تبويب «الفحص» لدى الممول وفي طلبات شعبة الفحص للمعالجة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يغذي أعمال الفحص: إخطارات التوقف الجزئي والنهائي وعلاماتها على الخريطة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حتى إنهاء النشاط أصبح خدمة رقمية موثقة تحفظ حقوق الطرفين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47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ثامنًا: منظومة الشكاوى العامة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قناة الجمهور للإبلاغ عن التهرب الضريبي — بدون تسجيل دخول — 5 شاشات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48) تقديم شكوى — النموذج العام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الشكاوى العامة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تمكين أي مواطن من الإبلاغ عن الأنشطة المتهربة ضريبيًا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نموذج من ثلاثة أقسام يفتح من الشاشة الرئيسية دون أي تسجيل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الأقسام والحقول: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المأمورية المختصة* (قائمة) — بيانات مقدم الشكوى: الاسم، الرقم القومي، رقم الهاتف — بيانات الشكوى: اسم المشكو في حقه، النشاط، العنوان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«إرسال الشكوى» بلون وردي مميز عن باقي النظام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المأمورية ← أدخل بياناتك ← أدخل بيانات المشكو في حقه ← أكمل وأرسل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عامة تمامًا — بدون حساب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بيانات المبلغ والمبلغ عنه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شكوى مسجلة لدى المأمورية المختصة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الانتقال لاستكمال التفاصيل والموقع والصور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رافد رقابي شعبي يغذي أعمال الحصر والفحص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تحويل المجتمع إلى شريك في مكافحة التهرب بأقل جهد إبلاغ ممكن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48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49) تقديم شكوى — التفاصيل والموقع والصور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الشكاوى العامة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توثيق الشكوى بأدلة جغرافية ومصورة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استكمال النموذج: النشاط «بقالة»، العنوان «الزورة مغاغه المنيا»، وتفاصيل الشكوى النصية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نص الشكوى الفعلي: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«لنشاط متهرب ضريبيا ويضيع حقوق الخزانه العامه للدولة»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الموقع الجغرافي: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بطاقة خضراء: 28.647914, 30.847472 بدقة ±43م + زر تحديث الموقع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الصور: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زرا كاميرا/من المعرض مع صورة مرفقة فعلًا ومصغرة قابلة للحذف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زر الإرسال الوردي (يظهر مؤشر تحميل أثناء الرفع)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اكتب التفاصيل ← التقط الموقع من مكان النشاط ← أرفق الصور ← أرسل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عامة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تفاصيل + GPS + صور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شكوى مدعومة بالأدلة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رفع المرفقات وتسجيل الشكوى بطابع زمني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الموقع المرفق يظهر لاحقًا على خريطة شاشة معالجة الشكوى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شكوى بإحداثيات وصورة تساوي مهمة معاينة شبه جاهزة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49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50) الشكوى مكتملة قبل الإرسال (عرض شامل)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الشكاوى العامة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52913" y="1152143"/>
            <a:ext cx="1443213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921" y="1216151"/>
            <a:ext cx="1315197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مراجعة المواطن النهائية لكل عناصر شكواه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النموذج الكامل: مغاغة/المنيا — مقدم الشكوى حسن خالد محمد (رقم قومي 29508172402157 وهاتف 01066878903) — المشكو في حقه نوح محمد جمال — بقالة — الزورة — التفاصيل — الموقع — الصورة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إرسال الشكوى (مع مؤشر تحميل عند الضغط)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راجع البيانات كاملة ← اضغط إرسال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عامة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تأكيد الإرسال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شكوى كاملة الأركان في قائمة شكاوى المأمورية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رسالة استلام رسمية (الشاشة التالية)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تصل فورًا لشاشة الشكاوى لدى رئيس المأمورية والإدارة العليا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نموذج بلاغ رسمي موحد بديل عن الشكاوى الورقية والهاتفية المبعثرة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51) تأكيد استلام الشكوى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الشكاوى العامة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إشعار المواطن رسميًا بتسجيل شكواه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نافذة تأكيد فوق النموذج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نص الرسالة: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«تم استلام الشكوى — شكرًا لك. تم تسجيل شكواك وسيتم مراجعتها.» مع زر «حسنًا»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حسنًا لإنهاء العملية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عامة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تأكيد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بلاغ مقيد رسميًا بطابع زمني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تغلق الرسالة وتكون الشكوى قد دخلت دورة المعالجة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بداية دورة معالجة الشكوى لدى المأمورية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احترام المبلّغ وتشجيعه على التعاون مستقبلًا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51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52) معالجة الشكوى (شاشة الموظف) — القرار والتحويل لملف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الشكاوى العامة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0528" y="1152143"/>
            <a:ext cx="1327983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536" y="1216151"/>
            <a:ext cx="1199967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دراسة الشكوى واتخاذ إجراء رسمي حتى تحويلها لملف ضريبي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عرض كامل: المشكو في حقه (نوح محمد جمال — بقالة — الزورة — الموقع — التفاصيل) ومقدم الشكوى (حسن خالد محمد وبياناته) والتاريخ 10/07/2026 - 21:02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أزرار الحالة: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جديد (أزرق) — قيد المراجعة — محوّل — منتهي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الأدلة: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الصور المرفقة (1) مصغرة قابلة للتكبير — «الموقع على الخريطة» بخريطة Leaflet ودبوس وردي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أزرار الإجراء: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«خط السير للموقع» الأزرق — «فتح ملف ضريبي من الشكوى» الأخضر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افتح الشكوى ← راجع الأدلة والموقع ← انتقل للمكان بخط السير ← غيّر الحالة أو افتح ملفًا مباشرة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رئيس المأمورية والأدوار المخولة بالشكاوى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قرار الحالة أو أمر فتح ملف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شكوى معالجة أو ملف ضريبي جديد من بيانات الشكوى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«فتح ملف ضريبي من الشكوى» ينقل البيانات والموقع تلقائيًا لملف حصر جديد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اكتمال الدائرة: بلاغ المواطن يتحول لممول مسجل يظهر على الخريطة</a:t>
            </a:r>
          </a:p>
          <a:p>
            <a:pPr algn="r" rtl="1">
              <a:spcAft>
                <a:spcPts val="300"/>
              </a:spcAft>
            </a:pPr>
            <a:r>
              <a:rPr sz="105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050" b="0" lang="ar-EG">
                <a:solidFill>
                  <a:srgbClr val="444F5A"/>
                </a:solidFill>
                <a:latin typeface="Arial"/>
                <a:cs typeface="Arial"/>
              </a:rPr>
              <a:t>كل شكوى جادة = فرصة ضم ممول جديد للقاعدة الضريبية بضغطة واحدة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52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تاسعًا: شعبة الفحص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مدير الفحص ومراجعه ومأموره: المعاينات وإخطارات التوقف — 4 شاشات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53) اللوحة الرئيسية لمدير الفحص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شعبة الفحص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مركز قيادة شعبة الفحص بالمأمورية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ترويسة «نصر السعدي — مدير الفحص — مغاغة» وثماني بطاقات موازية للوحة مدير الحصر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آخر الأخبار — توزيع مهام الفحص — المراجعة والاعتماد — الخريطة التفاعلية — التقارير — مأمورو الفحص — المراسلات — الملف الشخصي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البطاقة المطلوبة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مدير 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شاشات إدارة 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توزيع المهام لإسناد أعمال الفحص — المراجعة والاعتماد لاعتماد نتائج المأمورين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يستقبل طلبات الممولين الموجهة للفحص (توقف/محاسبة/مقابلة) ويدير معايناتها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نفس نموذج الحوكمة المجرب في الحصر مطبق على الفحص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54) اللوحة الرئيسية لمراجع الفحص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شعبة الفحص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التخطيط والإسناد والمتابعة لأعمال 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ترويسة «شريف عثمان — مراجع الفحص — مغاغة» وثماني بطاقات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آخر الأخبار — خطة الفحص — إسناد المهام — متابعة المهام — الخريطة التفاعلية — التقارير — المراسلات — الملف الشخصي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البطاقة المطلوبة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مراجع 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شاشات التخطيط والإسناد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خطة الفحص بمستوياتها — إسناد المهام لمأموري الفحص بخطوط سير — متابعة الحالة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يوازي دور مراجع الحصر بنفس الأدوات لصالح 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تخطيط فحص منظم بمستهدفات ومتابعة رقمية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54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55) أعمال الفحص — الوظائف الستة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شعبة الفحص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بوابة الأعمال الميدانية والإجرائية لمأمور 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ست بطاقات صفّية ملونة بوصف وظيفي دقيق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المعاينات (تنفيذ معاينة ميدانية + موقع فحص مستقل) — طلب حضور (إخطار الممول بالحضور للمأمورية) — تحديد موعد معاينة (موعد مسبق وإخطار الممول) — إخطار توقف جزئي (تحديث الحالة + علامة صفراء على الخريطة) — إخطار توقف نهائي (تحديث الحالة + علامة حمراء على الخريطة) — المهام الواردة (مهام مرسلة من مراجع الفحص + خطوط السير)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الأيقونات: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حافظة خضراء — شخص أزرق — تقويم بنفسجي — إيقاف مؤقت برتقالي — إيقاف نهائي أحمر — تفرع تركوازي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اختر الإجراء المطلوب حسب حالة الممول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تنفيذ إجراء الفحص المختار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إخطارات التوقف تحدّث حالة الممول وتलون علامته على الخريطة (أصفر جزئي/أحمر نهائي)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مصدر حالات التوقف التي رأيناها فلاتر بالخريطة وأنواعًا بالتقارير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إجراءات الفحص الرسمية كلها موثقة رقميًا ومرئية جغرافيًا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56) اللوحة الرئيسية لمأمور الفحص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شعبة الفحص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مركز أدوات مأمور الفحص الميداني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ترويسة «مصطفي شعبان — مأمور الفحص — مغاغة/المنيا» وست بطاقات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آخر الأخبار — أعمال الفحص — الخريطة التفاعلية — التقارير — المراسلات — الملف الشخصي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البطاقة — وأهمها «أعمال الفحص» بوظائفها الست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 الفحص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فتح شاشات التنفيذ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أعمال الفحص تفتح الشاشة السابقة بوظائفها الست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الطرف المنفذ لمهام مراجع الفحص ولطلبات الممولين (مقابلة/توقف/محاسبة)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لوحة مركزة بلا تشتيت لدور ميداني متخصص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56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عاشرًا: الإدارة العليا (المستوى المركزي)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إدارة المأموريات والمستخدمين والرقابة على مستوى الجمهورية — 3 شاشات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57) اللوحة الرئيسية للإدارة العليا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الإدارة العليا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مركز القيادة المركزي للمنظومة على مستوى الجمهورية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ترويسة «الإدارة العليا» وتسع بطاقات شاملة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آخر الأخبار — المأموريات — المستخدمون — الخريطة التفاعلية — التقارير — سجل العمليات — الملف الشخصي — المراسلات — الشكاوى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أبرز البطاقات: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«المأموريات» الزرقاء لإدارة الكيانات نفسها، و«المستخدمون» عبر كل المأموريات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البطاقة المطلوبة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الإدارة العليا (مركزي) — أعلى صلاحية بالنظام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تنقّل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إدارة ورقابة مركزية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المأموريات تفتح إدارة الكيانات (الشاشة التالية) — التقارير والسجل والخريطة بنطاق الجمهورية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المستوى الذي يوحّد كل المأموريات في منظومة واحدة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رؤية قومية موحدة لأول مرة: خريطة وتقارير وسجل عمليات على مستوى الجمهورية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57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58) إدارة المأموريات — القائمة القومية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الإدارة العليا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إدارة المأموريات ككيانات: عرض وتعديل وإيقاف وإضافة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بطاقات المأموريات بحالة «نشطة» وكودها ومحافظتها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الأمثلة: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مغاغة (101 — المنيا) — بني مزار (102) — سمالوط (103) — المنيا أول (104) — ملوي (105)... جميعها نشطة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«تعديل» أخضر — «إيقاف» برتقالي على كل بطاقة — «+ إضافة مأمورية» أخضر عائم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تصفح المأموريات ← عدّل أو أوقف أو أضف مأمورية جديدة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الإدارة العليا حصريًا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أوامر إدارة الكيانات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بنية مأموريات محدثة تنعكس في قوائم الدخول فورًا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«إيقاف» يجمد المأمورية بمستخدميها — «إضافة» يفتح نموذج الإنشاء (التالي)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هذه القائمة هي ذاتها قائمة «اختر المأمورية» بشاشة الدخول (الشاشة 3)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التوسع القومي إداريًا بلا أي تدخل تقني: إنشاء مأمورية = ضغطة زر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58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59) إضافة مأمورية جديدة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الإدارة العليا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396" y="1152143"/>
            <a:ext cx="2416246" cy="534009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7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5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04" y="1216151"/>
            <a:ext cx="2288230" cy="5212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11880" y="1024128"/>
            <a:ext cx="8321040" cy="544068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1143000"/>
            <a:ext cx="7955279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الهدف: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إنشاء مأمورية جديدة بالمنظومة في دقائق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الوصف: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نافذة «إضافة مأمورية» فوق قائمة المأموريات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الحقول: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كود المأمورية — اسم المأمورية — المحافظة — المنطقة (اختياري)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الأزرار: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«حفظ» أخضر — «إلغاء»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خطوات الاستخدام: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اضغط إضافة مأمورية ← أدخل الكود والاسم والمحافظة ← احفظ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الصلاحيات: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الإدارة العليا حصريًا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المدخلات: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بيانات الكيان الجديد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المخرجات: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مأمورية نشطة جاهزة لتعيين رئيسها وموظفيها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بعد الضغط: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تظهر فورًا في قائمة الدخول لكل مستخدمي الجمهورية وتبدأ دورة التعيينات (رئيس ← مدير حاسب ← موظفون)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العلاقة بالنظام: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نقطة تكاثر المنظومة: كل التغطية القومية تبدأ من هذا النموذج البسيط</a:t>
            </a:r>
          </a:p>
          <a:p>
            <a:pPr algn="r" rtl="1">
              <a:spcAft>
                <a:spcPts val="400"/>
              </a:spcAft>
            </a:pPr>
            <a:r>
              <a:rPr sz="1100" b="1" lang="ar-EG">
                <a:solidFill>
                  <a:srgbClr val="0E7A5F"/>
                </a:solidFill>
                <a:latin typeface="Arial"/>
                <a:cs typeface="Arial"/>
              </a:rPr>
              <a:t>● الفائدة: </a:t>
            </a:r>
            <a:r>
              <a:rPr sz="1100" b="0" lang="ar-EG">
                <a:solidFill>
                  <a:srgbClr val="444F5A"/>
                </a:solidFill>
                <a:latin typeface="Arial"/>
                <a:cs typeface="Arial"/>
              </a:rPr>
              <a:t>قابلية توسع فورية تجعل تعميم GeoTax قوميًا قرارًا إداريًا لا مشروعًا تقنيًا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74536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900" b="1" lang="ar-EG">
                <a:solidFill>
                  <a:srgbClr val="142F4B"/>
                </a:solidFill>
                <a:latin typeface="Arial"/>
                <a:cs typeface="Arial"/>
              </a:rPr>
              <a:t>59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الخريطة التفاعلية GIS — العمود الفقري للمنظومة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8428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10835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مصادر البيانات: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إحداثيات تُلتقط ميدانيًا من الحصر، ومن طلبات الممولين، ومن شكاوى الجمهور — كلها تصب في خريطة واحدة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الحالات الملونة: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توقف نهائي أحمر — جديد أزرق — قيد الإجراء رمادي — فرع بنفسجي — مخزن تركواز — توقف جزئي أصفر (من إخطارات الفحص)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البحث الجغرافي: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برقم التسجيل أو الاسم أو النشاط أو العنوان مع عداد النقاط المعروضة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خطوط السير: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من أي ملف أو طلب أو شكوى إلى Google Maps بمسار فعلي حتى باب النشاط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القيمة الرقابية: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رؤية الانتشار الفعلي للأنشطة واكتشاف المناطق غير المحصورة وتوجيه الحملات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القيمة التشغيلية: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رفع إنتاجية المأمور الميداني وتقليل زمن الوصول وضمان صحة المعاينة على الطبيعة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المنظومات المساندة: الأخبار — المراسلات — الطلبات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8428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10835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إدارة الأخبار: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نشر مركزي من مدير الحاسب الآلي يصل لكل الموظفين والممولين فورًا: مواعيد الإقرارات، التسهيلات، التكريم والتقدير</a:t>
            </a:r>
          </a:p>
          <a:p>
            <a:pPr algn="r" rtl="1">
              <a:spcAft>
                <a:spcPts val="9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المراسلات الداخلية: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محادثات موثقة بين كل أدوار المأمورية تُغني عن التطبيقات الخارجية وتحفظ التوجيهات الرسمية</a:t>
            </a:r>
          </a:p>
          <a:p>
            <a:pPr algn="r" rtl="1">
              <a:spcAft>
                <a:spcPts val="9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منظومة الطلبات: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11 نوع طلب للتأسيس + 4 أنواع لما بعد التسجيل، بدورة حالة كاملة: جديد ← تحت المراجعة ← مطلوب استيفاء ← معتمد/مرفوض ← منتهي</a:t>
            </a:r>
          </a:p>
          <a:p>
            <a:pPr algn="r" rtl="1">
              <a:spcAft>
                <a:spcPts val="9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التوجيه الذكي: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كل طلب يصل تلقائيًا لإدارته المختصة (حصر أو فحص) وداخل المأمورية المختارة فقط</a:t>
            </a:r>
          </a:p>
          <a:p>
            <a:pPr algn="r" rtl="1">
              <a:spcAft>
                <a:spcPts val="9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الرد الموثق: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موعد معاينة ومتطلبات حضور ورد نصي رسمي يصل للممول بطابع زمني</a:t>
            </a:r>
          </a:p>
          <a:p>
            <a:pPr algn="r" rtl="1">
              <a:spcAft>
                <a:spcPts val="900"/>
              </a:spcAft>
            </a:pPr>
            <a:r>
              <a:rPr sz="1250" b="1" lang="ar-EG">
                <a:solidFill>
                  <a:srgbClr val="0E7A5F"/>
                </a:solidFill>
                <a:latin typeface="Arial"/>
                <a:cs typeface="Arial"/>
              </a:rPr>
              <a:t>◆ التحول لملفات: </a:t>
            </a:r>
            <a:r>
              <a:rPr sz="1250" b="0" lang="ar-EG">
                <a:solidFill>
                  <a:srgbClr val="444F5A"/>
                </a:solidFill>
                <a:latin typeface="Arial"/>
                <a:cs typeface="Arial"/>
              </a:rPr>
              <a:t>الطلب المعتمد يتحول لملف بضغطة «فتح ملف ودمجه بالممولين» — والشكوى الجادة كذلك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التقارير وسجل العمليات — الحوكمة والقرار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8428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10835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11 نوع تقرير: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الممولون، الحصر بنوعيه، المعاينات، التوقف بنوعيه، المهام، الطلبات، الشكاوى، الفروع، المخازن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مرونة زمنية: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أي فترة (من/إلى) أو كل البيانات، بتصدير Excel للتحليل وPDF للاعتماد الرسمي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Audit Log شامل: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كل إجراء (إسناد، حذف، اعتماد رقم، فتح ملف، تحديث طلب) مسجل آليًا بالمنفذ والتوقيت والتفاصيل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بحث في السجل: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بالاسم أو رقم الحاسب أو نوع العملية — استرجاع أي واقعة في ثوانٍ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Dashboard حية: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لوحات الأدوار تعرض لكل مستخدم صورته اللحظية، والخريطة والتقارير تشكلان لوحة القيادة العليا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أثر الحوكمة: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مساءلة عادلة، حماية للموظف الملتزم، وردع مدمج ضد أي عبث بالبيانات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النتائج المتوقعة والمميزات التنافسية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51560"/>
            <a:ext cx="553212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34440"/>
            <a:ext cx="5166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توسيع القاعدة الضريبية: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حصر ميداني موثق + تسجيل ذاتي + شكاوى مجتمعية = ضم غير المسجلين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رفع الإيرادات: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اكتشاف الأنشطة المتهربة وتحصيل حقوق الخزانة العامة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خفض زمن الخدمة: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دورة فتح الملف من أسابيع ورقية إلى يوم واحد رقمي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عدالة ضريبية: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بيانات موحدة ومعاينات مثبتة بالموقع والصورة تمنع المحاباة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رقابة فعالة: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سجل عمليات كامل وخريطة حية وتقارير فورية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051560"/>
            <a:ext cx="553212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234440"/>
            <a:ext cx="5166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رضا الممول: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خدمة ذاتية شفافة بلا زيارات ولا وسطاء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واجهة عربية كاملة: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مصممة لواقع العمل المصري ومصطلحاته الرسمية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نموذج إداري موحد: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قالب مدير/مراجع/مأمور قابل للتعميم على أي إدارة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قابلية توسع قومية: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إضافة مأمورية جديدة بأربعة حقول دون تدخل تقني</a:t>
            </a:r>
          </a:p>
          <a:p>
            <a:pPr algn="r" rtl="1">
              <a:spcAft>
                <a:spcPts val="800"/>
              </a:spcAft>
            </a:pPr>
            <a:r>
              <a:rPr sz="1200" b="1" lang="ar-EG">
                <a:solidFill>
                  <a:srgbClr val="0E7A5F"/>
                </a:solidFill>
                <a:latin typeface="Arial"/>
                <a:cs typeface="Arial"/>
              </a:rPr>
              <a:t>◆ تكلفة تشغيل منخفضة: </a:t>
            </a:r>
            <a:r>
              <a:rPr sz="1200" b="0" lang="ar-EG">
                <a:solidFill>
                  <a:srgbClr val="444F5A"/>
                </a:solidFill>
                <a:latin typeface="Arial"/>
                <a:cs typeface="Arial"/>
              </a:rPr>
              <a:t>تطبيق موبايل واحد يغني عن بنية أجهزة مكتبية مكلفة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التطوير المستقبلي المقترح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8428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10835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التكامل المؤسسي: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الربط مع منظومة الفاتورة الإلكترونية والإيصال الإلكتروني وقواعد بيانات السجل التجاري والأحوال المدنية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الذكاء الاصطناعي: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تحليل أنماط النشاط جغرافيًا للتنبؤ ببؤر التهرب وترتيب أولويات الفحص آليًا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لوحات قيادة تحليلية: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Dashboards تفاعلية للإدارة العليا بمؤشرات أداء لحظية لكل مأمورية ومحافظة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الإشعارات الفورية: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تنبيهات Push للمواعيد والمهام وتحديثات الطلبات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العمل دون اتصال: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وضع Offline للحصر الميداني في المناطق ضعيفة التغطية مع مزامنة لاحقة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التوقيع والدفع الإلكتروني: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اعتماد المستندات رقميًا وسداد المستحقات من داخل التطبيق</a:t>
            </a:r>
          </a:p>
          <a:p>
            <a:pPr algn="r" rtl="1">
              <a:spcAft>
                <a:spcPts val="900"/>
              </a:spcAft>
            </a:pPr>
            <a:r>
              <a:rPr sz="1300" b="1" lang="ar-EG">
                <a:solidFill>
                  <a:srgbClr val="0E7A5F"/>
                </a:solidFill>
                <a:latin typeface="Arial"/>
                <a:cs typeface="Arial"/>
              </a:rPr>
              <a:t>◆ التعميم القومي المتدرج: </a:t>
            </a:r>
            <a:r>
              <a:rPr sz="1300" b="0" lang="ar-EG">
                <a:solidFill>
                  <a:srgbClr val="444F5A"/>
                </a:solidFill>
                <a:latin typeface="Arial"/>
                <a:cs typeface="Arial"/>
              </a:rPr>
              <a:t>خطة انتشار محافظة بمحافظة مستفيدة من بنية الأكواد الجاهزة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710367" y="118872"/>
            <a:ext cx="603504" cy="603504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0335" y="54864"/>
            <a:ext cx="92354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2200" b="1" lang="ar-EG">
                <a:solidFill>
                  <a:srgbClr val="FFFFFF"/>
                </a:solidFill>
                <a:latin typeface="Arial"/>
                <a:cs typeface="Arial"/>
              </a:rPr>
              <a:t>الخاتمة — GeoTax جاهز للانطلاق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0335" y="502920"/>
            <a:ext cx="9235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100" b="0" lang="ar-EG">
                <a:solidFill>
                  <a:srgbClr val="BDD3E0"/>
                </a:solidFill>
                <a:latin typeface="Arial"/>
                <a:cs typeface="Arial"/>
              </a:rPr>
              <a:t>GeoTax — منظومة المعاينات والربط الجغرافي الضريبي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574536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1">
              <a:spcAft>
                <a:spcPts val="400"/>
              </a:spcAft>
            </a:pPr>
            <a:r>
              <a:rPr sz="900" b="0" lang="ar-EG">
                <a:solidFill>
                  <a:srgbClr val="444F5A"/>
                </a:solidFill>
                <a:latin typeface="Arial"/>
                <a:cs typeface="Arial"/>
              </a:rPr>
              <a:t>مصلحة الضرائب المصرية — وثيقة تحليل نظام GeoTax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051560"/>
            <a:ext cx="11384280" cy="5394960"/>
          </a:xfrm>
          <a:prstGeom prst="roundRect">
            <a:avLst/>
          </a:prstGeom>
          <a:solidFill>
            <a:srgbClr val="F0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10835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منظومة متكاملة مثبتة بالشاشات الفعلية: 59 شاشة تغطي 11 دورًا من المواطن حتى الإدارة العليا.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دورة عمل كاملة رأيناها حية: تسجيل ممول ← طلب ← معالجة ← معاينة ← دمج بالرقم الضريبي ← ظهور على الخريطة.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حوكمة مدمجة في التصميم: صلاحيات متدرجة، سجل عمليات شامل، وحذف موثق قابل للمراجعة.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قيمة مجتمعية: بوابة شكاوى عامة تحول المواطن إلى شريك في تحقيق العدالة الضريبية.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جاهزية فورية للتوسع: بنية مركزية بأكواد موحدة تغطي الجمهورية بقرار إداري.</a:t>
            </a:r>
          </a:p>
          <a:p>
            <a:pPr algn="r" rtl="1">
              <a:spcAft>
                <a:spcPts val="900"/>
              </a:spcAft>
            </a:pPr>
            <a:r>
              <a:rPr sz="1400" b="1" lang="ar-EG">
                <a:solidFill>
                  <a:srgbClr val="0E7A5F"/>
                </a:solidFill>
                <a:latin typeface="Arial"/>
                <a:cs typeface="Arial"/>
              </a:rPr>
              <a:t>◆ </a:t>
            </a:r>
            <a:r>
              <a:rPr sz="1400" b="0" lang="ar-EG">
                <a:solidFill>
                  <a:srgbClr val="444F5A"/>
                </a:solidFill>
                <a:latin typeface="Arial"/>
                <a:cs typeface="Arial"/>
              </a:rPr>
              <a:t>المطلوب: اعتماد التشغيل التجريبي الموسع بالمأموريات الرائدة تمهيدًا للتعميم القومي.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10128"/>
            <a:ext cx="12191695" cy="54864"/>
          </a:xfrm>
          <a:prstGeom prst="rect">
            <a:avLst/>
          </a:prstGeom>
          <a:solidFill>
            <a:srgbClr val="1A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4000" b="1" lang="ar-EG">
                <a:solidFill>
                  <a:srgbClr val="FFFFFF"/>
                </a:solidFill>
                <a:latin typeface="Arial"/>
                <a:cs typeface="Arial"/>
              </a:rPr>
              <a:t>شكرًا لحسن استماعكم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20440"/>
            <a:ext cx="9418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sz="1700" b="0" lang="ar-EG">
                <a:solidFill>
                  <a:srgbClr val="A9C6B9"/>
                </a:solidFill>
                <a:latin typeface="Arial"/>
                <a:cs typeface="Arial"/>
              </a:rPr>
              <a:t>GeoTax — نحو إدارة ضريبية رقمية عادلة وشاملة | إعداد: محمد جمال محمد عبدالعزيز — مأمور حصر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2432" y="1051560"/>
            <a:ext cx="731520" cy="731520"/>
          </a:xfrm>
          <a:prstGeom prst="roundRect">
            <a:avLst/>
          </a:prstGeom>
          <a:solidFill>
            <a:srgbClr val="0E7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Arial"/>
              </a:rPr>
              <a:t>GT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