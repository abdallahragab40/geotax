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0" y="0"/>
            <a:ext cx="76200" cy="68580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46888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24912"/>
            <a:ext cx="18288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600" b="0">
                <a:solidFill>
                  <a:srgbClr val="0E7C66"/>
                </a:solidFill>
              </a:rPr>
              <a:t>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7315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5800" b="1">
                <a:solidFill>
                  <a:srgbClr val="FFFFFF"/>
                </a:solidFill>
              </a:rPr>
              <a:t>GeoTax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88920"/>
            <a:ext cx="73152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C8A24B"/>
                </a:solidFill>
              </a:rPr>
              <a:t>منظومة الحصر والمعاينة الميدانية الذكية</a:t>
            </a:r>
          </a:p>
          <a:p>
            <a:pPr rtl="1" algn="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DDEBE7"/>
                </a:solidFill>
              </a:rPr>
              <a:t>تحويل العمل الضريبي الميداني من الورق إلى منصّة رقمية واحدة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343400"/>
            <a:ext cx="6949440" cy="25400"/>
          </a:xfrm>
          <a:prstGeom prst="rect">
            <a:avLst/>
          </a:prstGeom>
          <a:solidFill>
            <a:srgbClr val="3F9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526280"/>
            <a:ext cx="73152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مُقدَّم إلى: سيادة رئيس مصلحة الضرائب</a:t>
            </a:r>
          </a:p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FE2DC"/>
                </a:solidFill>
              </a:rPr>
              <a:t>إعداد: [اسمك الكامل] — [المسمّى الوظيفي]</a:t>
            </a:r>
          </a:p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9CEC4"/>
                </a:solidFill>
              </a:rPr>
              <a:t>مبنيّ بتقنية React Native — تطبيق واحد لأندرويد وiOS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35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8595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E4D8"/>
                </a:solidFill>
              </a:rPr>
              <a:t>المحور الأول · تشخيص الوضع الراهن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التحدّي: حصرٌ ميداني بأدوات القرن الماضي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🌍 GeoTax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D9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A66"/>
                </a:solidFill>
              </a:rPr>
              <a:t>GeoTax — منظومة الحصر والمعاينة الميدانية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E7C66"/>
                </a:solidFill>
              </a:rPr>
              <a:t>2 /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54864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88572" y="1965960"/>
            <a:ext cx="88900" cy="1207008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29384"/>
            <a:ext cx="914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B43A2E"/>
                </a:solidFill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96596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A28"/>
                </a:solidFill>
              </a:rPr>
              <a:t>الاعتماد على الورق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41448"/>
            <a:ext cx="5029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استمارات معاينة يدوية تُفقد وتتلف ويصعب أرشفتها والرجوع إليها.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783080"/>
            <a:ext cx="54864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6140" y="1965960"/>
            <a:ext cx="88900" cy="1207008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929384"/>
            <a:ext cx="914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B43A2E"/>
                </a:solidFill>
              </a:rPr>
              <a:t>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6596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A28"/>
                </a:solidFill>
              </a:rPr>
              <a:t>بطء الدورة المستندية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41448"/>
            <a:ext cx="5029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رحلة المعاملة بين المُعايِن والمراجع والمدير تستغرق أياماً بين المكاتب.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611880"/>
            <a:ext cx="54864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88572" y="3794760"/>
            <a:ext cx="88900" cy="1207008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758184"/>
            <a:ext cx="914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B43A2E"/>
                </a:solidFill>
              </a:rPr>
              <a:t>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79476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A28"/>
                </a:solidFill>
              </a:rPr>
              <a:t>غياب الإثبات الجغرافي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270248"/>
            <a:ext cx="5029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لا وسيلة موثوقة لإثبات أن المعاينة تمّت فعلاً في موقع النشاط.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11880"/>
            <a:ext cx="54864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6140" y="3794760"/>
            <a:ext cx="88900" cy="1207008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58184"/>
            <a:ext cx="914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B43A2E"/>
                </a:solidFill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9476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A28"/>
                </a:solidFill>
              </a:rPr>
              <a:t>ضعف الرقابة والمساءلة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70248"/>
            <a:ext cx="5029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صعوبة متابعة إنتاجية الموظفين وحالة كل مهمة لحظياً.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A28"/>
                </a:solidFill>
              </a:rPr>
              <a:t>الأثر: كل تأخير في هذه الدورة هو </a:t>
            </a:r>
            <a:r>
              <a:rPr sz="1500" b="1">
                <a:solidFill>
                  <a:srgbClr val="B43A2E"/>
                </a:solidFill>
              </a:rPr>
              <a:t>حصيلة ضريبية مؤجّلة ومجهود بشري مهدور.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35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8595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E4D8"/>
                </a:solidFill>
              </a:rPr>
              <a:t>المحور الثاني · الحل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GeoTax — الميدان بالكامل في تطبيق واحد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🌍 GeoTax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D9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A66"/>
                </a:solidFill>
              </a:rPr>
              <a:t>GeoTax — منظومة الحصر والمعاينة الميدانية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E7C66"/>
                </a:solidFill>
              </a:rPr>
              <a:t>3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A28"/>
                </a:solidFill>
              </a:rPr>
              <a:t>تطبيق موبايل يحمله المُعايِن إلى الموقع، يعمل </a:t>
            </a:r>
            <a:r>
              <a:rPr sz="1600" b="1">
                <a:solidFill>
                  <a:srgbClr val="0E7C66"/>
                </a:solidFill>
              </a:rPr>
              <a:t>بدون إنترنت</a:t>
            </a:r>
            <a:r>
              <a:rPr sz="1600" b="0">
                <a:solidFill>
                  <a:srgbClr val="1F2A28"/>
                </a:solidFill>
              </a:rPr>
              <a:t> بالكامل ويرقمن دورة العمل من طرفها إلى طرفها.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5146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EAF5F1"/>
          </a:solidFill>
          <a:ln w="12700">
            <a:solidFill>
              <a:srgbClr val="BF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35640" y="2715768"/>
            <a:ext cx="548640" cy="54864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35640" y="277063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B3B32"/>
                </a:solidFill>
              </a:rPr>
              <a:t>الحصر الميداني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37560"/>
            <a:ext cx="2971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تسجيل بيانات النشاط + GPS + صور في خطوة واحدة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5146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EAF5F1"/>
          </a:solidFill>
          <a:ln w="12700">
            <a:solidFill>
              <a:srgbClr val="BF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6600" y="2715768"/>
            <a:ext cx="548640" cy="54864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77063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788920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B3B32"/>
                </a:solidFill>
              </a:rPr>
              <a:t>المراجعة الفنية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337560"/>
            <a:ext cx="2971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مراجعة واعتماد المهمة إلكترونياً بلا ورق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5146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EAF5F1"/>
          </a:solidFill>
          <a:ln w="12700">
            <a:solidFill>
              <a:srgbClr val="BF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37560" y="2715768"/>
            <a:ext cx="548640" cy="54864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77063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788920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B3B32"/>
                </a:solidFill>
              </a:rPr>
              <a:t>الاعتماد الإداري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337560"/>
            <a:ext cx="2971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تصعيد وتوثيق القرار عبر التسلسل الإداري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526280"/>
            <a:ext cx="10835640" cy="1097280"/>
          </a:xfrm>
          <a:prstGeom prst="roundRect">
            <a:avLst/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81728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24B"/>
                </a:solidFill>
              </a:rPr>
              <a:t>بنية أدوار متكاملة داخل منظومة واحدة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074920"/>
            <a:ext cx="10241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رئيس المصلحة · الإدارات · مديرو المعاينة والحصر · المراجعون · المُعايِنون · الحاصرون · بوابة الممول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35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8595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E4D8"/>
                </a:solidFill>
              </a:rPr>
              <a:t>المحور الثالث · المميزات الرئيسية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أربع ركائز تصنع الفارق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🌍 GeoTax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D9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A66"/>
                </a:solidFill>
              </a:rPr>
              <a:t>GeoTax — منظومة الحصر والمعاينة الميدانية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E7C66"/>
                </a:solidFill>
              </a:rPr>
              <a:t>4 /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25912" y="2057400"/>
            <a:ext cx="777240" cy="777240"/>
          </a:xfrm>
          <a:prstGeom prst="roundRect">
            <a:avLst/>
          </a:prstGeom>
          <a:solidFill>
            <a:srgbClr val="EA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25912" y="2093976"/>
            <a:ext cx="777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0E7C66"/>
                </a:solidFill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039112"/>
            <a:ext cx="4206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7C66"/>
                </a:solidFill>
              </a:rPr>
              <a:t>حصر موثّق جغرافياً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532888"/>
            <a:ext cx="429768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كل نشاط مربوط بإحداثيات وصور وتاريخ لا يُتلاعب بها — دليل معاينة كامل.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78308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83480" y="2057400"/>
            <a:ext cx="777240" cy="777240"/>
          </a:xfrm>
          <a:prstGeom prst="roundRect">
            <a:avLst/>
          </a:prstGeom>
          <a:solidFill>
            <a:srgbClr val="EA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093976"/>
            <a:ext cx="777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0E7C66"/>
                </a:solidFill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039112"/>
            <a:ext cx="4206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7C66"/>
                </a:solidFill>
              </a:rPr>
              <a:t>خريطة الأنشطة التفاعلية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532888"/>
            <a:ext cx="429768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رؤية بصرية لكل الأنشطة داخل نطاق المأمورية على خريطة واحدة لدعم القرار.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547872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25912" y="3822192"/>
            <a:ext cx="777240" cy="777240"/>
          </a:xfrm>
          <a:prstGeom prst="roundRect">
            <a:avLst/>
          </a:prstGeom>
          <a:solidFill>
            <a:srgbClr val="EA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25912" y="3858768"/>
            <a:ext cx="777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0E7C66"/>
                </a:solidFill>
              </a:rP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803904"/>
            <a:ext cx="4206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7C66"/>
                </a:solidFill>
              </a:rPr>
              <a:t>دورة مراجعة إلكترونية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297680"/>
            <a:ext cx="429768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توزيع المهام والمتابعة والاعتماد إلكترونياً مع سجل تدقيق لكل إجراء.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47872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83480" y="3822192"/>
            <a:ext cx="777240" cy="777240"/>
          </a:xfrm>
          <a:prstGeom prst="roundRect">
            <a:avLst/>
          </a:prstGeom>
          <a:solidFill>
            <a:srgbClr val="EA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3858768"/>
            <a:ext cx="777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0E7C66"/>
                </a:solidFill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03904"/>
            <a:ext cx="4206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7C66"/>
                </a:solidFill>
              </a:rPr>
              <a:t>تقارير وإدارة موارد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97680"/>
            <a:ext cx="429768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لوحات لإنتاجية الموظفين والشكاوى والطلبات والمراسلات في مكان واحد.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1672" cy="777240"/>
          </a:xfrm>
          <a:prstGeom prst="roundRect">
            <a:avLst/>
          </a:prstGeom>
          <a:solidFill>
            <a:srgbClr val="EE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3036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24B"/>
                </a:solidFill>
              </a:rPr>
              <a:t>💡 لمسة تقنية: </a:t>
            </a:r>
            <a:r>
              <a:rPr sz="1350" b="0">
                <a:solidFill>
                  <a:srgbClr val="1F2A28"/>
                </a:solidFill>
              </a:rPr>
              <a:t>مبنيّ بتقنية React Native — تطبيق واحد يعمل على أندرويد وiOS بكفاءة عالية، بتكلفة ووقت أقل من بناء تطبيقين.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35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8595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E4D8"/>
                </a:solidFill>
              </a:rPr>
              <a:t>المحور الرابع · استعراض التطبيق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رحلة المستخدم في ثوانٍ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🌍 GeoTax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D9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A66"/>
                </a:solidFill>
              </a:rPr>
              <a:t>GeoTax — منظومة الحصر والمعاينة الميدانية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E7C66"/>
                </a:solidFill>
              </a:rPr>
              <a:t>5 /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828800"/>
            <a:ext cx="2331720" cy="3749039"/>
          </a:xfrm>
          <a:prstGeom prst="roundRect">
            <a:avLst>
              <a:gd name="adj" fmla="val 12000"/>
            </a:avLst>
          </a:prstGeom>
          <a:solidFill>
            <a:srgbClr val="1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61288" y="1993392"/>
            <a:ext cx="2112264" cy="341985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19"/>
            <a:ext cx="23317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D9E3DF"/>
                </a:solidFill>
              </a:rPr>
              <a:t>🖼️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94759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6A66"/>
                </a:solidFill>
              </a:rPr>
              <a:t>صورة شاشة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59"/>
            <a:ext cx="2514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2A28"/>
                </a:solidFill>
              </a:rPr>
              <a:t>تسجيل الدخول واختيار الدور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1828800"/>
            <a:ext cx="2331720" cy="3749039"/>
          </a:xfrm>
          <a:prstGeom prst="roundRect">
            <a:avLst>
              <a:gd name="adj" fmla="val 12000"/>
            </a:avLst>
          </a:prstGeom>
          <a:solidFill>
            <a:srgbClr val="1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95928" y="1993392"/>
            <a:ext cx="2112264" cy="341985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3246119"/>
            <a:ext cx="23317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D9E3DF"/>
                </a:solidFill>
              </a:rPr>
              <a:t>🖼️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794759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6A66"/>
                </a:solidFill>
              </a:rPr>
              <a:t>صورة شاشة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623559"/>
            <a:ext cx="2514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2A28"/>
                </a:solidFill>
              </a:rPr>
              <a:t>استمارة الحصر + الموقع والصور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828800"/>
            <a:ext cx="2331720" cy="3749039"/>
          </a:xfrm>
          <a:prstGeom prst="roundRect">
            <a:avLst>
              <a:gd name="adj" fmla="val 12000"/>
            </a:avLst>
          </a:prstGeom>
          <a:solidFill>
            <a:srgbClr val="1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30568" y="1993392"/>
            <a:ext cx="2112264" cy="341985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246119"/>
            <a:ext cx="23317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D9E3DF"/>
                </a:solidFill>
              </a:rPr>
              <a:t>🖼️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794759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6A66"/>
                </a:solidFill>
              </a:rPr>
              <a:t>صورة شاشة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623559"/>
            <a:ext cx="2514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2A28"/>
                </a:solidFill>
              </a:rPr>
              <a:t>الخريطة التفاعلية بالأنشطة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828800"/>
            <a:ext cx="2971800" cy="3749039"/>
          </a:xfrm>
          <a:prstGeom prst="roundRect">
            <a:avLst/>
          </a:prstGeom>
          <a:solidFill>
            <a:srgbClr val="EA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057400"/>
            <a:ext cx="256032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B3B32"/>
                </a:solidFill>
              </a:rPr>
              <a:t>مسار العرض المقترح</a:t>
            </a:r>
          </a:p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1F2A28"/>
                </a:solidFill>
              </a:rPr>
              <a:t>• دخول الموظف واختيار الدور</a:t>
            </a:r>
          </a:p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1F2A28"/>
                </a:solidFill>
              </a:rPr>
              <a:t>• شاشة أعماله ومهامه</a:t>
            </a:r>
          </a:p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1F2A28"/>
                </a:solidFill>
              </a:rPr>
              <a:t>• حصر نشاط + التقاط الموقع</a:t>
            </a:r>
          </a:p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1F2A28"/>
                </a:solidFill>
              </a:rPr>
              <a:t>• الخريطة التفاعلية</a:t>
            </a:r>
          </a:p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1F2A28"/>
                </a:solidFill>
              </a:rPr>
              <a:t>• المراجعة والاعتماد والتقارير</a:t>
            </a:r>
          </a:p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1F2A28"/>
                </a:solidFill>
              </a:rPr>
              <a:t/>
            </a:r>
          </a:p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E7C66"/>
                </a:solidFill>
              </a:rPr>
              <a:t>💡 العرض الحيّ من الهاتف أقوى أثراً من الصور الثابتة.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35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8595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E4D8"/>
                </a:solidFill>
              </a:rPr>
              <a:t>المحور الخامس · العائد والأثر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الأثر المتوقّع على المصلحة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🌍 GeoTax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D9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A66"/>
                </a:solidFill>
              </a:rPr>
              <a:t>GeoTax — منظومة الحصر والمعاينة الميدانية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E7C66"/>
                </a:solidFill>
              </a:rPr>
              <a:t>6 /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7373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920240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8A24B"/>
                </a:solidFill>
              </a:rPr>
              <a:t>70%▼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578608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زمن إنجاز المعاينة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8A24B"/>
                </a:solidFill>
              </a:rPr>
              <a:t>لحظي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78608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دورة المراجعة والاعتماد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373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920240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8A24B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78608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دقّة إثبات الموقع GPS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7373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920240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8A24B"/>
                </a:solidFill>
              </a:rPr>
              <a:t>صفر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578608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فقد المستندات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38328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611880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E7C66"/>
                </a:solidFill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160520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A28"/>
                </a:solidFill>
              </a:rPr>
              <a:t>زيادة الإنتاجية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553712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A66"/>
                </a:solidFill>
              </a:rPr>
              <a:t>معاينات أكثر بنفس عدد الموظفين وبمجهود أقل.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38328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611880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E7C66"/>
                </a:solidFill>
              </a:rP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160520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A28"/>
                </a:solidFill>
              </a:rPr>
              <a:t>حوكمة ومساءلة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553712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A66"/>
                </a:solidFill>
              </a:rPr>
              <a:t>كل إجراء موثّق ومنسوب لصاحبه عبر سجل التدقيق.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38328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11880"/>
            <a:ext cx="3611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E7C66"/>
                </a:solidFill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60520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A28"/>
                </a:solidFill>
              </a:rPr>
              <a:t>توسيع القاعدة الضريبية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53712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A66"/>
                </a:solidFill>
              </a:rPr>
              <a:t>حصر أدقّ للأنشطة = تحصيل أعدل وأشمل.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B6A66"/>
                </a:solidFill>
              </a:rPr>
              <a:t>* النسب تقديرية توضيحية — تُضبط بأرقام موثّقة بعد الإطلاق التجريبي.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35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8595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E4D8"/>
                </a:solidFill>
              </a:rPr>
              <a:t>المحور السادس · الخطوة القادمة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8813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خطّة إطلاق آمنة ومرحلية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🌍 GeoTax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D9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A66"/>
                </a:solidFill>
              </a:rPr>
              <a:t>GeoTax — منظومة الحصر والمعاينة الميدانية الذكية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E7C66"/>
                </a:solidFill>
              </a:rPr>
              <a:t>7 /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98480" y="2103120"/>
            <a:ext cx="50800" cy="2743200"/>
          </a:xfrm>
          <a:prstGeom prst="rect">
            <a:avLst/>
          </a:prstGeom>
          <a:solidFill>
            <a:srgbClr val="D9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61320" y="2011680"/>
            <a:ext cx="310896" cy="310896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1920240"/>
            <a:ext cx="91440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121408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24B"/>
                </a:solidFill>
              </a:rPr>
              <a:t>المرحلة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975104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7C66"/>
                </a:solidFill>
              </a:rPr>
              <a:t>الإطلاق التجريبي (Pilot)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40864"/>
            <a:ext cx="7040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مأمورية واحدة لمدّة شهر لقياس الأثر فعلياً على أرض الواقع.</a:t>
            </a:r>
          </a:p>
        </p:txBody>
      </p:sp>
      <p:sp>
        <p:nvSpPr>
          <p:cNvPr id="17" name="Oval 16"/>
          <p:cNvSpPr/>
          <p:nvPr/>
        </p:nvSpPr>
        <p:spPr>
          <a:xfrm>
            <a:off x="10561320" y="2971800"/>
            <a:ext cx="310896" cy="310896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88720" y="2880360"/>
            <a:ext cx="91440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081528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24B"/>
                </a:solidFill>
              </a:rPr>
              <a:t>المرحلة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35224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7C66"/>
                </a:solidFill>
              </a:rPr>
              <a:t>التدريب والتعميم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00984"/>
            <a:ext cx="7040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تدريب مبسّط للموظفين وتوسيع تدريجي على باقي المأموريات.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3931920"/>
            <a:ext cx="310896" cy="310896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3840480"/>
            <a:ext cx="91440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041648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24B"/>
                </a:solidFill>
              </a:rPr>
              <a:t>المرحلة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895344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7C66"/>
                </a:solidFill>
              </a:rPr>
              <a:t>التكامل المؤسسي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261104"/>
            <a:ext cx="7040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A66"/>
                </a:solidFill>
              </a:rPr>
              <a:t>ربط اختياري مستقبلي مع منظومة المصلحة المركزية.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029200"/>
            <a:ext cx="10378440" cy="1051560"/>
          </a:xfrm>
          <a:prstGeom prst="roundRect">
            <a:avLst/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138928"/>
            <a:ext cx="9784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🛠️ دعم فني مستمر وتحديثات دورية تصل لكل الأجهزة فوراً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32120"/>
            <a:ext cx="9784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24B"/>
                </a:solidFill>
              </a:rPr>
              <a:t>الطلب: </a:t>
            </a:r>
            <a:r>
              <a:rPr sz="1400" b="0">
                <a:solidFill>
                  <a:srgbClr val="FFFFFF"/>
                </a:solidFill>
              </a:rPr>
              <a:t>الموافقة على إطلاق تجريبي محدود — لنُثبت الأرقام على أرض الواقع.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762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91695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000" b="0">
                <a:solidFill>
                  <a:srgbClr val="C8A24B"/>
                </a:solidFill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</a:rPr>
              <a:t>شكراً لسيادتكم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9169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8A24B"/>
                </a:solidFill>
              </a:rPr>
              <a:t>GeoTax — نحو عمل ضريبي ميداني أسرع وأدقّ وأكثر عدلاً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rtl="1"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FE2DC"/>
                </a:solidFill>
              </a:rPr>
              <a:t>والباب مفتوح للنقاش والأسئلة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71500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CEC4"/>
                </a:solidFill>
              </a:rPr>
              <a:t>[اسمك الكامل]  ·  [المسمّى الوظيفي]  ·  [البريد / الهاتف]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